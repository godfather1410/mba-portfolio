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  <p:embeddedFont>
      <p:font typeface="Open Sauce Bold Italics" charset="1" panose="00000800000000000000"/>
      <p:regular r:id="rId16"/>
    </p:embeddedFont>
    <p:embeddedFont>
      <p:font typeface="Open Sauce Semi-Bold" charset="1" panose="00000700000000000000"/>
      <p:regular r:id="rId17"/>
    </p:embeddedFont>
    <p:embeddedFont>
      <p:font typeface="Canva Sans Bold" charset="1" panose="020B0803030501040103"/>
      <p:regular r:id="rId18"/>
    </p:embeddedFont>
    <p:embeddedFont>
      <p:font typeface="Open Sauce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learn-edge-app.lovable.app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5704" y="1033264"/>
            <a:ext cx="15237466" cy="959241"/>
            <a:chOff x="0" y="0"/>
            <a:chExt cx="4013160" cy="25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13160" cy="252640"/>
            </a:xfrm>
            <a:custGeom>
              <a:avLst/>
              <a:gdLst/>
              <a:ahLst/>
              <a:cxnLst/>
              <a:rect r="r" b="b" t="t" l="l"/>
              <a:pathLst>
                <a:path h="252640" w="4013160">
                  <a:moveTo>
                    <a:pt x="25912" y="0"/>
                  </a:moveTo>
                  <a:lnTo>
                    <a:pt x="3987247" y="0"/>
                  </a:lnTo>
                  <a:cubicBezTo>
                    <a:pt x="4001558" y="0"/>
                    <a:pt x="4013160" y="11601"/>
                    <a:pt x="4013160" y="25912"/>
                  </a:cubicBezTo>
                  <a:lnTo>
                    <a:pt x="4013160" y="226727"/>
                  </a:lnTo>
                  <a:cubicBezTo>
                    <a:pt x="4013160" y="233600"/>
                    <a:pt x="4010430" y="240191"/>
                    <a:pt x="4005570" y="245050"/>
                  </a:cubicBezTo>
                  <a:cubicBezTo>
                    <a:pt x="4000711" y="249910"/>
                    <a:pt x="3994120" y="252640"/>
                    <a:pt x="3987247" y="252640"/>
                  </a:cubicBezTo>
                  <a:lnTo>
                    <a:pt x="25912" y="252640"/>
                  </a:lnTo>
                  <a:cubicBezTo>
                    <a:pt x="11601" y="252640"/>
                    <a:pt x="0" y="241038"/>
                    <a:pt x="0" y="226727"/>
                  </a:cubicBezTo>
                  <a:lnTo>
                    <a:pt x="0" y="25912"/>
                  </a:lnTo>
                  <a:cubicBezTo>
                    <a:pt x="0" y="19040"/>
                    <a:pt x="2730" y="12449"/>
                    <a:pt x="7590" y="7590"/>
                  </a:cubicBezTo>
                  <a:cubicBezTo>
                    <a:pt x="12449" y="2730"/>
                    <a:pt x="19040" y="0"/>
                    <a:pt x="25912" y="0"/>
                  </a:cubicBezTo>
                  <a:close/>
                </a:path>
              </a:pathLst>
            </a:custGeom>
            <a:solidFill>
              <a:srgbClr val="CFE0E6"/>
            </a:solidFill>
            <a:ln w="38100" cap="rnd">
              <a:gradFill>
                <a:gsLst>
                  <a:gs pos="0">
                    <a:srgbClr val="00172C">
                      <a:alpha val="100000"/>
                    </a:srgbClr>
                  </a:gs>
                  <a:gs pos="100000">
                    <a:srgbClr val="2961B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13160" cy="290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62954"/>
            <a:ext cx="18288000" cy="624046"/>
            <a:chOff x="0" y="0"/>
            <a:chExt cx="4816593" cy="164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4358"/>
            </a:xfrm>
            <a:custGeom>
              <a:avLst/>
              <a:gdLst/>
              <a:ahLst/>
              <a:cxnLst/>
              <a:rect r="r" b="b" t="t" l="l"/>
              <a:pathLst>
                <a:path h="1643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358"/>
                  </a:lnTo>
                  <a:lnTo>
                    <a:pt x="0" y="164358"/>
                  </a:ln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16593" cy="154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1531641" cy="839845"/>
          </a:xfrm>
          <a:custGeom>
            <a:avLst/>
            <a:gdLst/>
            <a:ahLst/>
            <a:cxnLst/>
            <a:rect r="r" b="b" t="t" l="l"/>
            <a:pathLst>
              <a:path h="839845" w="1531641">
                <a:moveTo>
                  <a:pt x="0" y="0"/>
                </a:moveTo>
                <a:lnTo>
                  <a:pt x="1531641" y="0"/>
                </a:lnTo>
                <a:lnTo>
                  <a:pt x="1531641" y="839845"/>
                </a:lnTo>
                <a:lnTo>
                  <a:pt x="0" y="839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11971" y="2437783"/>
            <a:ext cx="9229610" cy="64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82"/>
              </a:lnSpc>
            </a:pPr>
            <a:r>
              <a:rPr lang="en-US" b="true" sz="4497" spc="-16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IDEATHON 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07031" y="6671842"/>
            <a:ext cx="7334813" cy="69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0"/>
              </a:lnSpc>
            </a:pPr>
            <a:r>
              <a:rPr lang="en-US" b="true" sz="4796" spc="-177">
                <a:solidFill>
                  <a:srgbClr val="0063C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Case Problem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03898" y="7772794"/>
            <a:ext cx="3885139" cy="148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Presented by</a:t>
            </a:r>
          </a:p>
          <a:p>
            <a:pPr algn="l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Anish J</a:t>
            </a:r>
          </a:p>
          <a:p>
            <a:pPr algn="l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Aiswarya Machavaram </a:t>
            </a:r>
          </a:p>
          <a:p>
            <a:pPr algn="l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Naman </a:t>
            </a:r>
          </a:p>
          <a:p>
            <a:pPr algn="l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Ishita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40479" y="1363153"/>
            <a:ext cx="2005110" cy="30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04314" y="1363153"/>
            <a:ext cx="2005110" cy="30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39516" y="1363153"/>
            <a:ext cx="2268268" cy="30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1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Deliverables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584102" y="2748287"/>
            <a:ext cx="11119795" cy="4259201"/>
            <a:chOff x="0" y="0"/>
            <a:chExt cx="14826394" cy="5678934"/>
          </a:xfrm>
        </p:grpSpPr>
        <p:sp>
          <p:nvSpPr>
            <p:cNvPr name="Freeform 16" id="16"/>
            <p:cNvSpPr/>
            <p:nvPr/>
          </p:nvSpPr>
          <p:spPr>
            <a:xfrm flipH="false" flipV="false" rot="-1739048">
              <a:off x="558233" y="1021240"/>
              <a:ext cx="5154973" cy="3636454"/>
            </a:xfrm>
            <a:custGeom>
              <a:avLst/>
              <a:gdLst/>
              <a:ahLst/>
              <a:cxnLst/>
              <a:rect r="r" b="b" t="t" l="l"/>
              <a:pathLst>
                <a:path h="3636454" w="5154973">
                  <a:moveTo>
                    <a:pt x="0" y="0"/>
                  </a:moveTo>
                  <a:lnTo>
                    <a:pt x="5154974" y="0"/>
                  </a:lnTo>
                  <a:lnTo>
                    <a:pt x="5154974" y="3636454"/>
                  </a:lnTo>
                  <a:lnTo>
                    <a:pt x="0" y="3636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3502864" y="2995956"/>
              <a:ext cx="11323530" cy="2145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348"/>
                </a:lnSpc>
              </a:pPr>
              <a:r>
                <a:rPr lang="en-US" b="true" sz="10928" i="true" spc="174">
                  <a:gradFill>
                    <a:gsLst>
                      <a:gs pos="0">
                        <a:srgbClr val="00172C">
                          <a:alpha val="100000"/>
                        </a:srgbClr>
                      </a:gs>
                      <a:gs pos="100000">
                        <a:srgbClr val="2961BC">
                          <a:alpha val="100000"/>
                        </a:srgbClr>
                      </a:gs>
                    </a:gsLst>
                    <a:lin ang="0"/>
                  </a:gra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LearnEdge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93183"/>
            <a:ext cx="5210895" cy="814574"/>
            <a:chOff x="0" y="0"/>
            <a:chExt cx="1961869" cy="3066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1869" cy="306682"/>
            </a:xfrm>
            <a:custGeom>
              <a:avLst/>
              <a:gdLst/>
              <a:ahLst/>
              <a:cxnLst/>
              <a:rect r="r" b="b" t="t" l="l"/>
              <a:pathLst>
                <a:path h="306682" w="1961869">
                  <a:moveTo>
                    <a:pt x="75772" y="0"/>
                  </a:moveTo>
                  <a:lnTo>
                    <a:pt x="1886097" y="0"/>
                  </a:lnTo>
                  <a:cubicBezTo>
                    <a:pt x="1927945" y="0"/>
                    <a:pt x="1961869" y="33924"/>
                    <a:pt x="1961869" y="75772"/>
                  </a:cubicBezTo>
                  <a:lnTo>
                    <a:pt x="1961869" y="230910"/>
                  </a:lnTo>
                  <a:cubicBezTo>
                    <a:pt x="1961869" y="272758"/>
                    <a:pt x="1927945" y="306682"/>
                    <a:pt x="1886097" y="306682"/>
                  </a:cubicBezTo>
                  <a:lnTo>
                    <a:pt x="75772" y="306682"/>
                  </a:lnTo>
                  <a:cubicBezTo>
                    <a:pt x="33924" y="306682"/>
                    <a:pt x="0" y="272758"/>
                    <a:pt x="0" y="230910"/>
                  </a:cubicBezTo>
                  <a:lnTo>
                    <a:pt x="0" y="75772"/>
                  </a:lnTo>
                  <a:cubicBezTo>
                    <a:pt x="0" y="33924"/>
                    <a:pt x="33924" y="0"/>
                    <a:pt x="75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1869" cy="344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2085" y="2585001"/>
            <a:ext cx="8664480" cy="6048727"/>
            <a:chOff x="0" y="0"/>
            <a:chExt cx="11552640" cy="806496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552640" cy="8064969"/>
              <a:chOff x="0" y="0"/>
              <a:chExt cx="2313260" cy="161490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13260" cy="1614901"/>
              </a:xfrm>
              <a:custGeom>
                <a:avLst/>
                <a:gdLst/>
                <a:ahLst/>
                <a:cxnLst/>
                <a:rect r="r" b="b" t="t" l="l"/>
                <a:pathLst>
                  <a:path h="1614901" w="2313260">
                    <a:moveTo>
                      <a:pt x="45570" y="0"/>
                    </a:moveTo>
                    <a:lnTo>
                      <a:pt x="2267691" y="0"/>
                    </a:lnTo>
                    <a:cubicBezTo>
                      <a:pt x="2279777" y="0"/>
                      <a:pt x="2291367" y="4801"/>
                      <a:pt x="2299913" y="13347"/>
                    </a:cubicBezTo>
                    <a:cubicBezTo>
                      <a:pt x="2308459" y="21893"/>
                      <a:pt x="2313260" y="33484"/>
                      <a:pt x="2313260" y="45570"/>
                    </a:cubicBezTo>
                    <a:lnTo>
                      <a:pt x="2313260" y="1569332"/>
                    </a:lnTo>
                    <a:cubicBezTo>
                      <a:pt x="2313260" y="1594499"/>
                      <a:pt x="2292858" y="1614901"/>
                      <a:pt x="2267691" y="1614901"/>
                    </a:cubicBezTo>
                    <a:lnTo>
                      <a:pt x="45570" y="1614901"/>
                    </a:lnTo>
                    <a:cubicBezTo>
                      <a:pt x="20402" y="1614901"/>
                      <a:pt x="0" y="1594499"/>
                      <a:pt x="0" y="1569332"/>
                    </a:cubicBezTo>
                    <a:lnTo>
                      <a:pt x="0" y="45570"/>
                    </a:lnTo>
                    <a:cubicBezTo>
                      <a:pt x="0" y="20402"/>
                      <a:pt x="20402" y="0"/>
                      <a:pt x="4557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172C">
                      <a:alpha val="100000"/>
                    </a:srgbClr>
                  </a:gs>
                  <a:gs pos="100000">
                    <a:srgbClr val="2961B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525"/>
                <a:ext cx="2313260" cy="1605376"/>
              </a:xfrm>
              <a:prstGeom prst="rect">
                <a:avLst/>
              </a:prstGeom>
            </p:spPr>
            <p:txBody>
              <a:bodyPr anchor="ctr" rtlCol="false" tIns="50114" lIns="50114" bIns="50114" rIns="50114"/>
              <a:lstStyle/>
              <a:p>
                <a:pPr algn="ctr">
                  <a:lnSpc>
                    <a:spcPts val="2372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31568" y="1488346"/>
              <a:ext cx="4771405" cy="2679072"/>
              <a:chOff x="0" y="0"/>
              <a:chExt cx="746414" cy="4191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46414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746414">
                    <a:moveTo>
                      <a:pt x="42254" y="0"/>
                    </a:moveTo>
                    <a:lnTo>
                      <a:pt x="704159" y="0"/>
                    </a:lnTo>
                    <a:cubicBezTo>
                      <a:pt x="715366" y="0"/>
                      <a:pt x="726113" y="4452"/>
                      <a:pt x="734038" y="12376"/>
                    </a:cubicBezTo>
                    <a:cubicBezTo>
                      <a:pt x="741962" y="20300"/>
                      <a:pt x="746414" y="31048"/>
                      <a:pt x="746414" y="42254"/>
                    </a:cubicBezTo>
                    <a:lnTo>
                      <a:pt x="746414" y="376846"/>
                    </a:lnTo>
                    <a:cubicBezTo>
                      <a:pt x="746414" y="388052"/>
                      <a:pt x="741962" y="398800"/>
                      <a:pt x="734038" y="406724"/>
                    </a:cubicBezTo>
                    <a:cubicBezTo>
                      <a:pt x="726113" y="414648"/>
                      <a:pt x="715366" y="419100"/>
                      <a:pt x="704159" y="419100"/>
                    </a:cubicBezTo>
                    <a:lnTo>
                      <a:pt x="42254" y="419100"/>
                    </a:lnTo>
                    <a:cubicBezTo>
                      <a:pt x="31048" y="419100"/>
                      <a:pt x="20300" y="414648"/>
                      <a:pt x="12376" y="406724"/>
                    </a:cubicBezTo>
                    <a:cubicBezTo>
                      <a:pt x="4452" y="398800"/>
                      <a:pt x="0" y="388052"/>
                      <a:pt x="0" y="376846"/>
                    </a:cubicBezTo>
                    <a:lnTo>
                      <a:pt x="0" y="42254"/>
                    </a:lnTo>
                    <a:cubicBezTo>
                      <a:pt x="0" y="31048"/>
                      <a:pt x="4452" y="20300"/>
                      <a:pt x="12376" y="12376"/>
                    </a:cubicBezTo>
                    <a:cubicBezTo>
                      <a:pt x="20300" y="4452"/>
                      <a:pt x="31048" y="0"/>
                      <a:pt x="42254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746414" cy="400050"/>
              </a:xfrm>
              <a:prstGeom prst="rect">
                <a:avLst/>
              </a:prstGeom>
            </p:spPr>
            <p:txBody>
              <a:bodyPr anchor="ctr" rtlCol="false" tIns="50114" lIns="50114" bIns="50114" rIns="50114"/>
              <a:lstStyle/>
              <a:p>
                <a:pPr algn="ctr">
                  <a:lnSpc>
                    <a:spcPts val="2598"/>
                  </a:lnSpc>
                </a:pPr>
                <a:r>
                  <a:rPr lang="en-US" sz="2299" spc="36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Constraint</a:t>
                </a:r>
              </a:p>
              <a:p>
                <a:pPr algn="ctr">
                  <a:lnSpc>
                    <a:spcPts val="2372"/>
                  </a:lnSpc>
                </a:pPr>
              </a:p>
              <a:p>
                <a:pPr algn="l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0000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Cannot solve by adding more content or lowering prices</a:t>
                </a:r>
              </a:p>
              <a:p>
                <a:pPr algn="l">
                  <a:lnSpc>
                    <a:spcPts val="2372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5510" y="444350"/>
              <a:ext cx="11387130" cy="658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3"/>
                </a:lnSpc>
              </a:pPr>
              <a:r>
                <a:rPr lang="en-US" b="true" sz="295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Case Constraints &amp; Business Context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6147938" y="1488346"/>
              <a:ext cx="4814406" cy="2679072"/>
              <a:chOff x="0" y="0"/>
              <a:chExt cx="753141" cy="4191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53141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753141">
                    <a:moveTo>
                      <a:pt x="41877" y="0"/>
                    </a:moveTo>
                    <a:lnTo>
                      <a:pt x="711264" y="0"/>
                    </a:lnTo>
                    <a:cubicBezTo>
                      <a:pt x="722370" y="0"/>
                      <a:pt x="733022" y="4412"/>
                      <a:pt x="740875" y="12265"/>
                    </a:cubicBezTo>
                    <a:cubicBezTo>
                      <a:pt x="748729" y="20119"/>
                      <a:pt x="753141" y="30770"/>
                      <a:pt x="753141" y="41877"/>
                    </a:cubicBezTo>
                    <a:lnTo>
                      <a:pt x="753141" y="377223"/>
                    </a:lnTo>
                    <a:cubicBezTo>
                      <a:pt x="753141" y="388330"/>
                      <a:pt x="748729" y="398981"/>
                      <a:pt x="740875" y="406835"/>
                    </a:cubicBezTo>
                    <a:cubicBezTo>
                      <a:pt x="733022" y="414688"/>
                      <a:pt x="722370" y="419100"/>
                      <a:pt x="711264" y="419100"/>
                    </a:cubicBezTo>
                    <a:lnTo>
                      <a:pt x="41877" y="419100"/>
                    </a:lnTo>
                    <a:cubicBezTo>
                      <a:pt x="30770" y="419100"/>
                      <a:pt x="20119" y="414688"/>
                      <a:pt x="12265" y="406835"/>
                    </a:cubicBezTo>
                    <a:cubicBezTo>
                      <a:pt x="4412" y="398981"/>
                      <a:pt x="0" y="388330"/>
                      <a:pt x="0" y="377223"/>
                    </a:cubicBezTo>
                    <a:lnTo>
                      <a:pt x="0" y="41877"/>
                    </a:lnTo>
                    <a:cubicBezTo>
                      <a:pt x="0" y="30770"/>
                      <a:pt x="4412" y="20119"/>
                      <a:pt x="12265" y="12265"/>
                    </a:cubicBezTo>
                    <a:cubicBezTo>
                      <a:pt x="20119" y="4412"/>
                      <a:pt x="30770" y="0"/>
                      <a:pt x="41877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753141" cy="400050"/>
              </a:xfrm>
              <a:prstGeom prst="rect">
                <a:avLst/>
              </a:prstGeom>
            </p:spPr>
            <p:txBody>
              <a:bodyPr anchor="ctr" rtlCol="false" tIns="50114" lIns="50114" bIns="50114" rIns="50114"/>
              <a:lstStyle/>
              <a:p>
                <a:pPr algn="ctr" marL="0" indent="0" lvl="0">
                  <a:lnSpc>
                    <a:spcPts val="2598"/>
                  </a:lnSpc>
                  <a:spcBef>
                    <a:spcPct val="0"/>
                  </a:spcBef>
                </a:pPr>
                <a:r>
                  <a:rPr lang="en-US" sz="2299" spc="36" strike="noStrike" u="none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Marketing</a:t>
                </a:r>
              </a:p>
              <a:p>
                <a:pPr algn="ctr" marL="0" indent="0" lvl="0">
                  <a:lnSpc>
                    <a:spcPts val="2372"/>
                  </a:lnSpc>
                  <a:spcBef>
                    <a:spcPct val="0"/>
                  </a:spcBef>
                </a:pPr>
              </a:p>
              <a:p>
                <a:pPr algn="l" marL="0" indent="0" lvl="0">
                  <a:lnSpc>
                    <a:spcPts val="2372"/>
                  </a:lnSpc>
                  <a:spcBef>
                    <a:spcPct val="0"/>
                  </a:spcBef>
                </a:pPr>
                <a:r>
                  <a:rPr lang="en-US" b="true" sz="2100" spc="33" strike="noStrike" u="none">
                    <a:solidFill>
                      <a:srgbClr val="000000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Heavy performance marketing, weak proof of outcomes</a:t>
                </a:r>
              </a:p>
              <a:p>
                <a:pPr algn="ctr" marL="0" indent="0" lvl="0">
                  <a:lnSpc>
                    <a:spcPts val="2372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731568" y="4555798"/>
              <a:ext cx="4771405" cy="2679072"/>
              <a:chOff x="0" y="0"/>
              <a:chExt cx="746414" cy="4191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46414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746414">
                    <a:moveTo>
                      <a:pt x="42254" y="0"/>
                    </a:moveTo>
                    <a:lnTo>
                      <a:pt x="704159" y="0"/>
                    </a:lnTo>
                    <a:cubicBezTo>
                      <a:pt x="715366" y="0"/>
                      <a:pt x="726113" y="4452"/>
                      <a:pt x="734038" y="12376"/>
                    </a:cubicBezTo>
                    <a:cubicBezTo>
                      <a:pt x="741962" y="20300"/>
                      <a:pt x="746414" y="31048"/>
                      <a:pt x="746414" y="42254"/>
                    </a:cubicBezTo>
                    <a:lnTo>
                      <a:pt x="746414" y="376846"/>
                    </a:lnTo>
                    <a:cubicBezTo>
                      <a:pt x="746414" y="388052"/>
                      <a:pt x="741962" y="398800"/>
                      <a:pt x="734038" y="406724"/>
                    </a:cubicBezTo>
                    <a:cubicBezTo>
                      <a:pt x="726113" y="414648"/>
                      <a:pt x="715366" y="419100"/>
                      <a:pt x="704159" y="419100"/>
                    </a:cubicBezTo>
                    <a:lnTo>
                      <a:pt x="42254" y="419100"/>
                    </a:lnTo>
                    <a:cubicBezTo>
                      <a:pt x="31048" y="419100"/>
                      <a:pt x="20300" y="414648"/>
                      <a:pt x="12376" y="406724"/>
                    </a:cubicBezTo>
                    <a:cubicBezTo>
                      <a:pt x="4452" y="398800"/>
                      <a:pt x="0" y="388052"/>
                      <a:pt x="0" y="376846"/>
                    </a:cubicBezTo>
                    <a:lnTo>
                      <a:pt x="0" y="42254"/>
                    </a:lnTo>
                    <a:cubicBezTo>
                      <a:pt x="0" y="31048"/>
                      <a:pt x="4452" y="20300"/>
                      <a:pt x="12376" y="12376"/>
                    </a:cubicBezTo>
                    <a:cubicBezTo>
                      <a:pt x="20300" y="4452"/>
                      <a:pt x="31048" y="0"/>
                      <a:pt x="42254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746414" cy="400050"/>
              </a:xfrm>
              <a:prstGeom prst="rect">
                <a:avLst/>
              </a:prstGeom>
            </p:spPr>
            <p:txBody>
              <a:bodyPr anchor="ctr" rtlCol="false" tIns="50114" lIns="50114" bIns="50114" rIns="50114"/>
              <a:lstStyle/>
              <a:p>
                <a:pPr algn="ctr">
                  <a:lnSpc>
                    <a:spcPts val="2598"/>
                  </a:lnSpc>
                </a:pPr>
                <a:r>
                  <a:rPr lang="en-US" sz="2299" spc="36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Operations</a:t>
                </a:r>
              </a:p>
              <a:p>
                <a:pPr algn="ctr">
                  <a:lnSpc>
                    <a:spcPts val="2372"/>
                  </a:lnSpc>
                </a:pPr>
              </a:p>
              <a:p>
                <a:pPr algn="l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0000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Content-heavy model, limited personalization</a:t>
                </a:r>
              </a:p>
              <a:p>
                <a:pPr algn="l">
                  <a:lnSpc>
                    <a:spcPts val="237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6190940" y="4555798"/>
              <a:ext cx="4771405" cy="2679072"/>
              <a:chOff x="0" y="0"/>
              <a:chExt cx="746414" cy="4191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46414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746414">
                    <a:moveTo>
                      <a:pt x="42254" y="0"/>
                    </a:moveTo>
                    <a:lnTo>
                      <a:pt x="704159" y="0"/>
                    </a:lnTo>
                    <a:cubicBezTo>
                      <a:pt x="715366" y="0"/>
                      <a:pt x="726113" y="4452"/>
                      <a:pt x="734038" y="12376"/>
                    </a:cubicBezTo>
                    <a:cubicBezTo>
                      <a:pt x="741962" y="20300"/>
                      <a:pt x="746414" y="31048"/>
                      <a:pt x="746414" y="42254"/>
                    </a:cubicBezTo>
                    <a:lnTo>
                      <a:pt x="746414" y="376846"/>
                    </a:lnTo>
                    <a:cubicBezTo>
                      <a:pt x="746414" y="388052"/>
                      <a:pt x="741962" y="398800"/>
                      <a:pt x="734038" y="406724"/>
                    </a:cubicBezTo>
                    <a:cubicBezTo>
                      <a:pt x="726113" y="414648"/>
                      <a:pt x="715366" y="419100"/>
                      <a:pt x="704159" y="419100"/>
                    </a:cubicBezTo>
                    <a:lnTo>
                      <a:pt x="42254" y="419100"/>
                    </a:lnTo>
                    <a:cubicBezTo>
                      <a:pt x="31048" y="419100"/>
                      <a:pt x="20300" y="414648"/>
                      <a:pt x="12376" y="406724"/>
                    </a:cubicBezTo>
                    <a:cubicBezTo>
                      <a:pt x="4452" y="398800"/>
                      <a:pt x="0" y="388052"/>
                      <a:pt x="0" y="376846"/>
                    </a:cubicBezTo>
                    <a:lnTo>
                      <a:pt x="0" y="42254"/>
                    </a:lnTo>
                    <a:cubicBezTo>
                      <a:pt x="0" y="31048"/>
                      <a:pt x="4452" y="20300"/>
                      <a:pt x="12376" y="12376"/>
                    </a:cubicBezTo>
                    <a:cubicBezTo>
                      <a:pt x="20300" y="4452"/>
                      <a:pt x="31048" y="0"/>
                      <a:pt x="42254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746414" cy="400050"/>
              </a:xfrm>
              <a:prstGeom prst="rect">
                <a:avLst/>
              </a:prstGeom>
            </p:spPr>
            <p:txBody>
              <a:bodyPr anchor="ctr" rtlCol="false" tIns="50114" lIns="50114" bIns="50114" rIns="50114"/>
              <a:lstStyle/>
              <a:p>
                <a:pPr algn="ctr">
                  <a:lnSpc>
                    <a:spcPts val="2598"/>
                  </a:lnSpc>
                </a:pPr>
                <a:r>
                  <a:rPr lang="en-US" sz="2299" spc="36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Finance</a:t>
                </a:r>
              </a:p>
              <a:p>
                <a:pPr algn="ctr">
                  <a:lnSpc>
                    <a:spcPts val="2372"/>
                  </a:lnSpc>
                </a:pPr>
              </a:p>
              <a:p>
                <a:pPr algn="l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0000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High CAC, low lifetime value</a:t>
                </a:r>
              </a:p>
              <a:p>
                <a:pPr algn="l">
                  <a:lnSpc>
                    <a:spcPts val="2372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61949" y="344410"/>
              <a:ext cx="861441" cy="750236"/>
            </a:xfrm>
            <a:custGeom>
              <a:avLst/>
              <a:gdLst/>
              <a:ahLst/>
              <a:cxnLst/>
              <a:rect r="r" b="b" t="t" l="l"/>
              <a:pathLst>
                <a:path h="750236" w="861441">
                  <a:moveTo>
                    <a:pt x="0" y="0"/>
                  </a:moveTo>
                  <a:lnTo>
                    <a:pt x="861440" y="0"/>
                  </a:lnTo>
                  <a:lnTo>
                    <a:pt x="861440" y="750236"/>
                  </a:lnTo>
                  <a:lnTo>
                    <a:pt x="0" y="750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905744" y="4018719"/>
            <a:ext cx="656528" cy="683883"/>
          </a:xfrm>
          <a:custGeom>
            <a:avLst/>
            <a:gdLst/>
            <a:ahLst/>
            <a:cxnLst/>
            <a:rect r="r" b="b" t="t" l="l"/>
            <a:pathLst>
              <a:path h="683883" w="656528">
                <a:moveTo>
                  <a:pt x="0" y="0"/>
                </a:moveTo>
                <a:lnTo>
                  <a:pt x="656527" y="0"/>
                </a:lnTo>
                <a:lnTo>
                  <a:pt x="656527" y="683883"/>
                </a:lnTo>
                <a:lnTo>
                  <a:pt x="0" y="683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439284" y="6325858"/>
            <a:ext cx="8657328" cy="3395986"/>
            <a:chOff x="0" y="0"/>
            <a:chExt cx="11543104" cy="452798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565876" y="0"/>
              <a:ext cx="10722044" cy="4527981"/>
              <a:chOff x="0" y="0"/>
              <a:chExt cx="2117935" cy="8944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17935" cy="894416"/>
              </a:xfrm>
              <a:custGeom>
                <a:avLst/>
                <a:gdLst/>
                <a:ahLst/>
                <a:cxnLst/>
                <a:rect r="r" b="b" t="t" l="l"/>
                <a:pathLst>
                  <a:path h="894416" w="2117935">
                    <a:moveTo>
                      <a:pt x="49100" y="0"/>
                    </a:moveTo>
                    <a:lnTo>
                      <a:pt x="2068835" y="0"/>
                    </a:lnTo>
                    <a:cubicBezTo>
                      <a:pt x="2095952" y="0"/>
                      <a:pt x="2117935" y="21983"/>
                      <a:pt x="2117935" y="49100"/>
                    </a:cubicBezTo>
                    <a:lnTo>
                      <a:pt x="2117935" y="845316"/>
                    </a:lnTo>
                    <a:cubicBezTo>
                      <a:pt x="2117935" y="858338"/>
                      <a:pt x="2112762" y="870827"/>
                      <a:pt x="2103554" y="880035"/>
                    </a:cubicBezTo>
                    <a:cubicBezTo>
                      <a:pt x="2094346" y="889243"/>
                      <a:pt x="2081857" y="894416"/>
                      <a:pt x="2068835" y="894416"/>
                    </a:cubicBezTo>
                    <a:lnTo>
                      <a:pt x="49100" y="894416"/>
                    </a:lnTo>
                    <a:cubicBezTo>
                      <a:pt x="21983" y="894416"/>
                      <a:pt x="0" y="872433"/>
                      <a:pt x="0" y="845316"/>
                    </a:cubicBezTo>
                    <a:lnTo>
                      <a:pt x="0" y="49100"/>
                    </a:lnTo>
                    <a:cubicBezTo>
                      <a:pt x="0" y="21983"/>
                      <a:pt x="21983" y="0"/>
                      <a:pt x="491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172C">
                      <a:alpha val="100000"/>
                    </a:srgbClr>
                  </a:gs>
                  <a:gs pos="100000">
                    <a:srgbClr val="2961B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9525"/>
                <a:ext cx="2117935" cy="8848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2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012442" y="1478316"/>
              <a:ext cx="9828913" cy="2583637"/>
              <a:chOff x="0" y="0"/>
              <a:chExt cx="938171" cy="24660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38171" cy="246609"/>
              </a:xfrm>
              <a:custGeom>
                <a:avLst/>
                <a:gdLst/>
                <a:ahLst/>
                <a:cxnLst/>
                <a:rect r="r" b="b" t="t" l="l"/>
                <a:pathLst>
                  <a:path h="246609" w="938171">
                    <a:moveTo>
                      <a:pt x="20512" y="0"/>
                    </a:moveTo>
                    <a:lnTo>
                      <a:pt x="917659" y="0"/>
                    </a:lnTo>
                    <a:cubicBezTo>
                      <a:pt x="923099" y="0"/>
                      <a:pt x="928317" y="2161"/>
                      <a:pt x="932164" y="6008"/>
                    </a:cubicBezTo>
                    <a:cubicBezTo>
                      <a:pt x="936010" y="9855"/>
                      <a:pt x="938171" y="15072"/>
                      <a:pt x="938171" y="20512"/>
                    </a:cubicBezTo>
                    <a:lnTo>
                      <a:pt x="938171" y="226096"/>
                    </a:lnTo>
                    <a:cubicBezTo>
                      <a:pt x="938171" y="231537"/>
                      <a:pt x="936010" y="236754"/>
                      <a:pt x="932164" y="240601"/>
                    </a:cubicBezTo>
                    <a:cubicBezTo>
                      <a:pt x="928317" y="244447"/>
                      <a:pt x="923099" y="246609"/>
                      <a:pt x="917659" y="246609"/>
                    </a:cubicBezTo>
                    <a:lnTo>
                      <a:pt x="20512" y="246609"/>
                    </a:lnTo>
                    <a:cubicBezTo>
                      <a:pt x="15072" y="246609"/>
                      <a:pt x="9855" y="244447"/>
                      <a:pt x="6008" y="240601"/>
                    </a:cubicBezTo>
                    <a:cubicBezTo>
                      <a:pt x="2161" y="236754"/>
                      <a:pt x="0" y="231537"/>
                      <a:pt x="0" y="226096"/>
                    </a:cubicBezTo>
                    <a:lnTo>
                      <a:pt x="0" y="20512"/>
                    </a:lnTo>
                    <a:cubicBezTo>
                      <a:pt x="0" y="15072"/>
                      <a:pt x="2161" y="9855"/>
                      <a:pt x="6008" y="6008"/>
                    </a:cubicBezTo>
                    <a:cubicBezTo>
                      <a:pt x="9855" y="2161"/>
                      <a:pt x="15072" y="0"/>
                      <a:pt x="20512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9525"/>
                <a:ext cx="938171" cy="2370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Busy professionals don't want more content—they want momentum and visible career outcomes.</a:t>
                </a:r>
              </a:p>
              <a:p>
                <a:pPr algn="ctr">
                  <a:lnSpc>
                    <a:spcPts val="2372"/>
                  </a:lnSpc>
                </a:pPr>
              </a:p>
              <a:p>
                <a:pPr algn="ctr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The product must shift from "course completion" to "career completion" with AI-guided, outcome-driven learning.</a:t>
                </a: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3256715" y="206123"/>
              <a:ext cx="875370" cy="911844"/>
            </a:xfrm>
            <a:custGeom>
              <a:avLst/>
              <a:gdLst/>
              <a:ahLst/>
              <a:cxnLst/>
              <a:rect r="r" b="b" t="t" l="l"/>
              <a:pathLst>
                <a:path h="911844" w="875370">
                  <a:moveTo>
                    <a:pt x="0" y="0"/>
                  </a:moveTo>
                  <a:lnTo>
                    <a:pt x="875370" y="0"/>
                  </a:lnTo>
                  <a:lnTo>
                    <a:pt x="875370" y="911845"/>
                  </a:lnTo>
                  <a:lnTo>
                    <a:pt x="0" y="911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0" y="451219"/>
              <a:ext cx="11543104" cy="66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Insight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63692" y="1975124"/>
            <a:ext cx="8041533" cy="3395986"/>
            <a:chOff x="0" y="0"/>
            <a:chExt cx="2117935" cy="8944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17935" cy="894416"/>
            </a:xfrm>
            <a:custGeom>
              <a:avLst/>
              <a:gdLst/>
              <a:ahLst/>
              <a:cxnLst/>
              <a:rect r="r" b="b" t="t" l="l"/>
              <a:pathLst>
                <a:path h="894416" w="2117935">
                  <a:moveTo>
                    <a:pt x="49100" y="0"/>
                  </a:moveTo>
                  <a:lnTo>
                    <a:pt x="2068835" y="0"/>
                  </a:lnTo>
                  <a:cubicBezTo>
                    <a:pt x="2095952" y="0"/>
                    <a:pt x="2117935" y="21983"/>
                    <a:pt x="2117935" y="49100"/>
                  </a:cubicBezTo>
                  <a:lnTo>
                    <a:pt x="2117935" y="845316"/>
                  </a:lnTo>
                  <a:cubicBezTo>
                    <a:pt x="2117935" y="858338"/>
                    <a:pt x="2112762" y="870827"/>
                    <a:pt x="2103554" y="880035"/>
                  </a:cubicBezTo>
                  <a:cubicBezTo>
                    <a:pt x="2094346" y="889243"/>
                    <a:pt x="2081857" y="894416"/>
                    <a:pt x="2068835" y="894416"/>
                  </a:cubicBezTo>
                  <a:lnTo>
                    <a:pt x="49100" y="894416"/>
                  </a:lnTo>
                  <a:cubicBezTo>
                    <a:pt x="21983" y="894416"/>
                    <a:pt x="0" y="872433"/>
                    <a:pt x="0" y="845316"/>
                  </a:cubicBezTo>
                  <a:lnTo>
                    <a:pt x="0" y="49100"/>
                  </a:lnTo>
                  <a:cubicBezTo>
                    <a:pt x="0" y="21983"/>
                    <a:pt x="21983" y="0"/>
                    <a:pt x="491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117935" cy="884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2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98615" y="3083861"/>
            <a:ext cx="7371685" cy="1649439"/>
            <a:chOff x="0" y="0"/>
            <a:chExt cx="938171" cy="2099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8171" cy="209919"/>
            </a:xfrm>
            <a:custGeom>
              <a:avLst/>
              <a:gdLst/>
              <a:ahLst/>
              <a:cxnLst/>
              <a:rect r="r" b="b" t="t" l="l"/>
              <a:pathLst>
                <a:path h="209919" w="938171">
                  <a:moveTo>
                    <a:pt x="20512" y="0"/>
                  </a:moveTo>
                  <a:lnTo>
                    <a:pt x="917659" y="0"/>
                  </a:lnTo>
                  <a:cubicBezTo>
                    <a:pt x="923099" y="0"/>
                    <a:pt x="928317" y="2161"/>
                    <a:pt x="932164" y="6008"/>
                  </a:cubicBezTo>
                  <a:cubicBezTo>
                    <a:pt x="936010" y="9855"/>
                    <a:pt x="938171" y="15072"/>
                    <a:pt x="938171" y="20512"/>
                  </a:cubicBezTo>
                  <a:lnTo>
                    <a:pt x="938171" y="189407"/>
                  </a:lnTo>
                  <a:cubicBezTo>
                    <a:pt x="938171" y="194847"/>
                    <a:pt x="936010" y="200064"/>
                    <a:pt x="932164" y="203911"/>
                  </a:cubicBezTo>
                  <a:cubicBezTo>
                    <a:pt x="928317" y="207758"/>
                    <a:pt x="923099" y="209919"/>
                    <a:pt x="917659" y="209919"/>
                  </a:cubicBezTo>
                  <a:lnTo>
                    <a:pt x="20512" y="209919"/>
                  </a:lnTo>
                  <a:cubicBezTo>
                    <a:pt x="15072" y="209919"/>
                    <a:pt x="9855" y="207758"/>
                    <a:pt x="6008" y="203911"/>
                  </a:cubicBezTo>
                  <a:cubicBezTo>
                    <a:pt x="2161" y="200064"/>
                    <a:pt x="0" y="194847"/>
                    <a:pt x="0" y="189407"/>
                  </a:cubicBezTo>
                  <a:lnTo>
                    <a:pt x="0" y="20512"/>
                  </a:lnTo>
                  <a:cubicBezTo>
                    <a:pt x="0" y="15072"/>
                    <a:pt x="2161" y="9855"/>
                    <a:pt x="6008" y="6008"/>
                  </a:cubicBezTo>
                  <a:cubicBezTo>
                    <a:pt x="9855" y="2161"/>
                    <a:pt x="15072" y="0"/>
                    <a:pt x="20512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938171" cy="200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2"/>
                </a:lnSpc>
              </a:pPr>
              <a:r>
                <a:rPr lang="en-US" sz="2100" spc="33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Core Problem: Users start courses but fail to complete due to </a:t>
              </a:r>
              <a:r>
                <a:rPr lang="en-US" b="true" sz="2100" spc="33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lack of time, engagement, and visible outcomes</a:t>
              </a:r>
              <a:r>
                <a:rPr lang="en-US" sz="2100" spc="33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 Drop-offs occur after initial modules with preference for short, actionable content.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1905744" y="2143443"/>
            <a:ext cx="441030" cy="679457"/>
          </a:xfrm>
          <a:custGeom>
            <a:avLst/>
            <a:gdLst/>
            <a:ahLst/>
            <a:cxnLst/>
            <a:rect r="r" b="b" t="t" l="l"/>
            <a:pathLst>
              <a:path h="679457" w="441030">
                <a:moveTo>
                  <a:pt x="0" y="0"/>
                </a:moveTo>
                <a:lnTo>
                  <a:pt x="441029" y="0"/>
                </a:lnTo>
                <a:lnTo>
                  <a:pt x="441029" y="679458"/>
                </a:lnTo>
                <a:lnTo>
                  <a:pt x="0" y="679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49627" y="897649"/>
            <a:ext cx="4169040" cy="35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7"/>
              </a:lnSpc>
            </a:pPr>
            <a:r>
              <a:rPr lang="en-US" b="true" sz="2555" spc="4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&amp; Core Insight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39284" y="2299251"/>
            <a:ext cx="8657328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93183"/>
            <a:ext cx="6077529" cy="814574"/>
            <a:chOff x="0" y="0"/>
            <a:chExt cx="2288151" cy="3066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8151" cy="306682"/>
            </a:xfrm>
            <a:custGeom>
              <a:avLst/>
              <a:gdLst/>
              <a:ahLst/>
              <a:cxnLst/>
              <a:rect r="r" b="b" t="t" l="l"/>
              <a:pathLst>
                <a:path h="306682" w="2288151">
                  <a:moveTo>
                    <a:pt x="64967" y="0"/>
                  </a:moveTo>
                  <a:lnTo>
                    <a:pt x="2223184" y="0"/>
                  </a:lnTo>
                  <a:cubicBezTo>
                    <a:pt x="2259064" y="0"/>
                    <a:pt x="2288151" y="29087"/>
                    <a:pt x="2288151" y="64967"/>
                  </a:cubicBezTo>
                  <a:lnTo>
                    <a:pt x="2288151" y="241715"/>
                  </a:lnTo>
                  <a:cubicBezTo>
                    <a:pt x="2288151" y="277595"/>
                    <a:pt x="2259064" y="306682"/>
                    <a:pt x="2223184" y="306682"/>
                  </a:cubicBezTo>
                  <a:lnTo>
                    <a:pt x="64967" y="306682"/>
                  </a:lnTo>
                  <a:cubicBezTo>
                    <a:pt x="29087" y="306682"/>
                    <a:pt x="0" y="277595"/>
                    <a:pt x="0" y="241715"/>
                  </a:cubicBezTo>
                  <a:lnTo>
                    <a:pt x="0" y="64967"/>
                  </a:lnTo>
                  <a:cubicBezTo>
                    <a:pt x="0" y="29087"/>
                    <a:pt x="29087" y="0"/>
                    <a:pt x="649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8151" cy="344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00701" y="3554483"/>
            <a:ext cx="656528" cy="683883"/>
          </a:xfrm>
          <a:custGeom>
            <a:avLst/>
            <a:gdLst/>
            <a:ahLst/>
            <a:cxnLst/>
            <a:rect r="r" b="b" t="t" l="l"/>
            <a:pathLst>
              <a:path h="683883" w="656528">
                <a:moveTo>
                  <a:pt x="0" y="0"/>
                </a:moveTo>
                <a:lnTo>
                  <a:pt x="656528" y="0"/>
                </a:lnTo>
                <a:lnTo>
                  <a:pt x="656528" y="683883"/>
                </a:lnTo>
                <a:lnTo>
                  <a:pt x="0" y="683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00701" y="1679207"/>
            <a:ext cx="441030" cy="679457"/>
          </a:xfrm>
          <a:custGeom>
            <a:avLst/>
            <a:gdLst/>
            <a:ahLst/>
            <a:cxnLst/>
            <a:rect r="r" b="b" t="t" l="l"/>
            <a:pathLst>
              <a:path h="679457" w="441030">
                <a:moveTo>
                  <a:pt x="0" y="0"/>
                </a:moveTo>
                <a:lnTo>
                  <a:pt x="441030" y="0"/>
                </a:lnTo>
                <a:lnTo>
                  <a:pt x="441030" y="679458"/>
                </a:lnTo>
                <a:lnTo>
                  <a:pt x="0" y="6794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27043" y="1738593"/>
            <a:ext cx="5008582" cy="3414103"/>
            <a:chOff x="0" y="0"/>
            <a:chExt cx="1319133" cy="899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9133" cy="899188"/>
            </a:xfrm>
            <a:custGeom>
              <a:avLst/>
              <a:gdLst/>
              <a:ahLst/>
              <a:cxnLst/>
              <a:rect r="r" b="b" t="t" l="l"/>
              <a:pathLst>
                <a:path h="899188" w="1319133">
                  <a:moveTo>
                    <a:pt x="0" y="0"/>
                  </a:moveTo>
                  <a:lnTo>
                    <a:pt x="1319133" y="0"/>
                  </a:lnTo>
                  <a:lnTo>
                    <a:pt x="1319133" y="899188"/>
                  </a:lnTo>
                  <a:lnTo>
                    <a:pt x="0" y="899188"/>
                  </a:ln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19133" cy="927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772"/>
                </a:lnSpc>
              </a:pPr>
              <a:r>
                <a:rPr lang="en-US" b="true" sz="2100" spc="3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         </a:t>
              </a:r>
              <a:r>
                <a:rPr lang="en-US" b="true" sz="2100" spc="3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B2C/D2C Segment</a:t>
              </a:r>
            </a:p>
            <a:p>
              <a:pPr algn="just">
                <a:lnSpc>
                  <a:spcPts val="2772"/>
                </a:lnSpc>
              </a:pPr>
            </a:p>
            <a:p>
              <a:pPr algn="just">
                <a:lnSpc>
                  <a:spcPts val="2372"/>
                </a:lnSpc>
              </a:pPr>
              <a:r>
                <a:rPr lang="en-US" b="true" sz="2100" spc="3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Target: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Self-funded professionals</a:t>
              </a:r>
            </a:p>
            <a:p>
              <a:pPr algn="just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b="true" sz="2100" spc="3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Discovery: 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Performance marketing, social media</a:t>
              </a:r>
            </a:p>
            <a:p>
              <a:pPr algn="l">
                <a:lnSpc>
                  <a:spcPts val="2372"/>
                </a:lnSpc>
              </a:pPr>
            </a:p>
            <a:p>
              <a:pPr algn="just">
                <a:lnSpc>
                  <a:spcPts val="2372"/>
                </a:lnSpc>
              </a:pPr>
              <a:r>
                <a:rPr lang="en-US" b="true" sz="2100" spc="3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Need: 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Fast proof of value, career advancement</a:t>
              </a:r>
            </a:p>
            <a:p>
              <a:pPr algn="just">
                <a:lnSpc>
                  <a:spcPts val="237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67097" y="1738593"/>
            <a:ext cx="5058481" cy="3414103"/>
            <a:chOff x="0" y="0"/>
            <a:chExt cx="1332275" cy="899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2275" cy="899188"/>
            </a:xfrm>
            <a:custGeom>
              <a:avLst/>
              <a:gdLst/>
              <a:ahLst/>
              <a:cxnLst/>
              <a:rect r="r" b="b" t="t" l="l"/>
              <a:pathLst>
                <a:path h="899188" w="1332275">
                  <a:moveTo>
                    <a:pt x="0" y="0"/>
                  </a:moveTo>
                  <a:lnTo>
                    <a:pt x="1332275" y="0"/>
                  </a:lnTo>
                  <a:lnTo>
                    <a:pt x="1332275" y="899188"/>
                  </a:lnTo>
                  <a:lnTo>
                    <a:pt x="0" y="899188"/>
                  </a:ln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332275" cy="88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        B2B Segment</a:t>
              </a:r>
            </a:p>
            <a:p>
              <a:pPr algn="l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Target: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HR/L&amp;D teams, placement cells</a:t>
              </a:r>
            </a:p>
            <a:p>
              <a:pPr algn="l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Focus: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Measurable completion, skill uplift</a:t>
              </a:r>
            </a:p>
            <a:p>
              <a:pPr algn="l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Need: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Workforce readiness, employability</a:t>
              </a:r>
            </a:p>
            <a:p>
              <a:pPr algn="l">
                <a:lnSpc>
                  <a:spcPts val="237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1731" y="1738593"/>
            <a:ext cx="5319226" cy="3414103"/>
            <a:chOff x="0" y="0"/>
            <a:chExt cx="1400948" cy="8991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0948" cy="899188"/>
            </a:xfrm>
            <a:custGeom>
              <a:avLst/>
              <a:gdLst/>
              <a:ahLst/>
              <a:cxnLst/>
              <a:rect r="r" b="b" t="t" l="l"/>
              <a:pathLst>
                <a:path h="899188" w="1400948">
                  <a:moveTo>
                    <a:pt x="0" y="0"/>
                  </a:moveTo>
                  <a:lnTo>
                    <a:pt x="1400948" y="0"/>
                  </a:lnTo>
                  <a:lnTo>
                    <a:pt x="1400948" y="899188"/>
                  </a:lnTo>
                  <a:lnTo>
                    <a:pt x="0" y="899188"/>
                  </a:ln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400948" cy="88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        Key Insight</a:t>
              </a:r>
            </a:p>
            <a:p>
              <a:pPr algn="l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Most</a:t>
              </a: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</a:t>
              </a: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of the learners 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unsure which skills they need</a:t>
              </a:r>
            </a:p>
            <a:p>
              <a:pPr algn="l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Personalization 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improves enrollment by significant percent</a:t>
              </a:r>
            </a:p>
            <a:p>
              <a:pPr algn="l">
                <a:lnSpc>
                  <a:spcPts val="2372"/>
                </a:lnSpc>
              </a:pP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Short content</a:t>
              </a:r>
              <a:r>
                <a:rPr lang="en-US" sz="2100" spc="3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preferred by busy professionals</a:t>
              </a:r>
            </a:p>
            <a:p>
              <a:pPr algn="l">
                <a:lnSpc>
                  <a:spcPts val="2372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38201" y="1837738"/>
            <a:ext cx="520927" cy="520927"/>
          </a:xfrm>
          <a:custGeom>
            <a:avLst/>
            <a:gdLst/>
            <a:ahLst/>
            <a:cxnLst/>
            <a:rect r="r" b="b" t="t" l="l"/>
            <a:pathLst>
              <a:path h="520927" w="520927">
                <a:moveTo>
                  <a:pt x="0" y="0"/>
                </a:moveTo>
                <a:lnTo>
                  <a:pt x="520928" y="0"/>
                </a:lnTo>
                <a:lnTo>
                  <a:pt x="520928" y="520927"/>
                </a:lnTo>
                <a:lnTo>
                  <a:pt x="0" y="5209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61620" y="1837738"/>
            <a:ext cx="539567" cy="520927"/>
          </a:xfrm>
          <a:custGeom>
            <a:avLst/>
            <a:gdLst/>
            <a:ahLst/>
            <a:cxnLst/>
            <a:rect r="r" b="b" t="t" l="l"/>
            <a:pathLst>
              <a:path h="520927" w="539567">
                <a:moveTo>
                  <a:pt x="0" y="0"/>
                </a:moveTo>
                <a:lnTo>
                  <a:pt x="539567" y="0"/>
                </a:lnTo>
                <a:lnTo>
                  <a:pt x="539567" y="520927"/>
                </a:lnTo>
                <a:lnTo>
                  <a:pt x="0" y="5209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57229" y="1802918"/>
            <a:ext cx="416326" cy="432036"/>
          </a:xfrm>
          <a:custGeom>
            <a:avLst/>
            <a:gdLst/>
            <a:ahLst/>
            <a:cxnLst/>
            <a:rect r="r" b="b" t="t" l="l"/>
            <a:pathLst>
              <a:path h="432036" w="416326">
                <a:moveTo>
                  <a:pt x="0" y="0"/>
                </a:moveTo>
                <a:lnTo>
                  <a:pt x="416326" y="0"/>
                </a:lnTo>
                <a:lnTo>
                  <a:pt x="416326" y="432036"/>
                </a:lnTo>
                <a:lnTo>
                  <a:pt x="0" y="4320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65537" y="6063272"/>
            <a:ext cx="11149530" cy="3195028"/>
            <a:chOff x="0" y="0"/>
            <a:chExt cx="14866040" cy="426003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231279" cy="4260037"/>
              <a:chOff x="0" y="0"/>
              <a:chExt cx="398795" cy="52576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98795" cy="525761"/>
              </a:xfrm>
              <a:custGeom>
                <a:avLst/>
                <a:gdLst/>
                <a:ahLst/>
                <a:cxnLst/>
                <a:rect r="r" b="b" t="t" l="l"/>
                <a:pathLst>
                  <a:path h="525761" w="398795">
                    <a:moveTo>
                      <a:pt x="62394" y="0"/>
                    </a:moveTo>
                    <a:lnTo>
                      <a:pt x="336401" y="0"/>
                    </a:lnTo>
                    <a:cubicBezTo>
                      <a:pt x="352949" y="0"/>
                      <a:pt x="368819" y="6574"/>
                      <a:pt x="380520" y="18275"/>
                    </a:cubicBezTo>
                    <a:cubicBezTo>
                      <a:pt x="392221" y="29976"/>
                      <a:pt x="398795" y="45846"/>
                      <a:pt x="398795" y="62394"/>
                    </a:cubicBezTo>
                    <a:lnTo>
                      <a:pt x="398795" y="463367"/>
                    </a:lnTo>
                    <a:cubicBezTo>
                      <a:pt x="398795" y="479915"/>
                      <a:pt x="392221" y="495785"/>
                      <a:pt x="380520" y="507486"/>
                    </a:cubicBezTo>
                    <a:cubicBezTo>
                      <a:pt x="368819" y="519187"/>
                      <a:pt x="352949" y="525761"/>
                      <a:pt x="336401" y="525761"/>
                    </a:cubicBezTo>
                    <a:lnTo>
                      <a:pt x="62394" y="525761"/>
                    </a:lnTo>
                    <a:cubicBezTo>
                      <a:pt x="45846" y="525761"/>
                      <a:pt x="29976" y="519187"/>
                      <a:pt x="18275" y="507486"/>
                    </a:cubicBezTo>
                    <a:cubicBezTo>
                      <a:pt x="6574" y="495785"/>
                      <a:pt x="0" y="479915"/>
                      <a:pt x="0" y="463367"/>
                    </a:cubicBezTo>
                    <a:lnTo>
                      <a:pt x="0" y="62394"/>
                    </a:lnTo>
                    <a:cubicBezTo>
                      <a:pt x="0" y="45846"/>
                      <a:pt x="6574" y="29976"/>
                      <a:pt x="18275" y="18275"/>
                    </a:cubicBezTo>
                    <a:cubicBezTo>
                      <a:pt x="29976" y="6574"/>
                      <a:pt x="45846" y="0"/>
                      <a:pt x="62394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w="38100" cap="rnd">
                <a:gradFill>
                  <a:gsLst>
                    <a:gs pos="0">
                      <a:srgbClr val="00172C">
                        <a:alpha val="100000"/>
                      </a:srgbClr>
                    </a:gs>
                    <a:gs pos="100000">
                      <a:srgbClr val="2961BC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9525"/>
                <a:ext cx="398795" cy="516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Actively Working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Professional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l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Goals: </a:t>
                </a:r>
              </a:p>
              <a:p>
                <a:pPr algn="l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Promotion Switch roles Salary growth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15-20 min/day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876802" y="0"/>
              <a:ext cx="3231279" cy="4260037"/>
              <a:chOff x="0" y="0"/>
              <a:chExt cx="398795" cy="52576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98795" cy="525761"/>
              </a:xfrm>
              <a:custGeom>
                <a:avLst/>
                <a:gdLst/>
                <a:ahLst/>
                <a:cxnLst/>
                <a:rect r="r" b="b" t="t" l="l"/>
                <a:pathLst>
                  <a:path h="525761" w="398795">
                    <a:moveTo>
                      <a:pt x="62394" y="0"/>
                    </a:moveTo>
                    <a:lnTo>
                      <a:pt x="336401" y="0"/>
                    </a:lnTo>
                    <a:cubicBezTo>
                      <a:pt x="352949" y="0"/>
                      <a:pt x="368819" y="6574"/>
                      <a:pt x="380520" y="18275"/>
                    </a:cubicBezTo>
                    <a:cubicBezTo>
                      <a:pt x="392221" y="29976"/>
                      <a:pt x="398795" y="45846"/>
                      <a:pt x="398795" y="62394"/>
                    </a:cubicBezTo>
                    <a:lnTo>
                      <a:pt x="398795" y="463367"/>
                    </a:lnTo>
                    <a:cubicBezTo>
                      <a:pt x="398795" y="479915"/>
                      <a:pt x="392221" y="495785"/>
                      <a:pt x="380520" y="507486"/>
                    </a:cubicBezTo>
                    <a:cubicBezTo>
                      <a:pt x="368819" y="519187"/>
                      <a:pt x="352949" y="525761"/>
                      <a:pt x="336401" y="525761"/>
                    </a:cubicBezTo>
                    <a:lnTo>
                      <a:pt x="62394" y="525761"/>
                    </a:lnTo>
                    <a:cubicBezTo>
                      <a:pt x="45846" y="525761"/>
                      <a:pt x="29976" y="519187"/>
                      <a:pt x="18275" y="507486"/>
                    </a:cubicBezTo>
                    <a:cubicBezTo>
                      <a:pt x="6574" y="495785"/>
                      <a:pt x="0" y="479915"/>
                      <a:pt x="0" y="463367"/>
                    </a:cubicBezTo>
                    <a:lnTo>
                      <a:pt x="0" y="62394"/>
                    </a:lnTo>
                    <a:cubicBezTo>
                      <a:pt x="0" y="45846"/>
                      <a:pt x="6574" y="29976"/>
                      <a:pt x="18275" y="18275"/>
                    </a:cubicBezTo>
                    <a:cubicBezTo>
                      <a:pt x="29976" y="6574"/>
                      <a:pt x="45846" y="0"/>
                      <a:pt x="62394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w="38100" cap="rnd">
                <a:gradFill>
                  <a:gsLst>
                    <a:gs pos="0">
                      <a:srgbClr val="00172C">
                        <a:alpha val="100000"/>
                      </a:srgbClr>
                    </a:gs>
                    <a:gs pos="100000">
                      <a:srgbClr val="2961BC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9525"/>
                <a:ext cx="398795" cy="516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Career Transition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Switcher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Goals: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New domain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Skill building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Job readiness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Needs roadmap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755781" y="0"/>
              <a:ext cx="3231279" cy="4260037"/>
              <a:chOff x="0" y="0"/>
              <a:chExt cx="398795" cy="52576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98795" cy="525761"/>
              </a:xfrm>
              <a:custGeom>
                <a:avLst/>
                <a:gdLst/>
                <a:ahLst/>
                <a:cxnLst/>
                <a:rect r="r" b="b" t="t" l="l"/>
                <a:pathLst>
                  <a:path h="525761" w="398795">
                    <a:moveTo>
                      <a:pt x="62394" y="0"/>
                    </a:moveTo>
                    <a:lnTo>
                      <a:pt x="336401" y="0"/>
                    </a:lnTo>
                    <a:cubicBezTo>
                      <a:pt x="352949" y="0"/>
                      <a:pt x="368819" y="6574"/>
                      <a:pt x="380520" y="18275"/>
                    </a:cubicBezTo>
                    <a:cubicBezTo>
                      <a:pt x="392221" y="29976"/>
                      <a:pt x="398795" y="45846"/>
                      <a:pt x="398795" y="62394"/>
                    </a:cubicBezTo>
                    <a:lnTo>
                      <a:pt x="398795" y="463367"/>
                    </a:lnTo>
                    <a:cubicBezTo>
                      <a:pt x="398795" y="479915"/>
                      <a:pt x="392221" y="495785"/>
                      <a:pt x="380520" y="507486"/>
                    </a:cubicBezTo>
                    <a:cubicBezTo>
                      <a:pt x="368819" y="519187"/>
                      <a:pt x="352949" y="525761"/>
                      <a:pt x="336401" y="525761"/>
                    </a:cubicBezTo>
                    <a:lnTo>
                      <a:pt x="62394" y="525761"/>
                    </a:lnTo>
                    <a:cubicBezTo>
                      <a:pt x="45846" y="525761"/>
                      <a:pt x="29976" y="519187"/>
                      <a:pt x="18275" y="507486"/>
                    </a:cubicBezTo>
                    <a:cubicBezTo>
                      <a:pt x="6574" y="495785"/>
                      <a:pt x="0" y="479915"/>
                      <a:pt x="0" y="463367"/>
                    </a:cubicBezTo>
                    <a:lnTo>
                      <a:pt x="0" y="62394"/>
                    </a:lnTo>
                    <a:cubicBezTo>
                      <a:pt x="0" y="45846"/>
                      <a:pt x="6574" y="29976"/>
                      <a:pt x="18275" y="18275"/>
                    </a:cubicBezTo>
                    <a:cubicBezTo>
                      <a:pt x="29976" y="6574"/>
                      <a:pt x="45846" y="0"/>
                      <a:pt x="62394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w="38100" cap="rnd">
                <a:gradFill>
                  <a:gsLst>
                    <a:gs pos="0">
                      <a:srgbClr val="00172C">
                        <a:alpha val="100000"/>
                      </a:srgbClr>
                    </a:gs>
                    <a:gs pos="100000">
                      <a:srgbClr val="2961BC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9525"/>
                <a:ext cx="398795" cy="516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Career Gap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Returner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Goals: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Confidence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Re-entry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Validation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Confidence rebuild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634761" y="0"/>
              <a:ext cx="3231279" cy="4260037"/>
              <a:chOff x="0" y="0"/>
              <a:chExt cx="398795" cy="52576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98795" cy="525761"/>
              </a:xfrm>
              <a:custGeom>
                <a:avLst/>
                <a:gdLst/>
                <a:ahLst/>
                <a:cxnLst/>
                <a:rect r="r" b="b" t="t" l="l"/>
                <a:pathLst>
                  <a:path h="525761" w="398795">
                    <a:moveTo>
                      <a:pt x="62394" y="0"/>
                    </a:moveTo>
                    <a:lnTo>
                      <a:pt x="336401" y="0"/>
                    </a:lnTo>
                    <a:cubicBezTo>
                      <a:pt x="352949" y="0"/>
                      <a:pt x="368819" y="6574"/>
                      <a:pt x="380520" y="18275"/>
                    </a:cubicBezTo>
                    <a:cubicBezTo>
                      <a:pt x="392221" y="29976"/>
                      <a:pt x="398795" y="45846"/>
                      <a:pt x="398795" y="62394"/>
                    </a:cubicBezTo>
                    <a:lnTo>
                      <a:pt x="398795" y="463367"/>
                    </a:lnTo>
                    <a:cubicBezTo>
                      <a:pt x="398795" y="479915"/>
                      <a:pt x="392221" y="495785"/>
                      <a:pt x="380520" y="507486"/>
                    </a:cubicBezTo>
                    <a:cubicBezTo>
                      <a:pt x="368819" y="519187"/>
                      <a:pt x="352949" y="525761"/>
                      <a:pt x="336401" y="525761"/>
                    </a:cubicBezTo>
                    <a:lnTo>
                      <a:pt x="62394" y="525761"/>
                    </a:lnTo>
                    <a:cubicBezTo>
                      <a:pt x="45846" y="525761"/>
                      <a:pt x="29976" y="519187"/>
                      <a:pt x="18275" y="507486"/>
                    </a:cubicBezTo>
                    <a:cubicBezTo>
                      <a:pt x="6574" y="495785"/>
                      <a:pt x="0" y="479915"/>
                      <a:pt x="0" y="463367"/>
                    </a:cubicBezTo>
                    <a:lnTo>
                      <a:pt x="0" y="62394"/>
                    </a:lnTo>
                    <a:cubicBezTo>
                      <a:pt x="0" y="45846"/>
                      <a:pt x="6574" y="29976"/>
                      <a:pt x="18275" y="18275"/>
                    </a:cubicBezTo>
                    <a:cubicBezTo>
                      <a:pt x="29976" y="6574"/>
                      <a:pt x="45846" y="0"/>
                      <a:pt x="62394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w="38100" cap="rnd">
                <a:gradFill>
                  <a:gsLst>
                    <a:gs pos="0">
                      <a:srgbClr val="00172C">
                        <a:alpha val="100000"/>
                      </a:srgbClr>
                    </a:gs>
                    <a:gs pos="100000">
                      <a:srgbClr val="2961BC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9525"/>
                <a:ext cx="398795" cy="516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372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Job Seeker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Urgent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Goals: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Fast employability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Interview prep</a:t>
                </a: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Skill proof</a:t>
                </a:r>
              </a:p>
              <a:p>
                <a:pPr algn="just">
                  <a:lnSpc>
                    <a:spcPts val="2372"/>
                  </a:lnSpc>
                </a:pPr>
              </a:p>
              <a:p>
                <a:pPr algn="just">
                  <a:lnSpc>
                    <a:spcPts val="2372"/>
                  </a:lnSpc>
                </a:pPr>
                <a:r>
                  <a:rPr lang="en-US" sz="2100" spc="33">
                    <a:solidFill>
                      <a:srgbClr val="0063C2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High urgency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12865467" y="5390292"/>
            <a:ext cx="5063169" cy="3868008"/>
            <a:chOff x="0" y="0"/>
            <a:chExt cx="635000" cy="4851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" cy="485108"/>
            </a:xfrm>
            <a:custGeom>
              <a:avLst/>
              <a:gdLst/>
              <a:ahLst/>
              <a:cxnLst/>
              <a:rect r="r" b="b" t="t" l="l"/>
              <a:pathLst>
                <a:path h="485108" w="635000">
                  <a:moveTo>
                    <a:pt x="29865" y="0"/>
                  </a:moveTo>
                  <a:lnTo>
                    <a:pt x="605135" y="0"/>
                  </a:lnTo>
                  <a:cubicBezTo>
                    <a:pt x="621629" y="0"/>
                    <a:pt x="635000" y="13371"/>
                    <a:pt x="635000" y="29865"/>
                  </a:cubicBezTo>
                  <a:lnTo>
                    <a:pt x="635000" y="455244"/>
                  </a:lnTo>
                  <a:cubicBezTo>
                    <a:pt x="635000" y="471737"/>
                    <a:pt x="621629" y="485108"/>
                    <a:pt x="605135" y="485108"/>
                  </a:cubicBezTo>
                  <a:lnTo>
                    <a:pt x="29865" y="485108"/>
                  </a:lnTo>
                  <a:cubicBezTo>
                    <a:pt x="13371" y="485108"/>
                    <a:pt x="0" y="471737"/>
                    <a:pt x="0" y="455244"/>
                  </a:cubicBezTo>
                  <a:lnTo>
                    <a:pt x="0" y="29865"/>
                  </a:lnTo>
                  <a:cubicBezTo>
                    <a:pt x="0" y="13371"/>
                    <a:pt x="13371" y="0"/>
                    <a:pt x="29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635000" cy="47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2"/>
                </a:lnSpc>
              </a:pPr>
              <a:r>
                <a:rPr lang="en-US" b="true" sz="2100" spc="33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Jobs To Be Done (JTBD)</a:t>
              </a:r>
            </a:p>
            <a:p>
              <a:pPr algn="ctr">
                <a:lnSpc>
                  <a:spcPts val="2372"/>
                </a:lnSpc>
              </a:pPr>
            </a:p>
            <a:p>
              <a:pPr algn="l" marL="453390" indent="-226695" lvl="1">
                <a:lnSpc>
                  <a:spcPts val="2372"/>
                </a:lnSpc>
                <a:buFont typeface="Arial"/>
                <a:buChar char="•"/>
              </a:pPr>
              <a:r>
                <a:rPr lang="en-US" b="true" sz="2100" spc="33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Stay consistent </a:t>
              </a: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        </a:t>
              </a:r>
              <a:r>
                <a:rPr lang="en-US" sz="2100" i="true" spc="33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Despite low time</a:t>
              </a:r>
            </a:p>
            <a:p>
              <a:pPr algn="l" marL="453390" indent="-226695" lvl="1">
                <a:lnSpc>
                  <a:spcPts val="2372"/>
                </a:lnSpc>
                <a:buFont typeface="Arial"/>
                <a:buChar char="•"/>
              </a:pPr>
              <a:r>
                <a:rPr lang="en-US" b="true" sz="2100" spc="33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Know what matters</a:t>
              </a: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        </a:t>
              </a:r>
              <a:r>
                <a:rPr lang="en-US" sz="2100" i="true" spc="33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For target role</a:t>
              </a:r>
            </a:p>
            <a:p>
              <a:pPr algn="l" marL="453390" indent="-226695" lvl="1">
                <a:lnSpc>
                  <a:spcPts val="2372"/>
                </a:lnSpc>
                <a:buFont typeface="Arial"/>
                <a:buChar char="•"/>
              </a:pPr>
              <a:r>
                <a:rPr lang="en-US" b="true" sz="2100" spc="33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See progress</a:t>
              </a:r>
            </a:p>
            <a:p>
              <a:pPr algn="l">
                <a:lnSpc>
                  <a:spcPts val="2372"/>
                </a:lnSpc>
              </a:pPr>
              <a:r>
                <a:rPr lang="en-US" sz="2100" spc="33" b="true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       </a:t>
              </a:r>
              <a:r>
                <a:rPr lang="en-US" sz="2100" i="true" spc="33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Weekly momentum</a:t>
              </a:r>
            </a:p>
            <a:p>
              <a:pPr algn="l" marL="453390" indent="-226695" lvl="1">
                <a:lnSpc>
                  <a:spcPts val="2372"/>
                </a:lnSpc>
                <a:buFont typeface="Arial"/>
                <a:buChar char="•"/>
              </a:pPr>
              <a:r>
                <a:rPr lang="en-US" b="true" sz="2100" spc="3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Prove skills</a:t>
              </a:r>
            </a:p>
            <a:p>
              <a:pPr algn="l">
                <a:lnSpc>
                  <a:spcPts val="2372"/>
                </a:lnSpc>
              </a:pPr>
              <a:r>
                <a:rPr lang="en-US" sz="2100" i="true" spc="33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        T</a:t>
              </a:r>
              <a:r>
                <a:rPr lang="en-US" sz="2100" i="true" spc="33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o employers</a:t>
              </a:r>
            </a:p>
            <a:p>
              <a:pPr algn="l" marL="453390" indent="-226695" lvl="1">
                <a:lnSpc>
                  <a:spcPts val="2372"/>
                </a:lnSpc>
                <a:buFont typeface="Arial"/>
                <a:buChar char="•"/>
              </a:pPr>
              <a:r>
                <a:rPr lang="en-US" b="true" sz="2100" spc="33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Get hired</a:t>
              </a:r>
            </a:p>
            <a:p>
              <a:pPr algn="l">
                <a:lnSpc>
                  <a:spcPts val="2372"/>
                </a:lnSpc>
              </a:pPr>
              <a:r>
                <a:rPr lang="en-US" b="true" sz="2100" spc="33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       </a:t>
              </a:r>
              <a:r>
                <a:rPr lang="en-US" sz="2100" i="true" spc="33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Interview success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49627" y="897649"/>
            <a:ext cx="5556602" cy="35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7"/>
              </a:lnSpc>
            </a:pPr>
            <a:r>
              <a:rPr lang="en-US" b="true" sz="2555" spc="4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Insights &amp; Personas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888" y="850145"/>
            <a:ext cx="357111" cy="357111"/>
          </a:xfrm>
          <a:custGeom>
            <a:avLst/>
            <a:gdLst/>
            <a:ahLst/>
            <a:cxnLst/>
            <a:rect r="r" b="b" t="t" l="l"/>
            <a:pathLst>
              <a:path h="357111" w="357111">
                <a:moveTo>
                  <a:pt x="0" y="0"/>
                </a:moveTo>
                <a:lnTo>
                  <a:pt x="357110" y="0"/>
                </a:lnTo>
                <a:lnTo>
                  <a:pt x="357110" y="357110"/>
                </a:lnTo>
                <a:lnTo>
                  <a:pt x="0" y="357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02862" y="1874083"/>
            <a:ext cx="5156438" cy="3624028"/>
            <a:chOff x="0" y="0"/>
            <a:chExt cx="1358074" cy="954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8074" cy="954477"/>
            </a:xfrm>
            <a:custGeom>
              <a:avLst/>
              <a:gdLst/>
              <a:ahLst/>
              <a:cxnLst/>
              <a:rect r="r" b="b" t="t" l="l"/>
              <a:pathLst>
                <a:path h="954477" w="1358074">
                  <a:moveTo>
                    <a:pt x="54051" y="0"/>
                  </a:moveTo>
                  <a:lnTo>
                    <a:pt x="1304024" y="0"/>
                  </a:lnTo>
                  <a:cubicBezTo>
                    <a:pt x="1318359" y="0"/>
                    <a:pt x="1332107" y="5695"/>
                    <a:pt x="1342243" y="15831"/>
                  </a:cubicBezTo>
                  <a:cubicBezTo>
                    <a:pt x="1352380" y="25968"/>
                    <a:pt x="1358074" y="39716"/>
                    <a:pt x="1358074" y="54051"/>
                  </a:cubicBezTo>
                  <a:lnTo>
                    <a:pt x="1358074" y="900426"/>
                  </a:lnTo>
                  <a:cubicBezTo>
                    <a:pt x="1358074" y="914761"/>
                    <a:pt x="1352380" y="928509"/>
                    <a:pt x="1342243" y="938646"/>
                  </a:cubicBezTo>
                  <a:cubicBezTo>
                    <a:pt x="1332107" y="948782"/>
                    <a:pt x="1318359" y="954477"/>
                    <a:pt x="1304024" y="954477"/>
                  </a:cubicBezTo>
                  <a:lnTo>
                    <a:pt x="54051" y="954477"/>
                  </a:lnTo>
                  <a:cubicBezTo>
                    <a:pt x="39716" y="954477"/>
                    <a:pt x="25968" y="948782"/>
                    <a:pt x="15831" y="938646"/>
                  </a:cubicBezTo>
                  <a:cubicBezTo>
                    <a:pt x="5695" y="928509"/>
                    <a:pt x="0" y="914761"/>
                    <a:pt x="0" y="900426"/>
                  </a:cubicBezTo>
                  <a:lnTo>
                    <a:pt x="0" y="54051"/>
                  </a:lnTo>
                  <a:cubicBezTo>
                    <a:pt x="0" y="39716"/>
                    <a:pt x="5695" y="25968"/>
                    <a:pt x="15831" y="15831"/>
                  </a:cubicBezTo>
                  <a:cubicBezTo>
                    <a:pt x="25968" y="5695"/>
                    <a:pt x="39716" y="0"/>
                    <a:pt x="54051" y="0"/>
                  </a:cubicBezTo>
                  <a:close/>
                </a:path>
              </a:pathLst>
            </a:custGeom>
            <a:solidFill>
              <a:srgbClr val="CFE0E6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358074" cy="9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6422" y="1874083"/>
            <a:ext cx="5156438" cy="3624028"/>
            <a:chOff x="0" y="0"/>
            <a:chExt cx="1358074" cy="954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074" cy="954477"/>
            </a:xfrm>
            <a:custGeom>
              <a:avLst/>
              <a:gdLst/>
              <a:ahLst/>
              <a:cxnLst/>
              <a:rect r="r" b="b" t="t" l="l"/>
              <a:pathLst>
                <a:path h="954477" w="1358074">
                  <a:moveTo>
                    <a:pt x="54051" y="0"/>
                  </a:moveTo>
                  <a:lnTo>
                    <a:pt x="1304024" y="0"/>
                  </a:lnTo>
                  <a:cubicBezTo>
                    <a:pt x="1318359" y="0"/>
                    <a:pt x="1332107" y="5695"/>
                    <a:pt x="1342243" y="15831"/>
                  </a:cubicBezTo>
                  <a:cubicBezTo>
                    <a:pt x="1352380" y="25968"/>
                    <a:pt x="1358074" y="39716"/>
                    <a:pt x="1358074" y="54051"/>
                  </a:cubicBezTo>
                  <a:lnTo>
                    <a:pt x="1358074" y="900426"/>
                  </a:lnTo>
                  <a:cubicBezTo>
                    <a:pt x="1358074" y="914761"/>
                    <a:pt x="1352380" y="928509"/>
                    <a:pt x="1342243" y="938646"/>
                  </a:cubicBezTo>
                  <a:cubicBezTo>
                    <a:pt x="1332107" y="948782"/>
                    <a:pt x="1318359" y="954477"/>
                    <a:pt x="1304024" y="954477"/>
                  </a:cubicBezTo>
                  <a:lnTo>
                    <a:pt x="54051" y="954477"/>
                  </a:lnTo>
                  <a:cubicBezTo>
                    <a:pt x="39716" y="954477"/>
                    <a:pt x="25968" y="948782"/>
                    <a:pt x="15831" y="938646"/>
                  </a:cubicBezTo>
                  <a:cubicBezTo>
                    <a:pt x="5695" y="928509"/>
                    <a:pt x="0" y="914761"/>
                    <a:pt x="0" y="900426"/>
                  </a:cubicBezTo>
                  <a:lnTo>
                    <a:pt x="0" y="54051"/>
                  </a:lnTo>
                  <a:cubicBezTo>
                    <a:pt x="0" y="39716"/>
                    <a:pt x="5695" y="25968"/>
                    <a:pt x="15831" y="15831"/>
                  </a:cubicBezTo>
                  <a:cubicBezTo>
                    <a:pt x="25968" y="5695"/>
                    <a:pt x="39716" y="0"/>
                    <a:pt x="54051" y="0"/>
                  </a:cubicBezTo>
                  <a:close/>
                </a:path>
              </a:pathLst>
            </a:custGeom>
            <a:solidFill>
              <a:srgbClr val="CFE0E6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358074" cy="9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02862" y="5634272"/>
            <a:ext cx="5156438" cy="3624028"/>
            <a:chOff x="0" y="0"/>
            <a:chExt cx="1358074" cy="9544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8074" cy="954477"/>
            </a:xfrm>
            <a:custGeom>
              <a:avLst/>
              <a:gdLst/>
              <a:ahLst/>
              <a:cxnLst/>
              <a:rect r="r" b="b" t="t" l="l"/>
              <a:pathLst>
                <a:path h="954477" w="1358074">
                  <a:moveTo>
                    <a:pt x="54051" y="0"/>
                  </a:moveTo>
                  <a:lnTo>
                    <a:pt x="1304024" y="0"/>
                  </a:lnTo>
                  <a:cubicBezTo>
                    <a:pt x="1318359" y="0"/>
                    <a:pt x="1332107" y="5695"/>
                    <a:pt x="1342243" y="15831"/>
                  </a:cubicBezTo>
                  <a:cubicBezTo>
                    <a:pt x="1352380" y="25968"/>
                    <a:pt x="1358074" y="39716"/>
                    <a:pt x="1358074" y="54051"/>
                  </a:cubicBezTo>
                  <a:lnTo>
                    <a:pt x="1358074" y="900426"/>
                  </a:lnTo>
                  <a:cubicBezTo>
                    <a:pt x="1358074" y="914761"/>
                    <a:pt x="1352380" y="928509"/>
                    <a:pt x="1342243" y="938646"/>
                  </a:cubicBezTo>
                  <a:cubicBezTo>
                    <a:pt x="1332107" y="948782"/>
                    <a:pt x="1318359" y="954477"/>
                    <a:pt x="1304024" y="954477"/>
                  </a:cubicBezTo>
                  <a:lnTo>
                    <a:pt x="54051" y="954477"/>
                  </a:lnTo>
                  <a:cubicBezTo>
                    <a:pt x="39716" y="954477"/>
                    <a:pt x="25968" y="948782"/>
                    <a:pt x="15831" y="938646"/>
                  </a:cubicBezTo>
                  <a:cubicBezTo>
                    <a:pt x="5695" y="928509"/>
                    <a:pt x="0" y="914761"/>
                    <a:pt x="0" y="900426"/>
                  </a:cubicBezTo>
                  <a:lnTo>
                    <a:pt x="0" y="54051"/>
                  </a:lnTo>
                  <a:cubicBezTo>
                    <a:pt x="0" y="39716"/>
                    <a:pt x="5695" y="25968"/>
                    <a:pt x="15831" y="15831"/>
                  </a:cubicBezTo>
                  <a:cubicBezTo>
                    <a:pt x="25968" y="5695"/>
                    <a:pt x="39716" y="0"/>
                    <a:pt x="54051" y="0"/>
                  </a:cubicBezTo>
                  <a:close/>
                </a:path>
              </a:pathLst>
            </a:custGeom>
            <a:solidFill>
              <a:srgbClr val="CFE0E6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358074" cy="9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86422" y="5634272"/>
            <a:ext cx="5156438" cy="3624028"/>
            <a:chOff x="0" y="0"/>
            <a:chExt cx="1358074" cy="9544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8074" cy="954477"/>
            </a:xfrm>
            <a:custGeom>
              <a:avLst/>
              <a:gdLst/>
              <a:ahLst/>
              <a:cxnLst/>
              <a:rect r="r" b="b" t="t" l="l"/>
              <a:pathLst>
                <a:path h="954477" w="1358074">
                  <a:moveTo>
                    <a:pt x="54051" y="0"/>
                  </a:moveTo>
                  <a:lnTo>
                    <a:pt x="1304024" y="0"/>
                  </a:lnTo>
                  <a:cubicBezTo>
                    <a:pt x="1318359" y="0"/>
                    <a:pt x="1332107" y="5695"/>
                    <a:pt x="1342243" y="15831"/>
                  </a:cubicBezTo>
                  <a:cubicBezTo>
                    <a:pt x="1352380" y="25968"/>
                    <a:pt x="1358074" y="39716"/>
                    <a:pt x="1358074" y="54051"/>
                  </a:cubicBezTo>
                  <a:lnTo>
                    <a:pt x="1358074" y="900426"/>
                  </a:lnTo>
                  <a:cubicBezTo>
                    <a:pt x="1358074" y="914761"/>
                    <a:pt x="1352380" y="928509"/>
                    <a:pt x="1342243" y="938646"/>
                  </a:cubicBezTo>
                  <a:cubicBezTo>
                    <a:pt x="1332107" y="948782"/>
                    <a:pt x="1318359" y="954477"/>
                    <a:pt x="1304024" y="954477"/>
                  </a:cubicBezTo>
                  <a:lnTo>
                    <a:pt x="54051" y="954477"/>
                  </a:lnTo>
                  <a:cubicBezTo>
                    <a:pt x="39716" y="954477"/>
                    <a:pt x="25968" y="948782"/>
                    <a:pt x="15831" y="938646"/>
                  </a:cubicBezTo>
                  <a:cubicBezTo>
                    <a:pt x="5695" y="928509"/>
                    <a:pt x="0" y="914761"/>
                    <a:pt x="0" y="900426"/>
                  </a:cubicBezTo>
                  <a:lnTo>
                    <a:pt x="0" y="54051"/>
                  </a:lnTo>
                  <a:cubicBezTo>
                    <a:pt x="0" y="39716"/>
                    <a:pt x="5695" y="25968"/>
                    <a:pt x="15831" y="15831"/>
                  </a:cubicBezTo>
                  <a:cubicBezTo>
                    <a:pt x="25968" y="5695"/>
                    <a:pt x="39716" y="0"/>
                    <a:pt x="54051" y="0"/>
                  </a:cubicBezTo>
                  <a:close/>
                </a:path>
              </a:pathLst>
            </a:custGeom>
            <a:solidFill>
              <a:srgbClr val="CFE0E6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358074" cy="9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168282"/>
            <a:ext cx="5595797" cy="5090018"/>
            <a:chOff x="0" y="0"/>
            <a:chExt cx="1421662" cy="1293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1662" cy="1293164"/>
            </a:xfrm>
            <a:custGeom>
              <a:avLst/>
              <a:gdLst/>
              <a:ahLst/>
              <a:cxnLst/>
              <a:rect r="r" b="b" t="t" l="l"/>
              <a:pathLst>
                <a:path h="1293164" w="1421662">
                  <a:moveTo>
                    <a:pt x="52574" y="0"/>
                  </a:moveTo>
                  <a:lnTo>
                    <a:pt x="1369088" y="0"/>
                  </a:lnTo>
                  <a:cubicBezTo>
                    <a:pt x="1398124" y="0"/>
                    <a:pt x="1421662" y="23538"/>
                    <a:pt x="1421662" y="52574"/>
                  </a:cubicBezTo>
                  <a:lnTo>
                    <a:pt x="1421662" y="1240590"/>
                  </a:lnTo>
                  <a:cubicBezTo>
                    <a:pt x="1421662" y="1254534"/>
                    <a:pt x="1416123" y="1267906"/>
                    <a:pt x="1406263" y="1277766"/>
                  </a:cubicBezTo>
                  <a:cubicBezTo>
                    <a:pt x="1396404" y="1287625"/>
                    <a:pt x="1383031" y="1293164"/>
                    <a:pt x="1369088" y="1293164"/>
                  </a:cubicBezTo>
                  <a:lnTo>
                    <a:pt x="52574" y="1293164"/>
                  </a:lnTo>
                  <a:cubicBezTo>
                    <a:pt x="38630" y="1293164"/>
                    <a:pt x="25258" y="1287625"/>
                    <a:pt x="15399" y="1277766"/>
                  </a:cubicBezTo>
                  <a:cubicBezTo>
                    <a:pt x="5539" y="1267906"/>
                    <a:pt x="0" y="1254534"/>
                    <a:pt x="0" y="1240590"/>
                  </a:cubicBezTo>
                  <a:lnTo>
                    <a:pt x="0" y="52574"/>
                  </a:lnTo>
                  <a:cubicBezTo>
                    <a:pt x="0" y="23538"/>
                    <a:pt x="23538" y="0"/>
                    <a:pt x="5257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968" r="0" b="-4968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802247" y="2268179"/>
            <a:ext cx="860219" cy="858456"/>
          </a:xfrm>
          <a:custGeom>
            <a:avLst/>
            <a:gdLst/>
            <a:ahLst/>
            <a:cxnLst/>
            <a:rect r="r" b="b" t="t" l="l"/>
            <a:pathLst>
              <a:path h="858456" w="860219">
                <a:moveTo>
                  <a:pt x="0" y="0"/>
                </a:moveTo>
                <a:lnTo>
                  <a:pt x="860219" y="0"/>
                </a:lnTo>
                <a:lnTo>
                  <a:pt x="860219" y="858456"/>
                </a:lnTo>
                <a:lnTo>
                  <a:pt x="0" y="85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066250" y="3394407"/>
            <a:ext cx="4655016" cy="2103704"/>
            <a:chOff x="0" y="0"/>
            <a:chExt cx="1226012" cy="554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6012" cy="554062"/>
            </a:xfrm>
            <a:custGeom>
              <a:avLst/>
              <a:gdLst/>
              <a:ahLst/>
              <a:cxnLst/>
              <a:rect r="r" b="b" t="t" l="l"/>
              <a:pathLst>
                <a:path h="554062" w="1226012">
                  <a:moveTo>
                    <a:pt x="84820" y="0"/>
                  </a:moveTo>
                  <a:lnTo>
                    <a:pt x="1141193" y="0"/>
                  </a:lnTo>
                  <a:cubicBezTo>
                    <a:pt x="1188037" y="0"/>
                    <a:pt x="1226012" y="37975"/>
                    <a:pt x="1226012" y="84820"/>
                  </a:cubicBezTo>
                  <a:lnTo>
                    <a:pt x="1226012" y="469242"/>
                  </a:lnTo>
                  <a:cubicBezTo>
                    <a:pt x="1226012" y="491738"/>
                    <a:pt x="1217076" y="513312"/>
                    <a:pt x="1201169" y="529219"/>
                  </a:cubicBezTo>
                  <a:cubicBezTo>
                    <a:pt x="1185263" y="545126"/>
                    <a:pt x="1163688" y="554062"/>
                    <a:pt x="1141193" y="554062"/>
                  </a:cubicBezTo>
                  <a:lnTo>
                    <a:pt x="84820" y="554062"/>
                  </a:lnTo>
                  <a:cubicBezTo>
                    <a:pt x="37975" y="554062"/>
                    <a:pt x="0" y="516087"/>
                    <a:pt x="0" y="469242"/>
                  </a:cubicBezTo>
                  <a:lnTo>
                    <a:pt x="0" y="84820"/>
                  </a:lnTo>
                  <a:cubicBezTo>
                    <a:pt x="0" y="37975"/>
                    <a:pt x="37975" y="0"/>
                    <a:pt x="84820" y="0"/>
                  </a:cubicBezTo>
                  <a:close/>
                </a:path>
              </a:pathLst>
            </a:custGeom>
            <a:solidFill>
              <a:srgbClr val="00172C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226012" cy="544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81010" y="3394407"/>
            <a:ext cx="4668169" cy="2103704"/>
            <a:chOff x="0" y="0"/>
            <a:chExt cx="1229477" cy="5540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29477" cy="554062"/>
            </a:xfrm>
            <a:custGeom>
              <a:avLst/>
              <a:gdLst/>
              <a:ahLst/>
              <a:cxnLst/>
              <a:rect r="r" b="b" t="t" l="l"/>
              <a:pathLst>
                <a:path h="554062" w="1229477">
                  <a:moveTo>
                    <a:pt x="84581" y="0"/>
                  </a:moveTo>
                  <a:lnTo>
                    <a:pt x="1144896" y="0"/>
                  </a:lnTo>
                  <a:cubicBezTo>
                    <a:pt x="1191608" y="0"/>
                    <a:pt x="1229477" y="37868"/>
                    <a:pt x="1229477" y="84581"/>
                  </a:cubicBezTo>
                  <a:lnTo>
                    <a:pt x="1229477" y="469481"/>
                  </a:lnTo>
                  <a:cubicBezTo>
                    <a:pt x="1229477" y="491913"/>
                    <a:pt x="1220565" y="513427"/>
                    <a:pt x="1204703" y="529289"/>
                  </a:cubicBezTo>
                  <a:cubicBezTo>
                    <a:pt x="1188841" y="545151"/>
                    <a:pt x="1167328" y="554062"/>
                    <a:pt x="1144896" y="554062"/>
                  </a:cubicBezTo>
                  <a:lnTo>
                    <a:pt x="84581" y="554062"/>
                  </a:lnTo>
                  <a:cubicBezTo>
                    <a:pt x="37868" y="554062"/>
                    <a:pt x="0" y="516194"/>
                    <a:pt x="0" y="469481"/>
                  </a:cubicBezTo>
                  <a:lnTo>
                    <a:pt x="0" y="84581"/>
                  </a:lnTo>
                  <a:cubicBezTo>
                    <a:pt x="0" y="37868"/>
                    <a:pt x="37868" y="0"/>
                    <a:pt x="84581" y="0"/>
                  </a:cubicBezTo>
                  <a:close/>
                </a:path>
              </a:pathLst>
            </a:custGeom>
            <a:solidFill>
              <a:srgbClr val="00172C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229477" cy="544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066250" y="7119137"/>
            <a:ext cx="4596216" cy="2139163"/>
            <a:chOff x="0" y="0"/>
            <a:chExt cx="1210526" cy="5634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0526" cy="563401"/>
            </a:xfrm>
            <a:custGeom>
              <a:avLst/>
              <a:gdLst/>
              <a:ahLst/>
              <a:cxnLst/>
              <a:rect r="r" b="b" t="t" l="l"/>
              <a:pathLst>
                <a:path h="563401" w="1210526">
                  <a:moveTo>
                    <a:pt x="85905" y="0"/>
                  </a:moveTo>
                  <a:lnTo>
                    <a:pt x="1124621" y="0"/>
                  </a:lnTo>
                  <a:cubicBezTo>
                    <a:pt x="1172065" y="0"/>
                    <a:pt x="1210526" y="38461"/>
                    <a:pt x="1210526" y="85905"/>
                  </a:cubicBezTo>
                  <a:lnTo>
                    <a:pt x="1210526" y="477496"/>
                  </a:lnTo>
                  <a:cubicBezTo>
                    <a:pt x="1210526" y="524940"/>
                    <a:pt x="1172065" y="563401"/>
                    <a:pt x="1124621" y="563401"/>
                  </a:cubicBezTo>
                  <a:lnTo>
                    <a:pt x="85905" y="563401"/>
                  </a:lnTo>
                  <a:cubicBezTo>
                    <a:pt x="38461" y="563401"/>
                    <a:pt x="0" y="524940"/>
                    <a:pt x="0" y="477496"/>
                  </a:cubicBezTo>
                  <a:lnTo>
                    <a:pt x="0" y="85905"/>
                  </a:lnTo>
                  <a:cubicBezTo>
                    <a:pt x="0" y="38461"/>
                    <a:pt x="38461" y="0"/>
                    <a:pt x="85905" y="0"/>
                  </a:cubicBezTo>
                  <a:close/>
                </a:path>
              </a:pathLst>
            </a:custGeom>
            <a:solidFill>
              <a:srgbClr val="00172C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210526" cy="55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81010" y="7119137"/>
            <a:ext cx="4668169" cy="2139163"/>
            <a:chOff x="0" y="0"/>
            <a:chExt cx="1229477" cy="5634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9477" cy="563401"/>
            </a:xfrm>
            <a:custGeom>
              <a:avLst/>
              <a:gdLst/>
              <a:ahLst/>
              <a:cxnLst/>
              <a:rect r="r" b="b" t="t" l="l"/>
              <a:pathLst>
                <a:path h="563401" w="1229477">
                  <a:moveTo>
                    <a:pt x="84581" y="0"/>
                  </a:moveTo>
                  <a:lnTo>
                    <a:pt x="1144896" y="0"/>
                  </a:lnTo>
                  <a:cubicBezTo>
                    <a:pt x="1191608" y="0"/>
                    <a:pt x="1229477" y="37868"/>
                    <a:pt x="1229477" y="84581"/>
                  </a:cubicBezTo>
                  <a:lnTo>
                    <a:pt x="1229477" y="478820"/>
                  </a:lnTo>
                  <a:cubicBezTo>
                    <a:pt x="1229477" y="525533"/>
                    <a:pt x="1191608" y="563401"/>
                    <a:pt x="1144896" y="563401"/>
                  </a:cubicBezTo>
                  <a:lnTo>
                    <a:pt x="84581" y="563401"/>
                  </a:lnTo>
                  <a:cubicBezTo>
                    <a:pt x="37868" y="563401"/>
                    <a:pt x="0" y="525533"/>
                    <a:pt x="0" y="478820"/>
                  </a:cubicBezTo>
                  <a:lnTo>
                    <a:pt x="0" y="84581"/>
                  </a:lnTo>
                  <a:cubicBezTo>
                    <a:pt x="0" y="37868"/>
                    <a:pt x="37868" y="0"/>
                    <a:pt x="84581" y="0"/>
                  </a:cubicBezTo>
                  <a:close/>
                </a:path>
              </a:pathLst>
            </a:custGeom>
            <a:solidFill>
              <a:srgbClr val="00172C"/>
            </a:solidFill>
            <a:ln w="38100" cap="rnd">
              <a:solidFill>
                <a:srgbClr val="00172C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229477" cy="55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5943288" y="2420317"/>
            <a:ext cx="1105891" cy="690401"/>
          </a:xfrm>
          <a:custGeom>
            <a:avLst/>
            <a:gdLst/>
            <a:ahLst/>
            <a:cxnLst/>
            <a:rect r="r" b="b" t="t" l="l"/>
            <a:pathLst>
              <a:path h="690401" w="1105891">
                <a:moveTo>
                  <a:pt x="0" y="0"/>
                </a:moveTo>
                <a:lnTo>
                  <a:pt x="1105891" y="0"/>
                </a:lnTo>
                <a:lnTo>
                  <a:pt x="1105891" y="690401"/>
                </a:lnTo>
                <a:lnTo>
                  <a:pt x="0" y="6904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660048" y="6073765"/>
            <a:ext cx="864382" cy="639526"/>
          </a:xfrm>
          <a:custGeom>
            <a:avLst/>
            <a:gdLst/>
            <a:ahLst/>
            <a:cxnLst/>
            <a:rect r="r" b="b" t="t" l="l"/>
            <a:pathLst>
              <a:path h="639526" w="864382">
                <a:moveTo>
                  <a:pt x="0" y="0"/>
                </a:moveTo>
                <a:lnTo>
                  <a:pt x="864383" y="0"/>
                </a:lnTo>
                <a:lnTo>
                  <a:pt x="864383" y="639526"/>
                </a:lnTo>
                <a:lnTo>
                  <a:pt x="0" y="639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293725" y="5900274"/>
            <a:ext cx="755454" cy="1218863"/>
          </a:xfrm>
          <a:custGeom>
            <a:avLst/>
            <a:gdLst/>
            <a:ahLst/>
            <a:cxnLst/>
            <a:rect r="r" b="b" t="t" l="l"/>
            <a:pathLst>
              <a:path h="1218863" w="755454">
                <a:moveTo>
                  <a:pt x="0" y="0"/>
                </a:moveTo>
                <a:lnTo>
                  <a:pt x="755454" y="0"/>
                </a:lnTo>
                <a:lnTo>
                  <a:pt x="755454" y="1218863"/>
                </a:lnTo>
                <a:lnTo>
                  <a:pt x="0" y="12188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094089" y="928416"/>
            <a:ext cx="1755880" cy="1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8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105302" y="1958736"/>
            <a:ext cx="4328570" cy="184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6"/>
              </a:lnSpc>
            </a:pPr>
            <a:r>
              <a:rPr lang="en-US" b="true" sz="6395" spc="-23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CONCEPT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93347" y="2507376"/>
            <a:ext cx="3123151" cy="25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7"/>
              </a:lnSpc>
            </a:pPr>
            <a:r>
              <a:rPr lang="en-US" b="true" sz="152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ONBOARDING DIAGNOSTIC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48704" y="3567476"/>
            <a:ext cx="4068812" cy="16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6"/>
              </a:lnSpc>
            </a:pPr>
            <a:r>
              <a:rPr lang="en-US" sz="1590" spc="25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Captures current role, target role, experince, skill confidence, time availablibility and urgency to create personalised sprint plans with weekly milestones and ETA to “Interview-Ready” status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08398" y="2421524"/>
            <a:ext cx="2953719" cy="25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7"/>
              </a:lnSpc>
            </a:pPr>
            <a:r>
              <a:rPr lang="en-US" b="true" sz="152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PEER PODS + LEADERBOARD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26343" y="3647997"/>
            <a:ext cx="4177502" cy="137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6"/>
              </a:lnSpc>
            </a:pPr>
            <a:r>
              <a:rPr lang="en-US" sz="1590" spc="25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Small accountabailbity groups of 5-8 learners with  weekly goals, buddy nudges and consistency leaderboards. Create social pressure and community support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93347" y="6166797"/>
            <a:ext cx="2845028" cy="25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7"/>
              </a:lnSpc>
            </a:pPr>
            <a:r>
              <a:rPr lang="en-US" b="true" sz="152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CAREER- LINKED LEVELS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46843" y="7408186"/>
            <a:ext cx="4293829" cy="16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590" spc="25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Progression system from Explorer → Builder → Practitioner → Interview-Ready → Certified.</a:t>
            </a:r>
          </a:p>
          <a:p>
            <a:pPr algn="l" marL="0" indent="0" lvl="0">
              <a:lnSpc>
                <a:spcPts val="2226"/>
              </a:lnSpc>
            </a:pPr>
            <a:r>
              <a:rPr lang="en-US" sz="1590" spc="25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Makes progress visible and emotionally rewarding through streaks and milestone badges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08398" y="6080945"/>
            <a:ext cx="2953719" cy="25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7"/>
              </a:lnSpc>
            </a:pPr>
            <a:r>
              <a:rPr lang="en-US" b="true" sz="152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CAREER PROOF ENGINE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71510" y="7408186"/>
            <a:ext cx="4099942" cy="110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2"/>
              </a:lnSpc>
            </a:pPr>
            <a:r>
              <a:rPr lang="en-US" sz="1587" spc="25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Converts learning progress into verifiable skill badges, mini portfolios, interview rreadiness scores and employer-shareable certification pages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0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041" y="806522"/>
            <a:ext cx="5747532" cy="814574"/>
            <a:chOff x="0" y="0"/>
            <a:chExt cx="2163909" cy="3066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3909" cy="306682"/>
            </a:xfrm>
            <a:custGeom>
              <a:avLst/>
              <a:gdLst/>
              <a:ahLst/>
              <a:cxnLst/>
              <a:rect r="r" b="b" t="t" l="l"/>
              <a:pathLst>
                <a:path h="306682" w="2163909">
                  <a:moveTo>
                    <a:pt x="68697" y="0"/>
                  </a:moveTo>
                  <a:lnTo>
                    <a:pt x="2095212" y="0"/>
                  </a:lnTo>
                  <a:cubicBezTo>
                    <a:pt x="2133152" y="0"/>
                    <a:pt x="2163909" y="30757"/>
                    <a:pt x="2163909" y="68697"/>
                  </a:cubicBezTo>
                  <a:lnTo>
                    <a:pt x="2163909" y="237985"/>
                  </a:lnTo>
                  <a:cubicBezTo>
                    <a:pt x="2163909" y="256205"/>
                    <a:pt x="2156671" y="273678"/>
                    <a:pt x="2143788" y="286561"/>
                  </a:cubicBezTo>
                  <a:cubicBezTo>
                    <a:pt x="2130905" y="299444"/>
                    <a:pt x="2113432" y="306682"/>
                    <a:pt x="2095212" y="306682"/>
                  </a:cubicBezTo>
                  <a:lnTo>
                    <a:pt x="68697" y="306682"/>
                  </a:lnTo>
                  <a:cubicBezTo>
                    <a:pt x="50477" y="306682"/>
                    <a:pt x="33004" y="299444"/>
                    <a:pt x="20121" y="286561"/>
                  </a:cubicBezTo>
                  <a:cubicBezTo>
                    <a:pt x="7238" y="273678"/>
                    <a:pt x="0" y="256205"/>
                    <a:pt x="0" y="237985"/>
                  </a:cubicBezTo>
                  <a:lnTo>
                    <a:pt x="0" y="68697"/>
                  </a:lnTo>
                  <a:cubicBezTo>
                    <a:pt x="0" y="50477"/>
                    <a:pt x="7238" y="33004"/>
                    <a:pt x="20121" y="20121"/>
                  </a:cubicBezTo>
                  <a:cubicBezTo>
                    <a:pt x="33004" y="7238"/>
                    <a:pt x="50477" y="0"/>
                    <a:pt x="686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63909" cy="344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1500" y="1812557"/>
            <a:ext cx="17718925" cy="2493835"/>
            <a:chOff x="0" y="0"/>
            <a:chExt cx="4592582" cy="6463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92582" cy="646379"/>
            </a:xfrm>
            <a:custGeom>
              <a:avLst/>
              <a:gdLst/>
              <a:ahLst/>
              <a:cxnLst/>
              <a:rect r="r" b="b" t="t" l="l"/>
              <a:pathLst>
                <a:path h="646379" w="4592582">
                  <a:moveTo>
                    <a:pt x="22283" y="0"/>
                  </a:moveTo>
                  <a:lnTo>
                    <a:pt x="4570299" y="0"/>
                  </a:lnTo>
                  <a:cubicBezTo>
                    <a:pt x="4576209" y="0"/>
                    <a:pt x="4581877" y="2348"/>
                    <a:pt x="4586055" y="6527"/>
                  </a:cubicBezTo>
                  <a:cubicBezTo>
                    <a:pt x="4590235" y="10706"/>
                    <a:pt x="4592582" y="16373"/>
                    <a:pt x="4592582" y="22283"/>
                  </a:cubicBezTo>
                  <a:lnTo>
                    <a:pt x="4592582" y="624096"/>
                  </a:lnTo>
                  <a:cubicBezTo>
                    <a:pt x="4592582" y="630006"/>
                    <a:pt x="4590235" y="635674"/>
                    <a:pt x="4586055" y="639853"/>
                  </a:cubicBezTo>
                  <a:cubicBezTo>
                    <a:pt x="4581877" y="644031"/>
                    <a:pt x="4576209" y="646379"/>
                    <a:pt x="4570299" y="646379"/>
                  </a:cubicBezTo>
                  <a:lnTo>
                    <a:pt x="22283" y="646379"/>
                  </a:lnTo>
                  <a:cubicBezTo>
                    <a:pt x="16373" y="646379"/>
                    <a:pt x="10706" y="644031"/>
                    <a:pt x="6527" y="639853"/>
                  </a:cubicBezTo>
                  <a:cubicBezTo>
                    <a:pt x="2348" y="635674"/>
                    <a:pt x="0" y="630006"/>
                    <a:pt x="0" y="624096"/>
                  </a:cubicBezTo>
                  <a:lnTo>
                    <a:pt x="0" y="22283"/>
                  </a:lnTo>
                  <a:cubicBezTo>
                    <a:pt x="0" y="16373"/>
                    <a:pt x="2348" y="10706"/>
                    <a:pt x="6527" y="6527"/>
                  </a:cubicBezTo>
                  <a:cubicBezTo>
                    <a:pt x="10706" y="2348"/>
                    <a:pt x="16373" y="0"/>
                    <a:pt x="22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4592582" cy="636854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6423" y="2200836"/>
            <a:ext cx="3205160" cy="1717279"/>
            <a:chOff x="0" y="0"/>
            <a:chExt cx="782216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2216" cy="419100"/>
            </a:xfrm>
            <a:custGeom>
              <a:avLst/>
              <a:gdLst/>
              <a:ahLst/>
              <a:cxnLst/>
              <a:rect r="r" b="b" t="t" l="l"/>
              <a:pathLst>
                <a:path h="419100" w="782216">
                  <a:moveTo>
                    <a:pt x="47177" y="0"/>
                  </a:moveTo>
                  <a:lnTo>
                    <a:pt x="735039" y="0"/>
                  </a:lnTo>
                  <a:cubicBezTo>
                    <a:pt x="761094" y="0"/>
                    <a:pt x="782216" y="21122"/>
                    <a:pt x="782216" y="47177"/>
                  </a:cubicBezTo>
                  <a:lnTo>
                    <a:pt x="782216" y="371923"/>
                  </a:lnTo>
                  <a:cubicBezTo>
                    <a:pt x="782216" y="397978"/>
                    <a:pt x="761094" y="419100"/>
                    <a:pt x="735039" y="419100"/>
                  </a:cubicBezTo>
                  <a:lnTo>
                    <a:pt x="47177" y="419100"/>
                  </a:lnTo>
                  <a:cubicBezTo>
                    <a:pt x="21122" y="419100"/>
                    <a:pt x="0" y="397978"/>
                    <a:pt x="0" y="371923"/>
                  </a:cubicBezTo>
                  <a:lnTo>
                    <a:pt x="0" y="47177"/>
                  </a:lnTo>
                  <a:cubicBezTo>
                    <a:pt x="0" y="21122"/>
                    <a:pt x="21122" y="0"/>
                    <a:pt x="47177" y="0"/>
                  </a:cubicBezTo>
                  <a:close/>
                </a:path>
              </a:pathLst>
            </a:custGeom>
            <a:solidFill>
              <a:srgbClr val="CFE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78221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b="true" sz="2299" spc="36">
                  <a:solidFill>
                    <a:srgbClr val="0063C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Daily Loop</a:t>
              </a:r>
            </a:p>
            <a:p>
              <a:pPr algn="ctr" marL="0" indent="0" lvl="0">
                <a:lnSpc>
                  <a:spcPts val="2598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sz="1700" spc="27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15-20 min tasks, streaks, progress to Interview-Ready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4381" y="2149672"/>
            <a:ext cx="3172167" cy="1714919"/>
            <a:chOff x="0" y="0"/>
            <a:chExt cx="775229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5229" cy="419100"/>
            </a:xfrm>
            <a:custGeom>
              <a:avLst/>
              <a:gdLst/>
              <a:ahLst/>
              <a:cxnLst/>
              <a:rect r="r" b="b" t="t" l="l"/>
              <a:pathLst>
                <a:path h="419100" w="775229">
                  <a:moveTo>
                    <a:pt x="47668" y="0"/>
                  </a:moveTo>
                  <a:lnTo>
                    <a:pt x="727562" y="0"/>
                  </a:lnTo>
                  <a:cubicBezTo>
                    <a:pt x="740204" y="0"/>
                    <a:pt x="752328" y="5022"/>
                    <a:pt x="761268" y="13961"/>
                  </a:cubicBezTo>
                  <a:cubicBezTo>
                    <a:pt x="770207" y="22901"/>
                    <a:pt x="775229" y="35025"/>
                    <a:pt x="775229" y="47668"/>
                  </a:cubicBezTo>
                  <a:lnTo>
                    <a:pt x="775229" y="371432"/>
                  </a:lnTo>
                  <a:cubicBezTo>
                    <a:pt x="775229" y="397759"/>
                    <a:pt x="753888" y="419100"/>
                    <a:pt x="727562" y="419100"/>
                  </a:cubicBezTo>
                  <a:lnTo>
                    <a:pt x="47668" y="419100"/>
                  </a:lnTo>
                  <a:cubicBezTo>
                    <a:pt x="21341" y="419100"/>
                    <a:pt x="0" y="397759"/>
                    <a:pt x="0" y="371432"/>
                  </a:cubicBezTo>
                  <a:lnTo>
                    <a:pt x="0" y="47668"/>
                  </a:lnTo>
                  <a:cubicBezTo>
                    <a:pt x="0" y="21341"/>
                    <a:pt x="21341" y="0"/>
                    <a:pt x="476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775229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Disovery</a:t>
              </a:r>
            </a:p>
            <a:p>
              <a:pPr algn="ctr">
                <a:lnSpc>
                  <a:spcPts val="2598"/>
                </a:lnSpc>
              </a:pPr>
            </a:p>
            <a:p>
              <a:pPr algn="l">
                <a:lnSpc>
                  <a:spcPts val="1921"/>
                </a:lnSpc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HR, placecoms, performance marketing </a:t>
              </a:r>
            </a:p>
            <a:p>
              <a:pPr algn="l">
                <a:lnSpc>
                  <a:spcPts val="1921"/>
                </a:lnSpc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85% enroll for career growth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10406" y="2149672"/>
            <a:ext cx="3172167" cy="1714919"/>
            <a:chOff x="0" y="0"/>
            <a:chExt cx="775229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5229" cy="419100"/>
            </a:xfrm>
            <a:custGeom>
              <a:avLst/>
              <a:gdLst/>
              <a:ahLst/>
              <a:cxnLst/>
              <a:rect r="r" b="b" t="t" l="l"/>
              <a:pathLst>
                <a:path h="419100" w="775229">
                  <a:moveTo>
                    <a:pt x="47668" y="0"/>
                  </a:moveTo>
                  <a:lnTo>
                    <a:pt x="727562" y="0"/>
                  </a:lnTo>
                  <a:cubicBezTo>
                    <a:pt x="740204" y="0"/>
                    <a:pt x="752328" y="5022"/>
                    <a:pt x="761268" y="13961"/>
                  </a:cubicBezTo>
                  <a:cubicBezTo>
                    <a:pt x="770207" y="22901"/>
                    <a:pt x="775229" y="35025"/>
                    <a:pt x="775229" y="47668"/>
                  </a:cubicBezTo>
                  <a:lnTo>
                    <a:pt x="775229" y="371432"/>
                  </a:lnTo>
                  <a:cubicBezTo>
                    <a:pt x="775229" y="397759"/>
                    <a:pt x="753888" y="419100"/>
                    <a:pt x="727562" y="419100"/>
                  </a:cubicBezTo>
                  <a:lnTo>
                    <a:pt x="47668" y="419100"/>
                  </a:lnTo>
                  <a:cubicBezTo>
                    <a:pt x="21341" y="419100"/>
                    <a:pt x="0" y="397759"/>
                    <a:pt x="0" y="371432"/>
                  </a:cubicBezTo>
                  <a:lnTo>
                    <a:pt x="0" y="47668"/>
                  </a:lnTo>
                  <a:cubicBezTo>
                    <a:pt x="0" y="21341"/>
                    <a:pt x="21341" y="0"/>
                    <a:pt x="476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775229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Onboarding</a:t>
              </a:r>
            </a:p>
            <a:p>
              <a:pPr algn="l">
                <a:lnSpc>
                  <a:spcPts val="2260"/>
                </a:lnSpc>
              </a:pPr>
            </a:p>
            <a:p>
              <a:pPr algn="l" marL="367034" indent="-183517" lvl="1">
                <a:lnSpc>
                  <a:spcPts val="1921"/>
                </a:lnSpc>
                <a:buFont typeface="Arial"/>
                <a:buChar char="•"/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Role, experience, time availability</a:t>
              </a:r>
            </a:p>
            <a:p>
              <a:pPr algn="l" marL="367034" indent="-183517" lvl="1">
                <a:lnSpc>
                  <a:spcPts val="1921"/>
                </a:lnSpc>
                <a:buFont typeface="Arial"/>
                <a:buChar char="•"/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higher enrollment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02027" y="1050049"/>
            <a:ext cx="5123398" cy="35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7"/>
              </a:lnSpc>
            </a:pPr>
            <a:r>
              <a:rPr lang="en-US" b="true" sz="2555" spc="4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Complete User Journey Flow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1765" y="5143500"/>
            <a:ext cx="4939068" cy="4234338"/>
            <a:chOff x="0" y="0"/>
            <a:chExt cx="1300824" cy="11152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0824" cy="1115217"/>
            </a:xfrm>
            <a:custGeom>
              <a:avLst/>
              <a:gdLst/>
              <a:ahLst/>
              <a:cxnLst/>
              <a:rect r="r" b="b" t="t" l="l"/>
              <a:pathLst>
                <a:path h="1115217" w="1300824">
                  <a:moveTo>
                    <a:pt x="79942" y="0"/>
                  </a:moveTo>
                  <a:lnTo>
                    <a:pt x="1220883" y="0"/>
                  </a:lnTo>
                  <a:cubicBezTo>
                    <a:pt x="1265033" y="0"/>
                    <a:pt x="1300824" y="35791"/>
                    <a:pt x="1300824" y="79942"/>
                  </a:cubicBezTo>
                  <a:lnTo>
                    <a:pt x="1300824" y="1035275"/>
                  </a:lnTo>
                  <a:cubicBezTo>
                    <a:pt x="1300824" y="1079425"/>
                    <a:pt x="1265033" y="1115217"/>
                    <a:pt x="1220883" y="1115217"/>
                  </a:cubicBezTo>
                  <a:lnTo>
                    <a:pt x="79942" y="1115217"/>
                  </a:lnTo>
                  <a:cubicBezTo>
                    <a:pt x="35791" y="1115217"/>
                    <a:pt x="0" y="1079425"/>
                    <a:pt x="0" y="1035275"/>
                  </a:cubicBezTo>
                  <a:lnTo>
                    <a:pt x="0" y="79942"/>
                  </a:lnTo>
                  <a:cubicBezTo>
                    <a:pt x="0" y="35791"/>
                    <a:pt x="35791" y="0"/>
                    <a:pt x="799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300824" cy="1105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84968" y="5143500"/>
            <a:ext cx="4676588" cy="4114800"/>
            <a:chOff x="0" y="0"/>
            <a:chExt cx="1231694" cy="10837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1694" cy="1083733"/>
            </a:xfrm>
            <a:custGeom>
              <a:avLst/>
              <a:gdLst/>
              <a:ahLst/>
              <a:cxnLst/>
              <a:rect r="r" b="b" t="t" l="l"/>
              <a:pathLst>
                <a:path h="1083733" w="1231694">
                  <a:moveTo>
                    <a:pt x="84429" y="0"/>
                  </a:moveTo>
                  <a:lnTo>
                    <a:pt x="1147265" y="0"/>
                  </a:lnTo>
                  <a:cubicBezTo>
                    <a:pt x="1169657" y="0"/>
                    <a:pt x="1191132" y="8895"/>
                    <a:pt x="1206966" y="24729"/>
                  </a:cubicBezTo>
                  <a:cubicBezTo>
                    <a:pt x="1222799" y="40562"/>
                    <a:pt x="1231694" y="62037"/>
                    <a:pt x="1231694" y="84429"/>
                  </a:cubicBezTo>
                  <a:lnTo>
                    <a:pt x="1231694" y="999305"/>
                  </a:lnTo>
                  <a:cubicBezTo>
                    <a:pt x="1231694" y="1021697"/>
                    <a:pt x="1222799" y="1043171"/>
                    <a:pt x="1206966" y="1059005"/>
                  </a:cubicBezTo>
                  <a:cubicBezTo>
                    <a:pt x="1191132" y="1074838"/>
                    <a:pt x="1169657" y="1083733"/>
                    <a:pt x="1147265" y="1083733"/>
                  </a:cubicBezTo>
                  <a:lnTo>
                    <a:pt x="84429" y="1083733"/>
                  </a:lnTo>
                  <a:cubicBezTo>
                    <a:pt x="37800" y="1083733"/>
                    <a:pt x="0" y="1045933"/>
                    <a:pt x="0" y="999305"/>
                  </a:cubicBezTo>
                  <a:lnTo>
                    <a:pt x="0" y="84429"/>
                  </a:lnTo>
                  <a:cubicBezTo>
                    <a:pt x="0" y="62037"/>
                    <a:pt x="8895" y="40562"/>
                    <a:pt x="24729" y="24729"/>
                  </a:cubicBezTo>
                  <a:cubicBezTo>
                    <a:pt x="40562" y="8895"/>
                    <a:pt x="62037" y="0"/>
                    <a:pt x="844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231694" cy="1074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2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35433" y="2200836"/>
            <a:ext cx="3205160" cy="1717279"/>
            <a:chOff x="0" y="0"/>
            <a:chExt cx="782216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2216" cy="419100"/>
            </a:xfrm>
            <a:custGeom>
              <a:avLst/>
              <a:gdLst/>
              <a:ahLst/>
              <a:cxnLst/>
              <a:rect r="r" b="b" t="t" l="l"/>
              <a:pathLst>
                <a:path h="419100" w="782216">
                  <a:moveTo>
                    <a:pt x="47177" y="0"/>
                  </a:moveTo>
                  <a:lnTo>
                    <a:pt x="735039" y="0"/>
                  </a:lnTo>
                  <a:cubicBezTo>
                    <a:pt x="761094" y="0"/>
                    <a:pt x="782216" y="21122"/>
                    <a:pt x="782216" y="47177"/>
                  </a:cubicBezTo>
                  <a:lnTo>
                    <a:pt x="782216" y="371923"/>
                  </a:lnTo>
                  <a:cubicBezTo>
                    <a:pt x="782216" y="397978"/>
                    <a:pt x="761094" y="419100"/>
                    <a:pt x="735039" y="419100"/>
                  </a:cubicBezTo>
                  <a:lnTo>
                    <a:pt x="47177" y="419100"/>
                  </a:lnTo>
                  <a:cubicBezTo>
                    <a:pt x="21122" y="419100"/>
                    <a:pt x="0" y="397978"/>
                    <a:pt x="0" y="371923"/>
                  </a:cubicBezTo>
                  <a:lnTo>
                    <a:pt x="0" y="47177"/>
                  </a:lnTo>
                  <a:cubicBezTo>
                    <a:pt x="0" y="21122"/>
                    <a:pt x="21122" y="0"/>
                    <a:pt x="47177" y="0"/>
                  </a:cubicBezTo>
                  <a:close/>
                </a:path>
              </a:pathLst>
            </a:custGeom>
            <a:solidFill>
              <a:srgbClr val="CFE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78221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b="true" sz="2299" spc="36">
                  <a:solidFill>
                    <a:srgbClr val="0063C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Outcome Unlock</a:t>
              </a:r>
            </a:p>
            <a:p>
              <a:pPr algn="ctr">
                <a:lnSpc>
                  <a:spcPts val="2598"/>
                </a:lnSpc>
              </a:pP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Certification, badges, proof get new job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64442" y="2200836"/>
            <a:ext cx="3205160" cy="1717279"/>
            <a:chOff x="0" y="0"/>
            <a:chExt cx="782216" cy="419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2216" cy="419100"/>
            </a:xfrm>
            <a:custGeom>
              <a:avLst/>
              <a:gdLst/>
              <a:ahLst/>
              <a:cxnLst/>
              <a:rect r="r" b="b" t="t" l="l"/>
              <a:pathLst>
                <a:path h="419100" w="782216">
                  <a:moveTo>
                    <a:pt x="47177" y="0"/>
                  </a:moveTo>
                  <a:lnTo>
                    <a:pt x="735039" y="0"/>
                  </a:lnTo>
                  <a:cubicBezTo>
                    <a:pt x="761094" y="0"/>
                    <a:pt x="782216" y="21122"/>
                    <a:pt x="782216" y="47177"/>
                  </a:cubicBezTo>
                  <a:lnTo>
                    <a:pt x="782216" y="371923"/>
                  </a:lnTo>
                  <a:cubicBezTo>
                    <a:pt x="782216" y="397978"/>
                    <a:pt x="761094" y="419100"/>
                    <a:pt x="735039" y="419100"/>
                  </a:cubicBezTo>
                  <a:lnTo>
                    <a:pt x="47177" y="419100"/>
                  </a:lnTo>
                  <a:cubicBezTo>
                    <a:pt x="21122" y="419100"/>
                    <a:pt x="0" y="397978"/>
                    <a:pt x="0" y="371923"/>
                  </a:cubicBezTo>
                  <a:lnTo>
                    <a:pt x="0" y="47177"/>
                  </a:lnTo>
                  <a:cubicBezTo>
                    <a:pt x="0" y="21122"/>
                    <a:pt x="21122" y="0"/>
                    <a:pt x="47177" y="0"/>
                  </a:cubicBezTo>
                  <a:close/>
                </a:path>
              </a:pathLst>
            </a:custGeom>
            <a:solidFill>
              <a:srgbClr val="CFE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78221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b="true" sz="2299" spc="36">
                  <a:solidFill>
                    <a:srgbClr val="0063C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Upsell/Cross-sell</a:t>
              </a:r>
            </a:p>
            <a:p>
              <a:pPr algn="ctr" marL="0" indent="0" lvl="0">
                <a:lnSpc>
                  <a:spcPts val="2598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sz="1700" spc="27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Next sprint, advanced skills</a:t>
              </a: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sz="1700" spc="27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,</a:t>
              </a:r>
              <a:r>
                <a:rPr lang="en-US" sz="1700" spc="27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repeat purchase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4051" y="5375133"/>
            <a:ext cx="4454497" cy="3738217"/>
            <a:chOff x="0" y="0"/>
            <a:chExt cx="1298509" cy="10897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98510" cy="1089710"/>
            </a:xfrm>
            <a:custGeom>
              <a:avLst/>
              <a:gdLst/>
              <a:ahLst/>
              <a:cxnLst/>
              <a:rect r="r" b="b" t="t" l="l"/>
              <a:pathLst>
                <a:path h="1089710" w="1298510">
                  <a:moveTo>
                    <a:pt x="33945" y="0"/>
                  </a:moveTo>
                  <a:lnTo>
                    <a:pt x="1264564" y="0"/>
                  </a:lnTo>
                  <a:cubicBezTo>
                    <a:pt x="1273567" y="0"/>
                    <a:pt x="1282201" y="3576"/>
                    <a:pt x="1288567" y="9942"/>
                  </a:cubicBezTo>
                  <a:cubicBezTo>
                    <a:pt x="1294933" y="16308"/>
                    <a:pt x="1298510" y="24942"/>
                    <a:pt x="1298510" y="33945"/>
                  </a:cubicBezTo>
                  <a:lnTo>
                    <a:pt x="1298510" y="1055765"/>
                  </a:lnTo>
                  <a:cubicBezTo>
                    <a:pt x="1298510" y="1064768"/>
                    <a:pt x="1294933" y="1073402"/>
                    <a:pt x="1288567" y="1079768"/>
                  </a:cubicBezTo>
                  <a:cubicBezTo>
                    <a:pt x="1282201" y="1086134"/>
                    <a:pt x="1273567" y="1089710"/>
                    <a:pt x="1264564" y="1089710"/>
                  </a:cubicBezTo>
                  <a:lnTo>
                    <a:pt x="33945" y="1089710"/>
                  </a:lnTo>
                  <a:cubicBezTo>
                    <a:pt x="15198" y="1089710"/>
                    <a:pt x="0" y="1074512"/>
                    <a:pt x="0" y="1055765"/>
                  </a:cubicBezTo>
                  <a:lnTo>
                    <a:pt x="0" y="33945"/>
                  </a:lnTo>
                  <a:cubicBezTo>
                    <a:pt x="0" y="24942"/>
                    <a:pt x="3576" y="16308"/>
                    <a:pt x="9942" y="9942"/>
                  </a:cubicBezTo>
                  <a:cubicBezTo>
                    <a:pt x="16308" y="3576"/>
                    <a:pt x="24942" y="0"/>
                    <a:pt x="33945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1298509" cy="1080185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824"/>
                </a:lnSpc>
              </a:pPr>
              <a:r>
                <a:rPr lang="en-US" sz="2499" spc="39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Discovery Channels</a:t>
              </a: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B2B: Company HR, L&amp;D teams, placement cells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D2C: Performance marketing, LinkedIn, referrals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33783" y="5434481"/>
            <a:ext cx="5142551" cy="4142094"/>
            <a:chOff x="0" y="0"/>
            <a:chExt cx="1354417" cy="10909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54417" cy="1090922"/>
            </a:xfrm>
            <a:custGeom>
              <a:avLst/>
              <a:gdLst/>
              <a:ahLst/>
              <a:cxnLst/>
              <a:rect r="r" b="b" t="t" l="l"/>
              <a:pathLst>
                <a:path h="1090922" w="1354417">
                  <a:moveTo>
                    <a:pt x="76779" y="0"/>
                  </a:moveTo>
                  <a:lnTo>
                    <a:pt x="1277638" y="0"/>
                  </a:lnTo>
                  <a:cubicBezTo>
                    <a:pt x="1298001" y="0"/>
                    <a:pt x="1317530" y="8089"/>
                    <a:pt x="1331929" y="22488"/>
                  </a:cubicBezTo>
                  <a:cubicBezTo>
                    <a:pt x="1346328" y="36887"/>
                    <a:pt x="1354417" y="56416"/>
                    <a:pt x="1354417" y="76779"/>
                  </a:cubicBezTo>
                  <a:lnTo>
                    <a:pt x="1354417" y="1014143"/>
                  </a:lnTo>
                  <a:cubicBezTo>
                    <a:pt x="1354417" y="1034506"/>
                    <a:pt x="1346328" y="1054035"/>
                    <a:pt x="1331929" y="1068434"/>
                  </a:cubicBezTo>
                  <a:cubicBezTo>
                    <a:pt x="1317530" y="1082833"/>
                    <a:pt x="1298001" y="1090922"/>
                    <a:pt x="1277638" y="1090922"/>
                  </a:cubicBezTo>
                  <a:lnTo>
                    <a:pt x="76779" y="1090922"/>
                  </a:lnTo>
                  <a:cubicBezTo>
                    <a:pt x="56416" y="1090922"/>
                    <a:pt x="36887" y="1082833"/>
                    <a:pt x="22488" y="1068434"/>
                  </a:cubicBezTo>
                  <a:cubicBezTo>
                    <a:pt x="8089" y="1054035"/>
                    <a:pt x="0" y="1034506"/>
                    <a:pt x="0" y="1014143"/>
                  </a:cubicBezTo>
                  <a:lnTo>
                    <a:pt x="0" y="76779"/>
                  </a:lnTo>
                  <a:cubicBezTo>
                    <a:pt x="0" y="56416"/>
                    <a:pt x="8089" y="36887"/>
                    <a:pt x="22488" y="22488"/>
                  </a:cubicBezTo>
                  <a:cubicBezTo>
                    <a:pt x="36887" y="8089"/>
                    <a:pt x="56416" y="0"/>
                    <a:pt x="767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1354417" cy="1081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2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25426" y="5606765"/>
            <a:ext cx="4812171" cy="3771072"/>
            <a:chOff x="0" y="0"/>
            <a:chExt cx="917454" cy="7189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7454" cy="718965"/>
            </a:xfrm>
            <a:custGeom>
              <a:avLst/>
              <a:gdLst/>
              <a:ahLst/>
              <a:cxnLst/>
              <a:rect r="r" b="b" t="t" l="l"/>
              <a:pathLst>
                <a:path h="718965" w="917454">
                  <a:moveTo>
                    <a:pt x="31422" y="0"/>
                  </a:moveTo>
                  <a:lnTo>
                    <a:pt x="886031" y="0"/>
                  </a:lnTo>
                  <a:cubicBezTo>
                    <a:pt x="903386" y="0"/>
                    <a:pt x="917454" y="14068"/>
                    <a:pt x="917454" y="31422"/>
                  </a:cubicBezTo>
                  <a:lnTo>
                    <a:pt x="917454" y="687543"/>
                  </a:lnTo>
                  <a:cubicBezTo>
                    <a:pt x="917454" y="704897"/>
                    <a:pt x="903386" y="718965"/>
                    <a:pt x="886031" y="718965"/>
                  </a:cubicBezTo>
                  <a:lnTo>
                    <a:pt x="31422" y="718965"/>
                  </a:lnTo>
                  <a:cubicBezTo>
                    <a:pt x="14068" y="718965"/>
                    <a:pt x="0" y="704897"/>
                    <a:pt x="0" y="687543"/>
                  </a:cubicBezTo>
                  <a:lnTo>
                    <a:pt x="0" y="31422"/>
                  </a:lnTo>
                  <a:cubicBezTo>
                    <a:pt x="0" y="14068"/>
                    <a:pt x="14068" y="0"/>
                    <a:pt x="31422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917454" cy="70944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824"/>
                </a:lnSpc>
              </a:pPr>
              <a:r>
                <a:rPr lang="en-US" sz="2499" spc="39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Onboarding Form</a:t>
              </a: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Captures: Role, target, experience, skill confidence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Outputs: Personalized sprint plan, milestones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690171" y="5331791"/>
            <a:ext cx="4066183" cy="3771072"/>
            <a:chOff x="0" y="0"/>
            <a:chExt cx="775229" cy="71896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5229" cy="718965"/>
            </a:xfrm>
            <a:custGeom>
              <a:avLst/>
              <a:gdLst/>
              <a:ahLst/>
              <a:cxnLst/>
              <a:rect r="r" b="b" t="t" l="l"/>
              <a:pathLst>
                <a:path h="718965" w="775229">
                  <a:moveTo>
                    <a:pt x="37187" y="0"/>
                  </a:moveTo>
                  <a:lnTo>
                    <a:pt x="738042" y="0"/>
                  </a:lnTo>
                  <a:cubicBezTo>
                    <a:pt x="758580" y="0"/>
                    <a:pt x="775229" y="16649"/>
                    <a:pt x="775229" y="37187"/>
                  </a:cubicBezTo>
                  <a:lnTo>
                    <a:pt x="775229" y="681778"/>
                  </a:lnTo>
                  <a:cubicBezTo>
                    <a:pt x="775229" y="702316"/>
                    <a:pt x="758580" y="718965"/>
                    <a:pt x="738042" y="718965"/>
                  </a:cubicBezTo>
                  <a:lnTo>
                    <a:pt x="37187" y="718965"/>
                  </a:lnTo>
                  <a:cubicBezTo>
                    <a:pt x="16649" y="718965"/>
                    <a:pt x="0" y="702316"/>
                    <a:pt x="0" y="681778"/>
                  </a:cubicBezTo>
                  <a:lnTo>
                    <a:pt x="0" y="37187"/>
                  </a:lnTo>
                  <a:cubicBezTo>
                    <a:pt x="0" y="16649"/>
                    <a:pt x="16649" y="0"/>
                    <a:pt x="37187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775229" cy="699915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937"/>
                </a:lnSpc>
              </a:pPr>
              <a:r>
                <a:rPr lang="en-US" sz="2599" spc="41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Daily Interaction</a:t>
              </a: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15-20 min/day: Micro-lesson + scenario + action</a:t>
              </a:r>
            </a:p>
            <a:p>
              <a:pPr algn="ctr">
                <a:lnSpc>
                  <a:spcPts val="2598"/>
                </a:lnSpc>
              </a:pP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Progress tracking: Streaks, badges, accountability</a:t>
              </a:r>
            </a:p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723198" y="883552"/>
            <a:ext cx="4000128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699" spc="43">
                <a:gradFill>
                  <a:gsLst>
                    <a:gs pos="0">
                      <a:srgbClr val="00172C">
                        <a:alpha val="100000"/>
                      </a:srgbClr>
                    </a:gs>
                    <a:gs pos="100000">
                      <a:srgbClr val="2961B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Prototype : </a:t>
            </a:r>
            <a:r>
              <a:rPr lang="en-US" sz="2699" spc="43" u="sng">
                <a:gradFill>
                  <a:gsLst>
                    <a:gs pos="0">
                      <a:srgbClr val="00172C">
                        <a:alpha val="100000"/>
                      </a:srgbClr>
                    </a:gs>
                    <a:gs pos="100000">
                      <a:srgbClr val="2961B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  <a:hlinkClick r:id="rId3" tooltip="https://learn-edge-app.lovable.app"/>
              </a:rPr>
              <a:t>CLICK HERE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5597" y="466941"/>
            <a:ext cx="8115300" cy="809851"/>
            <a:chOff x="0" y="0"/>
            <a:chExt cx="3055359" cy="304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55359" cy="304904"/>
            </a:xfrm>
            <a:custGeom>
              <a:avLst/>
              <a:gdLst/>
              <a:ahLst/>
              <a:cxnLst/>
              <a:rect r="r" b="b" t="t" l="l"/>
              <a:pathLst>
                <a:path h="304904" w="3055359">
                  <a:moveTo>
                    <a:pt x="48654" y="0"/>
                  </a:moveTo>
                  <a:lnTo>
                    <a:pt x="3006705" y="0"/>
                  </a:lnTo>
                  <a:cubicBezTo>
                    <a:pt x="3033576" y="0"/>
                    <a:pt x="3055359" y="21783"/>
                    <a:pt x="3055359" y="48654"/>
                  </a:cubicBezTo>
                  <a:lnTo>
                    <a:pt x="3055359" y="256250"/>
                  </a:lnTo>
                  <a:cubicBezTo>
                    <a:pt x="3055359" y="283121"/>
                    <a:pt x="3033576" y="304904"/>
                    <a:pt x="3006705" y="304904"/>
                  </a:cubicBezTo>
                  <a:lnTo>
                    <a:pt x="48654" y="304904"/>
                  </a:lnTo>
                  <a:cubicBezTo>
                    <a:pt x="21783" y="304904"/>
                    <a:pt x="0" y="283121"/>
                    <a:pt x="0" y="25625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55359" cy="343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21319" y="1589665"/>
            <a:ext cx="8037981" cy="5073358"/>
            <a:chOff x="0" y="0"/>
            <a:chExt cx="2116999" cy="1336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6999" cy="1336193"/>
            </a:xfrm>
            <a:custGeom>
              <a:avLst/>
              <a:gdLst/>
              <a:ahLst/>
              <a:cxnLst/>
              <a:rect r="r" b="b" t="t" l="l"/>
              <a:pathLst>
                <a:path h="1336193" w="2116999">
                  <a:moveTo>
                    <a:pt x="34674" y="0"/>
                  </a:moveTo>
                  <a:lnTo>
                    <a:pt x="2082325" y="0"/>
                  </a:lnTo>
                  <a:cubicBezTo>
                    <a:pt x="2101475" y="0"/>
                    <a:pt x="2116999" y="15524"/>
                    <a:pt x="2116999" y="34674"/>
                  </a:cubicBezTo>
                  <a:lnTo>
                    <a:pt x="2116999" y="1301519"/>
                  </a:lnTo>
                  <a:cubicBezTo>
                    <a:pt x="2116999" y="1310715"/>
                    <a:pt x="2113346" y="1319535"/>
                    <a:pt x="2106843" y="1326037"/>
                  </a:cubicBezTo>
                  <a:cubicBezTo>
                    <a:pt x="2100341" y="1332540"/>
                    <a:pt x="2091521" y="1336193"/>
                    <a:pt x="2082325" y="1336193"/>
                  </a:cubicBezTo>
                  <a:lnTo>
                    <a:pt x="34674" y="1336193"/>
                  </a:lnTo>
                  <a:cubicBezTo>
                    <a:pt x="25478" y="1336193"/>
                    <a:pt x="16658" y="1332540"/>
                    <a:pt x="10156" y="1326037"/>
                  </a:cubicBezTo>
                  <a:cubicBezTo>
                    <a:pt x="3653" y="1319535"/>
                    <a:pt x="0" y="1310715"/>
                    <a:pt x="0" y="1301519"/>
                  </a:cubicBezTo>
                  <a:lnTo>
                    <a:pt x="0" y="34674"/>
                  </a:lnTo>
                  <a:cubicBezTo>
                    <a:pt x="0" y="25478"/>
                    <a:pt x="3653" y="16658"/>
                    <a:pt x="10156" y="10156"/>
                  </a:cubicBezTo>
                  <a:cubicBezTo>
                    <a:pt x="16658" y="3653"/>
                    <a:pt x="25478" y="0"/>
                    <a:pt x="34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116999" cy="1326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24"/>
                </a:lnSpc>
              </a:pPr>
              <a:r>
                <a:rPr lang="en-US" b="true" sz="2499" spc="3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B2B Value Proposition</a:t>
              </a:r>
            </a:p>
            <a:p>
              <a:pPr algn="ctr">
                <a:lnSpc>
                  <a:spcPts val="2147"/>
                </a:lnSpc>
              </a:pP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Target: HR/L&amp;D teams, placement cells</a:t>
              </a:r>
            </a:p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Core value: Completion, workforce readiness, trackable outcomes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Key benefits: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Measurable skill uplift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Employability signals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Manager dashboards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ROI tracking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64171" y="713703"/>
            <a:ext cx="7147412" cy="36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</a:pPr>
            <a:r>
              <a:rPr lang="en-US" b="true" sz="2567" spc="41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VALUE PROPOSITION &amp; BUSINESS MODEL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64171" y="1589665"/>
            <a:ext cx="7359988" cy="4961699"/>
            <a:chOff x="0" y="0"/>
            <a:chExt cx="1938433" cy="13067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8433" cy="1306785"/>
            </a:xfrm>
            <a:custGeom>
              <a:avLst/>
              <a:gdLst/>
              <a:ahLst/>
              <a:cxnLst/>
              <a:rect r="r" b="b" t="t" l="l"/>
              <a:pathLst>
                <a:path h="1306785" w="1938433">
                  <a:moveTo>
                    <a:pt x="37868" y="0"/>
                  </a:moveTo>
                  <a:lnTo>
                    <a:pt x="1900565" y="0"/>
                  </a:lnTo>
                  <a:cubicBezTo>
                    <a:pt x="1921479" y="0"/>
                    <a:pt x="1938433" y="16954"/>
                    <a:pt x="1938433" y="37868"/>
                  </a:cubicBezTo>
                  <a:lnTo>
                    <a:pt x="1938433" y="1268917"/>
                  </a:lnTo>
                  <a:cubicBezTo>
                    <a:pt x="1938433" y="1278960"/>
                    <a:pt x="1934443" y="1288592"/>
                    <a:pt x="1927342" y="1295694"/>
                  </a:cubicBezTo>
                  <a:cubicBezTo>
                    <a:pt x="1920240" y="1302795"/>
                    <a:pt x="1910608" y="1306785"/>
                    <a:pt x="1900565" y="1306785"/>
                  </a:cubicBezTo>
                  <a:lnTo>
                    <a:pt x="37868" y="1306785"/>
                  </a:lnTo>
                  <a:cubicBezTo>
                    <a:pt x="16954" y="1306785"/>
                    <a:pt x="0" y="1289831"/>
                    <a:pt x="0" y="1268917"/>
                  </a:cubicBezTo>
                  <a:lnTo>
                    <a:pt x="0" y="37868"/>
                  </a:lnTo>
                  <a:cubicBezTo>
                    <a:pt x="0" y="16954"/>
                    <a:pt x="16954" y="0"/>
                    <a:pt x="378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938433" cy="1297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24"/>
                </a:lnSpc>
              </a:pPr>
              <a:r>
                <a:rPr lang="en-US" b="true" sz="2499" spc="3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D2C Value Proposition</a:t>
              </a:r>
            </a:p>
            <a:p>
              <a:pPr algn="ctr">
                <a:lnSpc>
                  <a:spcPts val="2824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Target: Self-funded professionals</a:t>
              </a:r>
            </a:p>
            <a:p>
              <a:pPr algn="l">
                <a:lnSpc>
                  <a:spcPts val="2598"/>
                </a:lnSpc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Core value: Career-ready in short sprints with AI guidance, accountability, and progress proof</a:t>
              </a:r>
            </a:p>
            <a:p>
              <a:pPr algn="l">
                <a:lnSpc>
                  <a:spcPts val="2598"/>
                </a:lnSpc>
              </a:pPr>
            </a:p>
            <a:p>
              <a:pPr algn="l">
                <a:lnSpc>
                  <a:spcPts val="2598"/>
                </a:lnSpc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Key benefits: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15-20 min/day learning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personalization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Peer accountability</a:t>
              </a:r>
            </a:p>
            <a:p>
              <a:pPr algn="l" marL="496569" indent="-248284" lvl="1">
                <a:lnSpc>
                  <a:spcPts val="2598"/>
                </a:lnSpc>
                <a:buFont typeface="Arial"/>
                <a:buChar char="•"/>
              </a:pPr>
              <a:r>
                <a:rPr lang="en-US" sz="2299" spc="3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Visible career outcomes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9846" y="6054715"/>
            <a:ext cx="2803327" cy="30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2100" spc="33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Career Advancement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47481" y="6054715"/>
            <a:ext cx="1938486" cy="30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2100" spc="33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Skill Validation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53066" y="6054715"/>
            <a:ext cx="1817638" cy="30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2100" spc="33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B2B analytics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7030" y="6054715"/>
            <a:ext cx="2783830" cy="30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2100" spc="33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Workforce readiness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00974" y="6054715"/>
            <a:ext cx="2213967" cy="30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2100" spc="33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Outome tracking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4092" y="6054715"/>
            <a:ext cx="1891308" cy="30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sz="2100" spc="33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Interview Prep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5597" y="7032863"/>
            <a:ext cx="7019446" cy="576688"/>
            <a:chOff x="0" y="0"/>
            <a:chExt cx="2642776" cy="2171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42776" cy="217119"/>
            </a:xfrm>
            <a:custGeom>
              <a:avLst/>
              <a:gdLst/>
              <a:ahLst/>
              <a:cxnLst/>
              <a:rect r="r" b="b" t="t" l="l"/>
              <a:pathLst>
                <a:path h="217119" w="2642776">
                  <a:moveTo>
                    <a:pt x="56249" y="0"/>
                  </a:moveTo>
                  <a:lnTo>
                    <a:pt x="2586527" y="0"/>
                  </a:lnTo>
                  <a:cubicBezTo>
                    <a:pt x="2601445" y="0"/>
                    <a:pt x="2615753" y="5926"/>
                    <a:pt x="2626302" y="16475"/>
                  </a:cubicBezTo>
                  <a:cubicBezTo>
                    <a:pt x="2636850" y="27024"/>
                    <a:pt x="2642776" y="41331"/>
                    <a:pt x="2642776" y="56249"/>
                  </a:cubicBezTo>
                  <a:lnTo>
                    <a:pt x="2642776" y="160870"/>
                  </a:lnTo>
                  <a:cubicBezTo>
                    <a:pt x="2642776" y="191936"/>
                    <a:pt x="2617593" y="217119"/>
                    <a:pt x="2586527" y="217119"/>
                  </a:cubicBezTo>
                  <a:lnTo>
                    <a:pt x="56249" y="217119"/>
                  </a:lnTo>
                  <a:cubicBezTo>
                    <a:pt x="41331" y="217119"/>
                    <a:pt x="27024" y="211193"/>
                    <a:pt x="16475" y="200644"/>
                  </a:cubicBezTo>
                  <a:cubicBezTo>
                    <a:pt x="5926" y="190096"/>
                    <a:pt x="0" y="175788"/>
                    <a:pt x="0" y="160870"/>
                  </a:cubicBezTo>
                  <a:lnTo>
                    <a:pt x="0" y="56249"/>
                  </a:lnTo>
                  <a:cubicBezTo>
                    <a:pt x="0" y="41331"/>
                    <a:pt x="5926" y="27024"/>
                    <a:pt x="16475" y="16475"/>
                  </a:cubicBezTo>
                  <a:cubicBezTo>
                    <a:pt x="27024" y="5926"/>
                    <a:pt x="41331" y="0"/>
                    <a:pt x="562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642776" cy="255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74542" y="7163044"/>
            <a:ext cx="7147412" cy="33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b="true" sz="2367" spc="37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VALUE PROPOSITION &amp; BUSINESS MODEL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69075" y="7866726"/>
            <a:ext cx="17718925" cy="2493835"/>
            <a:chOff x="0" y="0"/>
            <a:chExt cx="4592582" cy="646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92582" cy="646379"/>
            </a:xfrm>
            <a:custGeom>
              <a:avLst/>
              <a:gdLst/>
              <a:ahLst/>
              <a:cxnLst/>
              <a:rect r="r" b="b" t="t" l="l"/>
              <a:pathLst>
                <a:path h="646379" w="4592582">
                  <a:moveTo>
                    <a:pt x="22283" y="0"/>
                  </a:moveTo>
                  <a:lnTo>
                    <a:pt x="4570299" y="0"/>
                  </a:lnTo>
                  <a:cubicBezTo>
                    <a:pt x="4576209" y="0"/>
                    <a:pt x="4581877" y="2348"/>
                    <a:pt x="4586055" y="6527"/>
                  </a:cubicBezTo>
                  <a:cubicBezTo>
                    <a:pt x="4590235" y="10706"/>
                    <a:pt x="4592582" y="16373"/>
                    <a:pt x="4592582" y="22283"/>
                  </a:cubicBezTo>
                  <a:lnTo>
                    <a:pt x="4592582" y="624096"/>
                  </a:lnTo>
                  <a:cubicBezTo>
                    <a:pt x="4592582" y="630006"/>
                    <a:pt x="4590235" y="635674"/>
                    <a:pt x="4586055" y="639853"/>
                  </a:cubicBezTo>
                  <a:cubicBezTo>
                    <a:pt x="4581877" y="644031"/>
                    <a:pt x="4576209" y="646379"/>
                    <a:pt x="4570299" y="646379"/>
                  </a:cubicBezTo>
                  <a:lnTo>
                    <a:pt x="22283" y="646379"/>
                  </a:lnTo>
                  <a:cubicBezTo>
                    <a:pt x="16373" y="646379"/>
                    <a:pt x="10706" y="644031"/>
                    <a:pt x="6527" y="639853"/>
                  </a:cubicBezTo>
                  <a:cubicBezTo>
                    <a:pt x="2348" y="635674"/>
                    <a:pt x="0" y="630006"/>
                    <a:pt x="0" y="624096"/>
                  </a:cubicBezTo>
                  <a:lnTo>
                    <a:pt x="0" y="22283"/>
                  </a:lnTo>
                  <a:cubicBezTo>
                    <a:pt x="0" y="16373"/>
                    <a:pt x="2348" y="10706"/>
                    <a:pt x="6527" y="6527"/>
                  </a:cubicBezTo>
                  <a:cubicBezTo>
                    <a:pt x="10706" y="2348"/>
                    <a:pt x="16373" y="0"/>
                    <a:pt x="22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592582" cy="636854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56345" y="8197742"/>
            <a:ext cx="3205160" cy="1717279"/>
            <a:chOff x="0" y="0"/>
            <a:chExt cx="782216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2216" cy="419100"/>
            </a:xfrm>
            <a:custGeom>
              <a:avLst/>
              <a:gdLst/>
              <a:ahLst/>
              <a:cxnLst/>
              <a:rect r="r" b="b" t="t" l="l"/>
              <a:pathLst>
                <a:path h="419100" w="782216">
                  <a:moveTo>
                    <a:pt x="47177" y="0"/>
                  </a:moveTo>
                  <a:lnTo>
                    <a:pt x="735039" y="0"/>
                  </a:lnTo>
                  <a:cubicBezTo>
                    <a:pt x="761094" y="0"/>
                    <a:pt x="782216" y="21122"/>
                    <a:pt x="782216" y="47177"/>
                  </a:cubicBezTo>
                  <a:lnTo>
                    <a:pt x="782216" y="371923"/>
                  </a:lnTo>
                  <a:cubicBezTo>
                    <a:pt x="782216" y="397978"/>
                    <a:pt x="761094" y="419100"/>
                    <a:pt x="735039" y="419100"/>
                  </a:cubicBezTo>
                  <a:lnTo>
                    <a:pt x="47177" y="419100"/>
                  </a:lnTo>
                  <a:cubicBezTo>
                    <a:pt x="21122" y="419100"/>
                    <a:pt x="0" y="397978"/>
                    <a:pt x="0" y="371923"/>
                  </a:cubicBezTo>
                  <a:lnTo>
                    <a:pt x="0" y="47177"/>
                  </a:lnTo>
                  <a:cubicBezTo>
                    <a:pt x="0" y="21122"/>
                    <a:pt x="21122" y="0"/>
                    <a:pt x="47177" y="0"/>
                  </a:cubicBezTo>
                  <a:close/>
                </a:path>
              </a:pathLst>
            </a:custGeom>
            <a:solidFill>
              <a:srgbClr val="CFE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78221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b="true" sz="2299" spc="36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Premium Services</a:t>
              </a:r>
            </a:p>
            <a:p>
              <a:pPr algn="ctr" marL="0" indent="0" lvl="0">
                <a:lnSpc>
                  <a:spcPts val="2598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sz="1700" spc="27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Mock interviews, resume reviews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7803" y="8200101"/>
            <a:ext cx="3172167" cy="1714919"/>
            <a:chOff x="0" y="0"/>
            <a:chExt cx="775229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5229" cy="419100"/>
            </a:xfrm>
            <a:custGeom>
              <a:avLst/>
              <a:gdLst/>
              <a:ahLst/>
              <a:cxnLst/>
              <a:rect r="r" b="b" t="t" l="l"/>
              <a:pathLst>
                <a:path h="419100" w="775229">
                  <a:moveTo>
                    <a:pt x="47668" y="0"/>
                  </a:moveTo>
                  <a:lnTo>
                    <a:pt x="727562" y="0"/>
                  </a:lnTo>
                  <a:cubicBezTo>
                    <a:pt x="740204" y="0"/>
                    <a:pt x="752328" y="5022"/>
                    <a:pt x="761268" y="13961"/>
                  </a:cubicBezTo>
                  <a:cubicBezTo>
                    <a:pt x="770207" y="22901"/>
                    <a:pt x="775229" y="35025"/>
                    <a:pt x="775229" y="47668"/>
                  </a:cubicBezTo>
                  <a:lnTo>
                    <a:pt x="775229" y="371432"/>
                  </a:lnTo>
                  <a:cubicBezTo>
                    <a:pt x="775229" y="397759"/>
                    <a:pt x="753888" y="419100"/>
                    <a:pt x="727562" y="419100"/>
                  </a:cubicBezTo>
                  <a:lnTo>
                    <a:pt x="47668" y="419100"/>
                  </a:lnTo>
                  <a:cubicBezTo>
                    <a:pt x="21341" y="419100"/>
                    <a:pt x="0" y="397759"/>
                    <a:pt x="0" y="371432"/>
                  </a:cubicBezTo>
                  <a:lnTo>
                    <a:pt x="0" y="47668"/>
                  </a:lnTo>
                  <a:cubicBezTo>
                    <a:pt x="0" y="21341"/>
                    <a:pt x="21341" y="0"/>
                    <a:pt x="476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775229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Subscriptions</a:t>
              </a:r>
            </a:p>
            <a:p>
              <a:pPr algn="ctr">
                <a:lnSpc>
                  <a:spcPts val="2598"/>
                </a:lnSpc>
              </a:pPr>
            </a:p>
            <a:p>
              <a:pPr algn="l">
                <a:lnSpc>
                  <a:spcPts val="1921"/>
                </a:lnSpc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bundles &amp; course access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13173" y="8200101"/>
            <a:ext cx="3172167" cy="1714919"/>
            <a:chOff x="0" y="0"/>
            <a:chExt cx="775229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5229" cy="419100"/>
            </a:xfrm>
            <a:custGeom>
              <a:avLst/>
              <a:gdLst/>
              <a:ahLst/>
              <a:cxnLst/>
              <a:rect r="r" b="b" t="t" l="l"/>
              <a:pathLst>
                <a:path h="419100" w="775229">
                  <a:moveTo>
                    <a:pt x="47668" y="0"/>
                  </a:moveTo>
                  <a:lnTo>
                    <a:pt x="727562" y="0"/>
                  </a:lnTo>
                  <a:cubicBezTo>
                    <a:pt x="740204" y="0"/>
                    <a:pt x="752328" y="5022"/>
                    <a:pt x="761268" y="13961"/>
                  </a:cubicBezTo>
                  <a:cubicBezTo>
                    <a:pt x="770207" y="22901"/>
                    <a:pt x="775229" y="35025"/>
                    <a:pt x="775229" y="47668"/>
                  </a:cubicBezTo>
                  <a:lnTo>
                    <a:pt x="775229" y="371432"/>
                  </a:lnTo>
                  <a:cubicBezTo>
                    <a:pt x="775229" y="397759"/>
                    <a:pt x="753888" y="419100"/>
                    <a:pt x="727562" y="419100"/>
                  </a:cubicBezTo>
                  <a:lnTo>
                    <a:pt x="47668" y="419100"/>
                  </a:lnTo>
                  <a:cubicBezTo>
                    <a:pt x="21341" y="419100"/>
                    <a:pt x="0" y="397759"/>
                    <a:pt x="0" y="371432"/>
                  </a:cubicBezTo>
                  <a:lnTo>
                    <a:pt x="0" y="47668"/>
                  </a:lnTo>
                  <a:cubicBezTo>
                    <a:pt x="0" y="21341"/>
                    <a:pt x="21341" y="0"/>
                    <a:pt x="476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775229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B2B Partnerships</a:t>
              </a:r>
            </a:p>
            <a:p>
              <a:pPr algn="l">
                <a:lnSpc>
                  <a:spcPts val="2260"/>
                </a:lnSpc>
              </a:pPr>
            </a:p>
            <a:p>
              <a:pPr algn="l">
                <a:lnSpc>
                  <a:spcPts val="1921"/>
                </a:lnSpc>
              </a:pPr>
              <a:r>
                <a:rPr lang="en-US" sz="1700" spc="2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Enterprise licenses &amp; cohorts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28230" y="8197742"/>
            <a:ext cx="3205160" cy="1717279"/>
            <a:chOff x="0" y="0"/>
            <a:chExt cx="782216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2216" cy="419100"/>
            </a:xfrm>
            <a:custGeom>
              <a:avLst/>
              <a:gdLst/>
              <a:ahLst/>
              <a:cxnLst/>
              <a:rect r="r" b="b" t="t" l="l"/>
              <a:pathLst>
                <a:path h="419100" w="782216">
                  <a:moveTo>
                    <a:pt x="47177" y="0"/>
                  </a:moveTo>
                  <a:lnTo>
                    <a:pt x="735039" y="0"/>
                  </a:lnTo>
                  <a:cubicBezTo>
                    <a:pt x="761094" y="0"/>
                    <a:pt x="782216" y="21122"/>
                    <a:pt x="782216" y="47177"/>
                  </a:cubicBezTo>
                  <a:lnTo>
                    <a:pt x="782216" y="371923"/>
                  </a:lnTo>
                  <a:cubicBezTo>
                    <a:pt x="782216" y="397978"/>
                    <a:pt x="761094" y="419100"/>
                    <a:pt x="735039" y="419100"/>
                  </a:cubicBezTo>
                  <a:lnTo>
                    <a:pt x="47177" y="419100"/>
                  </a:lnTo>
                  <a:cubicBezTo>
                    <a:pt x="21122" y="419100"/>
                    <a:pt x="0" y="397978"/>
                    <a:pt x="0" y="371923"/>
                  </a:cubicBezTo>
                  <a:lnTo>
                    <a:pt x="0" y="47177"/>
                  </a:lnTo>
                  <a:cubicBezTo>
                    <a:pt x="0" y="21122"/>
                    <a:pt x="21122" y="0"/>
                    <a:pt x="47177" y="0"/>
                  </a:cubicBezTo>
                  <a:close/>
                </a:path>
              </a:pathLst>
            </a:custGeom>
            <a:solidFill>
              <a:srgbClr val="CFE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78221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l">
                <a:lnSpc>
                  <a:spcPts val="2598"/>
                </a:lnSpc>
              </a:pPr>
              <a:r>
                <a:rPr lang="en-US" sz="2299" spc="36" b="true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Employer Pathways</a:t>
              </a:r>
            </a:p>
            <a:p>
              <a:pPr algn="l">
                <a:lnSpc>
                  <a:spcPts val="2598"/>
                </a:lnSpc>
              </a:pP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b="true" sz="1700" spc="2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Sponsored learning tracks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900089" y="8197742"/>
            <a:ext cx="3205160" cy="1717279"/>
            <a:chOff x="0" y="0"/>
            <a:chExt cx="782216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2216" cy="419100"/>
            </a:xfrm>
            <a:custGeom>
              <a:avLst/>
              <a:gdLst/>
              <a:ahLst/>
              <a:cxnLst/>
              <a:rect r="r" b="b" t="t" l="l"/>
              <a:pathLst>
                <a:path h="419100" w="782216">
                  <a:moveTo>
                    <a:pt x="47177" y="0"/>
                  </a:moveTo>
                  <a:lnTo>
                    <a:pt x="735039" y="0"/>
                  </a:lnTo>
                  <a:cubicBezTo>
                    <a:pt x="761094" y="0"/>
                    <a:pt x="782216" y="21122"/>
                    <a:pt x="782216" y="47177"/>
                  </a:cubicBezTo>
                  <a:lnTo>
                    <a:pt x="782216" y="371923"/>
                  </a:lnTo>
                  <a:cubicBezTo>
                    <a:pt x="782216" y="397978"/>
                    <a:pt x="761094" y="419100"/>
                    <a:pt x="735039" y="419100"/>
                  </a:cubicBezTo>
                  <a:lnTo>
                    <a:pt x="47177" y="419100"/>
                  </a:lnTo>
                  <a:cubicBezTo>
                    <a:pt x="21122" y="419100"/>
                    <a:pt x="0" y="397978"/>
                    <a:pt x="0" y="371923"/>
                  </a:cubicBezTo>
                  <a:lnTo>
                    <a:pt x="0" y="47177"/>
                  </a:lnTo>
                  <a:cubicBezTo>
                    <a:pt x="0" y="21122"/>
                    <a:pt x="21122" y="0"/>
                    <a:pt x="47177" y="0"/>
                  </a:cubicBezTo>
                  <a:close/>
                </a:path>
              </a:pathLst>
            </a:custGeom>
            <a:solidFill>
              <a:srgbClr val="CFE0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19050"/>
              <a:ext cx="78221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b="true" sz="2299" spc="36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Affiliate Revenue</a:t>
              </a:r>
            </a:p>
            <a:p>
              <a:pPr algn="ctr" marL="0" indent="0" lvl="0">
                <a:lnSpc>
                  <a:spcPts val="2598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1921"/>
                </a:lnSpc>
                <a:spcBef>
                  <a:spcPct val="0"/>
                </a:spcBef>
              </a:pPr>
              <a:r>
                <a:rPr lang="en-US" sz="1700" spc="27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Job tools &amp; career services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6622" y="-2863095"/>
            <a:ext cx="24614622" cy="16100130"/>
            <a:chOff x="0" y="0"/>
            <a:chExt cx="12426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26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42646">
                  <a:moveTo>
                    <a:pt x="621323" y="0"/>
                  </a:moveTo>
                  <a:cubicBezTo>
                    <a:pt x="278176" y="0"/>
                    <a:pt x="0" y="181951"/>
                    <a:pt x="0" y="406400"/>
                  </a:cubicBezTo>
                  <a:cubicBezTo>
                    <a:pt x="0" y="630849"/>
                    <a:pt x="278176" y="812800"/>
                    <a:pt x="621323" y="812800"/>
                  </a:cubicBezTo>
                  <a:cubicBezTo>
                    <a:pt x="964470" y="812800"/>
                    <a:pt x="1242646" y="630849"/>
                    <a:pt x="1242646" y="406400"/>
                  </a:cubicBezTo>
                  <a:cubicBezTo>
                    <a:pt x="1242646" y="181951"/>
                    <a:pt x="964470" y="0"/>
                    <a:pt x="621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16498" y="85725"/>
              <a:ext cx="100965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14373" y="288867"/>
            <a:ext cx="12169018" cy="52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1"/>
              </a:lnSpc>
            </a:pPr>
            <a:r>
              <a:rPr lang="en-US" b="true" sz="3585" spc="-132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OPERATIONS AND </a:t>
            </a:r>
            <a:r>
              <a:rPr lang="en-US" b="true" sz="3585" spc="-132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GO-TO-MARKET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4914" y="1332567"/>
            <a:ext cx="13754544" cy="37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198" spc="35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Actionable strategic priorities for market launch and sustainable growth in the EdTech space.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24319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52288" y="0"/>
            <a:ext cx="2395410" cy="917511"/>
            <a:chOff x="0" y="0"/>
            <a:chExt cx="3193880" cy="1223348"/>
          </a:xfrm>
        </p:grpSpPr>
        <p:sp>
          <p:nvSpPr>
            <p:cNvPr name="Freeform 9" id="9"/>
            <p:cNvSpPr/>
            <p:nvPr/>
          </p:nvSpPr>
          <p:spPr>
            <a:xfrm flipH="false" flipV="false" rot="-1739048">
              <a:off x="120254" y="219994"/>
              <a:ext cx="1110477" cy="783360"/>
            </a:xfrm>
            <a:custGeom>
              <a:avLst/>
              <a:gdLst/>
              <a:ahLst/>
              <a:cxnLst/>
              <a:rect r="r" b="b" t="t" l="l"/>
              <a:pathLst>
                <a:path h="783360" w="1110477">
                  <a:moveTo>
                    <a:pt x="0" y="0"/>
                  </a:moveTo>
                  <a:lnTo>
                    <a:pt x="1110477" y="0"/>
                  </a:lnTo>
                  <a:lnTo>
                    <a:pt x="1110477" y="783360"/>
                  </a:lnTo>
                  <a:lnTo>
                    <a:pt x="0" y="7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754582" y="650071"/>
              <a:ext cx="2439298" cy="457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0"/>
                </a:lnSpc>
              </a:pPr>
              <a:r>
                <a:rPr lang="en-US" b="true" sz="2354" i="true" spc="37">
                  <a:gradFill>
                    <a:gsLst>
                      <a:gs pos="0">
                        <a:srgbClr val="00172C">
                          <a:alpha val="100000"/>
                        </a:srgbClr>
                      </a:gs>
                      <a:gs pos="100000">
                        <a:srgbClr val="2961BC">
                          <a:alpha val="100000"/>
                        </a:srgbClr>
                      </a:gs>
                    </a:gsLst>
                    <a:lin ang="0"/>
                  </a:gra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LearnEdge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4914" y="2063519"/>
            <a:ext cx="11805029" cy="2577670"/>
            <a:chOff x="0" y="0"/>
            <a:chExt cx="15740039" cy="343689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6041" y="844143"/>
              <a:ext cx="4532371" cy="2592750"/>
              <a:chOff x="0" y="0"/>
              <a:chExt cx="768748" cy="43976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68748" cy="439764"/>
              </a:xfrm>
              <a:custGeom>
                <a:avLst/>
                <a:gdLst/>
                <a:ahLst/>
                <a:cxnLst/>
                <a:rect r="r" b="b" t="t" l="l"/>
                <a:pathLst>
                  <a:path h="439764" w="768748">
                    <a:moveTo>
                      <a:pt x="40472" y="0"/>
                    </a:moveTo>
                    <a:lnTo>
                      <a:pt x="728276" y="0"/>
                    </a:lnTo>
                    <a:cubicBezTo>
                      <a:pt x="739009" y="0"/>
                      <a:pt x="749304" y="4264"/>
                      <a:pt x="756894" y="11854"/>
                    </a:cubicBezTo>
                    <a:cubicBezTo>
                      <a:pt x="764484" y="19444"/>
                      <a:pt x="768748" y="29738"/>
                      <a:pt x="768748" y="40472"/>
                    </a:cubicBezTo>
                    <a:lnTo>
                      <a:pt x="768748" y="399291"/>
                    </a:lnTo>
                    <a:cubicBezTo>
                      <a:pt x="768748" y="410025"/>
                      <a:pt x="764484" y="420319"/>
                      <a:pt x="756894" y="427909"/>
                    </a:cubicBezTo>
                    <a:cubicBezTo>
                      <a:pt x="749304" y="435499"/>
                      <a:pt x="739009" y="439764"/>
                      <a:pt x="728276" y="439764"/>
                    </a:cubicBezTo>
                    <a:lnTo>
                      <a:pt x="40472" y="439764"/>
                    </a:lnTo>
                    <a:cubicBezTo>
                      <a:pt x="29738" y="439764"/>
                      <a:pt x="19444" y="435499"/>
                      <a:pt x="11854" y="427909"/>
                    </a:cubicBezTo>
                    <a:cubicBezTo>
                      <a:pt x="4264" y="420319"/>
                      <a:pt x="0" y="410025"/>
                      <a:pt x="0" y="399291"/>
                    </a:cubicBezTo>
                    <a:lnTo>
                      <a:pt x="0" y="40472"/>
                    </a:lnTo>
                    <a:cubicBezTo>
                      <a:pt x="0" y="29738"/>
                      <a:pt x="4264" y="19444"/>
                      <a:pt x="11854" y="11854"/>
                    </a:cubicBezTo>
                    <a:cubicBezTo>
                      <a:pt x="19444" y="4264"/>
                      <a:pt x="29738" y="0"/>
                      <a:pt x="40472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9525"/>
                <a:ext cx="768748" cy="43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0"/>
                  </a:lnSpc>
                </a:pPr>
                <a:r>
                  <a:rPr lang="en-US" b="true" sz="2000" spc="32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Target Segments</a:t>
                </a:r>
              </a:p>
              <a:p>
                <a:pPr algn="l">
                  <a:lnSpc>
                    <a:spcPts val="2033"/>
                  </a:lnSpc>
                </a:pPr>
              </a:p>
              <a:p>
                <a:pPr algn="l">
                  <a:lnSpc>
                    <a:spcPts val="2033"/>
                  </a:lnSpc>
                </a:pPr>
                <a:r>
                  <a:rPr lang="en-US" b="true" sz="1799" spc="28">
                    <a:solidFill>
                      <a:srgbClr val="000000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*</a:t>
                </a: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Early-career professionals</a:t>
                </a:r>
              </a:p>
              <a:p>
                <a:pPr algn="l">
                  <a:lnSpc>
                    <a:spcPts val="2033"/>
                  </a:lnSpc>
                </a:pP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Career switchers</a:t>
                </a:r>
              </a:p>
              <a:p>
                <a:pPr algn="l">
                  <a:lnSpc>
                    <a:spcPts val="2033"/>
                  </a:lnSpc>
                </a:pP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Laid-off job seekers</a:t>
                </a:r>
              </a:p>
              <a:p>
                <a:pPr algn="l">
                  <a:lnSpc>
                    <a:spcPts val="2033"/>
                  </a:lnSpc>
                </a:pP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Returnship (maternity)</a:t>
                </a:r>
              </a:p>
              <a:p>
                <a:pPr algn="l">
                  <a:lnSpc>
                    <a:spcPts val="2033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5740039" cy="526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6"/>
                </a:lnSpc>
              </a:pPr>
              <a:r>
                <a:rPr lang="en-US" sz="244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Phase 1: D2C Wedge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5290935" y="844143"/>
              <a:ext cx="4929389" cy="2592750"/>
              <a:chOff x="0" y="0"/>
              <a:chExt cx="836087" cy="43976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36087" cy="439764"/>
              </a:xfrm>
              <a:custGeom>
                <a:avLst/>
                <a:gdLst/>
                <a:ahLst/>
                <a:cxnLst/>
                <a:rect r="r" b="b" t="t" l="l"/>
                <a:pathLst>
                  <a:path h="439764" w="836087">
                    <a:moveTo>
                      <a:pt x="37213" y="0"/>
                    </a:moveTo>
                    <a:lnTo>
                      <a:pt x="798875" y="0"/>
                    </a:lnTo>
                    <a:cubicBezTo>
                      <a:pt x="819427" y="0"/>
                      <a:pt x="836087" y="16661"/>
                      <a:pt x="836087" y="37213"/>
                    </a:cubicBezTo>
                    <a:lnTo>
                      <a:pt x="836087" y="402551"/>
                    </a:lnTo>
                    <a:cubicBezTo>
                      <a:pt x="836087" y="423103"/>
                      <a:pt x="819427" y="439764"/>
                      <a:pt x="798875" y="439764"/>
                    </a:cubicBezTo>
                    <a:lnTo>
                      <a:pt x="37213" y="439764"/>
                    </a:lnTo>
                    <a:cubicBezTo>
                      <a:pt x="16661" y="439764"/>
                      <a:pt x="0" y="423103"/>
                      <a:pt x="0" y="402551"/>
                    </a:cubicBezTo>
                    <a:lnTo>
                      <a:pt x="0" y="37213"/>
                    </a:lnTo>
                    <a:cubicBezTo>
                      <a:pt x="0" y="16661"/>
                      <a:pt x="16661" y="0"/>
                      <a:pt x="37213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836087" cy="43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0"/>
                  </a:lnSpc>
                  <a:spcBef>
                    <a:spcPct val="0"/>
                  </a:spcBef>
                </a:pPr>
                <a:r>
                  <a:rPr lang="en-US" b="true" sz="2000" spc="32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Channel</a:t>
                </a:r>
              </a:p>
              <a:p>
                <a:pPr algn="l" marL="0" indent="0" lvl="0">
                  <a:lnSpc>
                    <a:spcPts val="2033"/>
                  </a:lnSpc>
                  <a:spcBef>
                    <a:spcPct val="0"/>
                  </a:spcBef>
                </a:pPr>
              </a:p>
              <a:p>
                <a:pPr algn="l" marL="0" indent="0" lvl="0">
                  <a:lnSpc>
                    <a:spcPts val="2033"/>
                  </a:lnSpc>
                  <a:spcBef>
                    <a:spcPct val="0"/>
                  </a:spcBef>
                </a:pPr>
                <a:r>
                  <a:rPr lang="en-US" sz="1799" spc="28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Performance marketing</a:t>
                </a:r>
              </a:p>
              <a:p>
                <a:pPr algn="l" marL="0" indent="0" lvl="0">
                  <a:lnSpc>
                    <a:spcPts val="2033"/>
                  </a:lnSpc>
                  <a:spcBef>
                    <a:spcPct val="0"/>
                  </a:spcBef>
                </a:pPr>
                <a:r>
                  <a:rPr lang="en-US" sz="1799" spc="28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LinkedIn creators</a:t>
                </a:r>
              </a:p>
              <a:p>
                <a:pPr algn="l" marL="0" indent="0" lvl="0">
                  <a:lnSpc>
                    <a:spcPts val="2033"/>
                  </a:lnSpc>
                  <a:spcBef>
                    <a:spcPct val="0"/>
                  </a:spcBef>
                </a:pPr>
                <a:r>
                  <a:rPr lang="en-US" sz="1799" spc="28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Referral loops from pods</a:t>
                </a:r>
              </a:p>
              <a:p>
                <a:pPr algn="l" marL="0" indent="0" lvl="0">
                  <a:lnSpc>
                    <a:spcPts val="2033"/>
                  </a:lnSpc>
                  <a:spcBef>
                    <a:spcPct val="0"/>
                  </a:spcBef>
                </a:pPr>
                <a:r>
                  <a:rPr lang="en-US" sz="1799" spc="28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Organic content</a:t>
                </a:r>
              </a:p>
              <a:p>
                <a:pPr algn="ctr" marL="0" indent="0" lvl="0">
                  <a:lnSpc>
                    <a:spcPts val="203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0854847" y="844143"/>
              <a:ext cx="4569880" cy="2592750"/>
              <a:chOff x="0" y="0"/>
              <a:chExt cx="775110" cy="43976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75110" cy="439764"/>
              </a:xfrm>
              <a:custGeom>
                <a:avLst/>
                <a:gdLst/>
                <a:ahLst/>
                <a:cxnLst/>
                <a:rect r="r" b="b" t="t" l="l"/>
                <a:pathLst>
                  <a:path h="439764" w="775110">
                    <a:moveTo>
                      <a:pt x="40140" y="0"/>
                    </a:moveTo>
                    <a:lnTo>
                      <a:pt x="734970" y="0"/>
                    </a:lnTo>
                    <a:cubicBezTo>
                      <a:pt x="745616" y="0"/>
                      <a:pt x="755825" y="4229"/>
                      <a:pt x="763353" y="11757"/>
                    </a:cubicBezTo>
                    <a:cubicBezTo>
                      <a:pt x="770881" y="19285"/>
                      <a:pt x="775110" y="29494"/>
                      <a:pt x="775110" y="40140"/>
                    </a:cubicBezTo>
                    <a:lnTo>
                      <a:pt x="775110" y="399623"/>
                    </a:lnTo>
                    <a:cubicBezTo>
                      <a:pt x="775110" y="421792"/>
                      <a:pt x="757138" y="439764"/>
                      <a:pt x="734970" y="439764"/>
                    </a:cubicBezTo>
                    <a:lnTo>
                      <a:pt x="40140" y="439764"/>
                    </a:lnTo>
                    <a:cubicBezTo>
                      <a:pt x="29494" y="439764"/>
                      <a:pt x="19285" y="435534"/>
                      <a:pt x="11757" y="428007"/>
                    </a:cubicBezTo>
                    <a:cubicBezTo>
                      <a:pt x="4229" y="420479"/>
                      <a:pt x="0" y="410269"/>
                      <a:pt x="0" y="399623"/>
                    </a:cubicBezTo>
                    <a:lnTo>
                      <a:pt x="0" y="40140"/>
                    </a:lnTo>
                    <a:cubicBezTo>
                      <a:pt x="0" y="29494"/>
                      <a:pt x="4229" y="19285"/>
                      <a:pt x="11757" y="11757"/>
                    </a:cubicBezTo>
                    <a:cubicBezTo>
                      <a:pt x="19285" y="4229"/>
                      <a:pt x="29494" y="0"/>
                      <a:pt x="40140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9525"/>
                <a:ext cx="775110" cy="4302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0"/>
                  </a:lnSpc>
                </a:pPr>
                <a:r>
                  <a:rPr lang="en-US" b="true" sz="2000" spc="32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Key Metrics</a:t>
                </a:r>
              </a:p>
              <a:p>
                <a:pPr algn="ctr">
                  <a:lnSpc>
                    <a:spcPts val="2033"/>
                  </a:lnSpc>
                </a:pPr>
              </a:p>
              <a:p>
                <a:pPr algn="l">
                  <a:lnSpc>
                    <a:spcPts val="2033"/>
                  </a:lnSpc>
                </a:pP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Day 7 activation</a:t>
                </a:r>
              </a:p>
              <a:p>
                <a:pPr algn="l">
                  <a:lnSpc>
                    <a:spcPts val="2033"/>
                  </a:lnSpc>
                </a:pP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WAU/MAU</a:t>
                </a:r>
              </a:p>
              <a:p>
                <a:pPr algn="l">
                  <a:lnSpc>
                    <a:spcPts val="2033"/>
                  </a:lnSpc>
                </a:pPr>
                <a:r>
                  <a:rPr lang="en-US" sz="1799" spc="28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7-day streak</a:t>
                </a:r>
              </a:p>
              <a:p>
                <a:pPr algn="l">
                  <a:lnSpc>
                    <a:spcPts val="2033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650123" y="4783145"/>
            <a:ext cx="11634611" cy="2714162"/>
            <a:chOff x="0" y="0"/>
            <a:chExt cx="15512815" cy="361888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24221" y="691061"/>
              <a:ext cx="4466941" cy="2927822"/>
              <a:chOff x="0" y="0"/>
              <a:chExt cx="757650" cy="4965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57650" cy="496596"/>
              </a:xfrm>
              <a:custGeom>
                <a:avLst/>
                <a:gdLst/>
                <a:ahLst/>
                <a:cxnLst/>
                <a:rect r="r" b="b" t="t" l="l"/>
                <a:pathLst>
                  <a:path h="496596" w="757650">
                    <a:moveTo>
                      <a:pt x="41065" y="0"/>
                    </a:moveTo>
                    <a:lnTo>
                      <a:pt x="716585" y="0"/>
                    </a:lnTo>
                    <a:cubicBezTo>
                      <a:pt x="739265" y="0"/>
                      <a:pt x="757650" y="18386"/>
                      <a:pt x="757650" y="41065"/>
                    </a:cubicBezTo>
                    <a:lnTo>
                      <a:pt x="757650" y="455531"/>
                    </a:lnTo>
                    <a:cubicBezTo>
                      <a:pt x="757650" y="478210"/>
                      <a:pt x="739265" y="496596"/>
                      <a:pt x="716585" y="496596"/>
                    </a:cubicBezTo>
                    <a:lnTo>
                      <a:pt x="41065" y="496596"/>
                    </a:lnTo>
                    <a:cubicBezTo>
                      <a:pt x="30174" y="496596"/>
                      <a:pt x="19729" y="492269"/>
                      <a:pt x="12028" y="484568"/>
                    </a:cubicBezTo>
                    <a:cubicBezTo>
                      <a:pt x="4326" y="476867"/>
                      <a:pt x="0" y="466422"/>
                      <a:pt x="0" y="455531"/>
                    </a:cubicBezTo>
                    <a:lnTo>
                      <a:pt x="0" y="41065"/>
                    </a:lnTo>
                    <a:cubicBezTo>
                      <a:pt x="0" y="30174"/>
                      <a:pt x="4326" y="19729"/>
                      <a:pt x="12028" y="12028"/>
                    </a:cubicBezTo>
                    <a:cubicBezTo>
                      <a:pt x="19729" y="4326"/>
                      <a:pt x="30174" y="0"/>
                      <a:pt x="41065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757650" cy="487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3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Target Organisation</a:t>
                </a:r>
              </a:p>
              <a:p>
                <a:pPr algn="l">
                  <a:lnSpc>
                    <a:spcPts val="2146"/>
                  </a:lnSpc>
                </a:pP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SMEs &amp; startups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HR/L&amp;D teams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Returnship programs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Placement cells</a:t>
                </a:r>
              </a:p>
              <a:p>
                <a:pPr algn="l">
                  <a:lnSpc>
                    <a:spcPts val="2146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-47625"/>
              <a:ext cx="15512815" cy="562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6"/>
                </a:lnSpc>
              </a:pPr>
              <a:r>
                <a:rPr lang="en-US" sz="254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Phase 2: B2B Expansion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5214555" y="870116"/>
              <a:ext cx="4858228" cy="2748767"/>
              <a:chOff x="0" y="0"/>
              <a:chExt cx="824017" cy="46622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24018" cy="466226"/>
              </a:xfrm>
              <a:custGeom>
                <a:avLst/>
                <a:gdLst/>
                <a:ahLst/>
                <a:cxnLst/>
                <a:rect r="r" b="b" t="t" l="l"/>
                <a:pathLst>
                  <a:path h="466226" w="824018">
                    <a:moveTo>
                      <a:pt x="37758" y="0"/>
                    </a:moveTo>
                    <a:lnTo>
                      <a:pt x="786260" y="0"/>
                    </a:lnTo>
                    <a:cubicBezTo>
                      <a:pt x="807113" y="0"/>
                      <a:pt x="824018" y="16905"/>
                      <a:pt x="824018" y="37758"/>
                    </a:cubicBezTo>
                    <a:lnTo>
                      <a:pt x="824018" y="428468"/>
                    </a:lnTo>
                    <a:cubicBezTo>
                      <a:pt x="824018" y="449321"/>
                      <a:pt x="807113" y="466226"/>
                      <a:pt x="786260" y="466226"/>
                    </a:cubicBezTo>
                    <a:lnTo>
                      <a:pt x="37758" y="466226"/>
                    </a:lnTo>
                    <a:cubicBezTo>
                      <a:pt x="16905" y="466226"/>
                      <a:pt x="0" y="449321"/>
                      <a:pt x="0" y="428468"/>
                    </a:cubicBezTo>
                    <a:lnTo>
                      <a:pt x="0" y="37758"/>
                    </a:lnTo>
                    <a:cubicBezTo>
                      <a:pt x="0" y="16905"/>
                      <a:pt x="16905" y="0"/>
                      <a:pt x="37758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9525"/>
                <a:ext cx="824017" cy="456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73"/>
                  </a:lnSpc>
                  <a:spcBef>
                    <a:spcPct val="0"/>
                  </a:spcBef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Value Props</a:t>
                </a: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Higher completion rates</a:t>
                </a: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Workforce readiness</a:t>
                </a: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Trackable outcomes</a:t>
                </a: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ROI dashboards</a:t>
                </a:r>
              </a:p>
              <a:p>
                <a:pPr algn="ctr" marL="0" indent="0" lvl="0">
                  <a:lnSpc>
                    <a:spcPts val="214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0696754" y="870116"/>
              <a:ext cx="4503909" cy="2748767"/>
              <a:chOff x="0" y="0"/>
              <a:chExt cx="763920" cy="46622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63920" cy="466226"/>
              </a:xfrm>
              <a:custGeom>
                <a:avLst/>
                <a:gdLst/>
                <a:ahLst/>
                <a:cxnLst/>
                <a:rect r="r" b="b" t="t" l="l"/>
                <a:pathLst>
                  <a:path h="466226" w="763920">
                    <a:moveTo>
                      <a:pt x="40728" y="0"/>
                    </a:moveTo>
                    <a:lnTo>
                      <a:pt x="723192" y="0"/>
                    </a:lnTo>
                    <a:cubicBezTo>
                      <a:pt x="745686" y="0"/>
                      <a:pt x="763920" y="18235"/>
                      <a:pt x="763920" y="40728"/>
                    </a:cubicBezTo>
                    <a:lnTo>
                      <a:pt x="763920" y="425498"/>
                    </a:lnTo>
                    <a:cubicBezTo>
                      <a:pt x="763920" y="447991"/>
                      <a:pt x="745686" y="466226"/>
                      <a:pt x="723192" y="466226"/>
                    </a:cubicBezTo>
                    <a:lnTo>
                      <a:pt x="40728" y="466226"/>
                    </a:lnTo>
                    <a:cubicBezTo>
                      <a:pt x="18235" y="466226"/>
                      <a:pt x="0" y="447991"/>
                      <a:pt x="0" y="425498"/>
                    </a:cubicBezTo>
                    <a:lnTo>
                      <a:pt x="0" y="40728"/>
                    </a:lnTo>
                    <a:cubicBezTo>
                      <a:pt x="0" y="18235"/>
                      <a:pt x="18235" y="0"/>
                      <a:pt x="40728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9525"/>
                <a:ext cx="763920" cy="456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3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Success Metrics</a:t>
                </a:r>
              </a:p>
              <a:p>
                <a:pPr algn="l">
                  <a:lnSpc>
                    <a:spcPts val="2146"/>
                  </a:lnSpc>
                </a:pP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B2B renewal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LTV:CAC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Referral rate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820998" y="7629664"/>
            <a:ext cx="11463736" cy="2724681"/>
            <a:chOff x="0" y="0"/>
            <a:chExt cx="15284981" cy="363290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61036" y="705085"/>
              <a:ext cx="4444686" cy="2927822"/>
              <a:chOff x="0" y="0"/>
              <a:chExt cx="753875" cy="4965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53875" cy="496596"/>
              </a:xfrm>
              <a:custGeom>
                <a:avLst/>
                <a:gdLst/>
                <a:ahLst/>
                <a:cxnLst/>
                <a:rect r="r" b="b" t="t" l="l"/>
                <a:pathLst>
                  <a:path h="496596" w="753875">
                    <a:moveTo>
                      <a:pt x="41271" y="0"/>
                    </a:moveTo>
                    <a:lnTo>
                      <a:pt x="712605" y="0"/>
                    </a:lnTo>
                    <a:cubicBezTo>
                      <a:pt x="735398" y="0"/>
                      <a:pt x="753875" y="18478"/>
                      <a:pt x="753875" y="41271"/>
                    </a:cubicBezTo>
                    <a:lnTo>
                      <a:pt x="753875" y="455325"/>
                    </a:lnTo>
                    <a:cubicBezTo>
                      <a:pt x="753875" y="478118"/>
                      <a:pt x="735398" y="496596"/>
                      <a:pt x="712605" y="496596"/>
                    </a:cubicBezTo>
                    <a:lnTo>
                      <a:pt x="41271" y="496596"/>
                    </a:lnTo>
                    <a:cubicBezTo>
                      <a:pt x="18478" y="496596"/>
                      <a:pt x="0" y="478118"/>
                      <a:pt x="0" y="455325"/>
                    </a:cubicBezTo>
                    <a:lnTo>
                      <a:pt x="0" y="41271"/>
                    </a:lnTo>
                    <a:cubicBezTo>
                      <a:pt x="0" y="18478"/>
                      <a:pt x="18478" y="0"/>
                      <a:pt x="41271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9525"/>
                <a:ext cx="753875" cy="487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3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Existing Asests</a:t>
                </a:r>
              </a:p>
              <a:p>
                <a:pPr algn="l">
                  <a:lnSpc>
                    <a:spcPts val="2146"/>
                  </a:lnSpc>
                </a:pP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Course library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Learner base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Marketing ops</a:t>
                </a:r>
              </a:p>
              <a:p>
                <a:pPr algn="l">
                  <a:lnSpc>
                    <a:spcPts val="2146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-47625"/>
              <a:ext cx="15124842" cy="562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6"/>
                </a:lnSpc>
              </a:pPr>
              <a:r>
                <a:rPr lang="en-US" sz="254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Operational Feasibility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5123236" y="794613"/>
              <a:ext cx="4878369" cy="2748767"/>
              <a:chOff x="0" y="0"/>
              <a:chExt cx="827434" cy="46622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27434" cy="466226"/>
              </a:xfrm>
              <a:custGeom>
                <a:avLst/>
                <a:gdLst/>
                <a:ahLst/>
                <a:cxnLst/>
                <a:rect r="r" b="b" t="t" l="l"/>
                <a:pathLst>
                  <a:path h="466226" w="827434">
                    <a:moveTo>
                      <a:pt x="37602" y="0"/>
                    </a:moveTo>
                    <a:lnTo>
                      <a:pt x="789832" y="0"/>
                    </a:lnTo>
                    <a:cubicBezTo>
                      <a:pt x="799804" y="0"/>
                      <a:pt x="809369" y="3962"/>
                      <a:pt x="816420" y="11013"/>
                    </a:cubicBezTo>
                    <a:cubicBezTo>
                      <a:pt x="823472" y="18065"/>
                      <a:pt x="827434" y="27629"/>
                      <a:pt x="827434" y="37602"/>
                    </a:cubicBezTo>
                    <a:lnTo>
                      <a:pt x="827434" y="428624"/>
                    </a:lnTo>
                    <a:cubicBezTo>
                      <a:pt x="827434" y="449391"/>
                      <a:pt x="810599" y="466226"/>
                      <a:pt x="789832" y="466226"/>
                    </a:cubicBezTo>
                    <a:lnTo>
                      <a:pt x="37602" y="466226"/>
                    </a:lnTo>
                    <a:cubicBezTo>
                      <a:pt x="16835" y="466226"/>
                      <a:pt x="0" y="449391"/>
                      <a:pt x="0" y="428624"/>
                    </a:cubicBezTo>
                    <a:lnTo>
                      <a:pt x="0" y="37602"/>
                    </a:lnTo>
                    <a:cubicBezTo>
                      <a:pt x="0" y="16835"/>
                      <a:pt x="16835" y="0"/>
                      <a:pt x="37602" y="0"/>
                    </a:cubicBezTo>
                    <a:close/>
                  </a:path>
                </a:pathLst>
              </a:custGeom>
              <a:solidFill>
                <a:srgbClr val="CFE0E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9525"/>
                <a:ext cx="827434" cy="456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3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To Build</a:t>
                </a:r>
              </a:p>
              <a:p>
                <a:pPr algn="ctr" marL="0" indent="0" lvl="0">
                  <a:lnSpc>
                    <a:spcPts val="2373"/>
                  </a:lnSpc>
                  <a:spcBef>
                    <a:spcPct val="0"/>
                  </a:spcBef>
                </a:pP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b="true" sz="1899" spc="30" strike="noStrike" u="none">
                    <a:solidFill>
                      <a:srgbClr val="000000"/>
                    </a:solidFill>
                    <a:latin typeface="Open Sauce Semi-Bold"/>
                    <a:ea typeface="Open Sauce Semi-Bold"/>
                    <a:cs typeface="Open Sauce Semi-Bold"/>
                    <a:sym typeface="Open Sauce Semi-Bold"/>
                  </a:rPr>
                  <a:t>*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AI onboard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i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n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g</a:t>
                </a: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R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ecom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m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e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nda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tion e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ng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ine</a:t>
                </a:r>
              </a:p>
              <a:p>
                <a:pPr algn="l" marL="0" indent="0" lvl="0">
                  <a:lnSpc>
                    <a:spcPts val="2146"/>
                  </a:lnSpc>
                  <a:spcBef>
                    <a:spcPct val="0"/>
                  </a:spcBef>
                </a:pP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Sp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r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in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 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pl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a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nne</a:t>
                </a:r>
                <a:r>
                  <a:rPr lang="en-US" sz="1899" spc="30" strike="noStrike" u="none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r</a:t>
                </a:r>
              </a:p>
              <a:p>
                <a:pPr algn="ctr" marL="0" indent="0" lvl="0">
                  <a:lnSpc>
                    <a:spcPts val="214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618496" y="884141"/>
              <a:ext cx="4666485" cy="2748767"/>
              <a:chOff x="0" y="0"/>
              <a:chExt cx="791495" cy="46622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91495" cy="466226"/>
              </a:xfrm>
              <a:custGeom>
                <a:avLst/>
                <a:gdLst/>
                <a:ahLst/>
                <a:cxnLst/>
                <a:rect r="r" b="b" t="t" l="l"/>
                <a:pathLst>
                  <a:path h="466226" w="791495">
                    <a:moveTo>
                      <a:pt x="39309" y="0"/>
                    </a:moveTo>
                    <a:lnTo>
                      <a:pt x="752186" y="0"/>
                    </a:lnTo>
                    <a:cubicBezTo>
                      <a:pt x="762612" y="0"/>
                      <a:pt x="772610" y="4141"/>
                      <a:pt x="779982" y="11513"/>
                    </a:cubicBezTo>
                    <a:cubicBezTo>
                      <a:pt x="787354" y="18885"/>
                      <a:pt x="791495" y="28884"/>
                      <a:pt x="791495" y="39309"/>
                    </a:cubicBezTo>
                    <a:lnTo>
                      <a:pt x="791495" y="426917"/>
                    </a:lnTo>
                    <a:cubicBezTo>
                      <a:pt x="791495" y="448627"/>
                      <a:pt x="773896" y="466226"/>
                      <a:pt x="752186" y="466226"/>
                    </a:cubicBezTo>
                    <a:lnTo>
                      <a:pt x="39309" y="466226"/>
                    </a:lnTo>
                    <a:cubicBezTo>
                      <a:pt x="28884" y="466226"/>
                      <a:pt x="18885" y="462084"/>
                      <a:pt x="11513" y="454712"/>
                    </a:cubicBezTo>
                    <a:cubicBezTo>
                      <a:pt x="4141" y="447341"/>
                      <a:pt x="0" y="437342"/>
                      <a:pt x="0" y="426917"/>
                    </a:cubicBezTo>
                    <a:lnTo>
                      <a:pt x="0" y="39309"/>
                    </a:lnTo>
                    <a:cubicBezTo>
                      <a:pt x="0" y="28884"/>
                      <a:pt x="4141" y="18885"/>
                      <a:pt x="11513" y="11513"/>
                    </a:cubicBezTo>
                    <a:cubicBezTo>
                      <a:pt x="18885" y="4141"/>
                      <a:pt x="28884" y="0"/>
                      <a:pt x="39309" y="0"/>
                    </a:cubicBezTo>
                    <a:close/>
                  </a:path>
                </a:pathLst>
              </a:custGeom>
              <a:solidFill>
                <a:srgbClr val="CFE0E6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9525"/>
                <a:ext cx="791495" cy="456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3"/>
                  </a:lnSpc>
                </a:pPr>
                <a:r>
                  <a:rPr lang="en-US" b="true" sz="2100" spc="33">
                    <a:solidFill>
                      <a:srgbClr val="0063C2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Integration</a:t>
                </a:r>
              </a:p>
              <a:p>
                <a:pPr algn="ctr">
                  <a:lnSpc>
                    <a:spcPts val="2373"/>
                  </a:lnSpc>
                </a:pP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Peer pods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Badges system</a:t>
                </a:r>
              </a:p>
              <a:p>
                <a:pPr algn="l">
                  <a:lnSpc>
                    <a:spcPts val="2146"/>
                  </a:lnSpc>
                </a:pPr>
                <a:r>
                  <a:rPr lang="en-US" sz="1899" spc="30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* Progress tracking</a:t>
                </a: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12582222" y="8269586"/>
            <a:ext cx="3474471" cy="2019501"/>
            <a:chOff x="0" y="0"/>
            <a:chExt cx="785753" cy="456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5753" cy="456711"/>
            </a:xfrm>
            <a:custGeom>
              <a:avLst/>
              <a:gdLst/>
              <a:ahLst/>
              <a:cxnLst/>
              <a:rect r="r" b="b" t="t" l="l"/>
              <a:pathLst>
                <a:path h="456711" w="785753">
                  <a:moveTo>
                    <a:pt x="40039" y="0"/>
                  </a:moveTo>
                  <a:lnTo>
                    <a:pt x="745714" y="0"/>
                  </a:lnTo>
                  <a:cubicBezTo>
                    <a:pt x="767827" y="0"/>
                    <a:pt x="785753" y="17926"/>
                    <a:pt x="785753" y="40039"/>
                  </a:cubicBezTo>
                  <a:lnTo>
                    <a:pt x="785753" y="416672"/>
                  </a:lnTo>
                  <a:cubicBezTo>
                    <a:pt x="785753" y="438785"/>
                    <a:pt x="767827" y="456711"/>
                    <a:pt x="745714" y="456711"/>
                  </a:cubicBezTo>
                  <a:lnTo>
                    <a:pt x="40039" y="456711"/>
                  </a:lnTo>
                  <a:cubicBezTo>
                    <a:pt x="17926" y="456711"/>
                    <a:pt x="0" y="438785"/>
                    <a:pt x="0" y="416672"/>
                  </a:cubicBezTo>
                  <a:lnTo>
                    <a:pt x="0" y="40039"/>
                  </a:lnTo>
                  <a:cubicBezTo>
                    <a:pt x="0" y="17926"/>
                    <a:pt x="17926" y="0"/>
                    <a:pt x="40039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785753" cy="447186"/>
            </a:xfrm>
            <a:prstGeom prst="rect">
              <a:avLst/>
            </a:prstGeom>
          </p:spPr>
          <p:txBody>
            <a:bodyPr anchor="ctr" rtlCol="false" tIns="46220" lIns="46220" bIns="46220" rIns="46220"/>
            <a:lstStyle/>
            <a:p>
              <a:pPr algn="ctr">
                <a:lnSpc>
                  <a:spcPts val="2373"/>
                </a:lnSpc>
              </a:pPr>
              <a:r>
                <a:rPr lang="en-US" b="true" sz="2100" spc="33">
                  <a:solidFill>
                    <a:srgbClr val="0063C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Constraint</a:t>
              </a:r>
            </a:p>
            <a:p>
              <a:pPr algn="l">
                <a:lnSpc>
                  <a:spcPts val="2146"/>
                </a:lnSpc>
              </a:pPr>
            </a:p>
            <a:p>
              <a:pPr algn="l">
                <a:lnSpc>
                  <a:spcPts val="2146"/>
                </a:lnSpc>
              </a:pPr>
              <a:r>
                <a:rPr lang="en-US" sz="1899" spc="3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 Repackage content</a:t>
              </a:r>
            </a:p>
            <a:p>
              <a:pPr algn="l">
                <a:lnSpc>
                  <a:spcPts val="2146"/>
                </a:lnSpc>
              </a:pPr>
              <a:r>
                <a:rPr lang="en-US" sz="1899" spc="3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 No new content</a:t>
              </a:r>
            </a:p>
            <a:p>
              <a:pPr algn="l">
                <a:lnSpc>
                  <a:spcPts val="2146"/>
                </a:lnSpc>
              </a:pPr>
              <a:r>
                <a:rPr lang="en-US" sz="1899" spc="3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* No price cuts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719" y="-1274458"/>
            <a:ext cx="12835916" cy="128359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329335">
            <a:off x="10843000" y="2252001"/>
            <a:ext cx="10819474" cy="5812027"/>
          </a:xfrm>
          <a:custGeom>
            <a:avLst/>
            <a:gdLst/>
            <a:ahLst/>
            <a:cxnLst/>
            <a:rect r="r" b="b" t="t" l="l"/>
            <a:pathLst>
              <a:path h="5812027" w="10819474">
                <a:moveTo>
                  <a:pt x="0" y="0"/>
                </a:moveTo>
                <a:lnTo>
                  <a:pt x="10819474" y="0"/>
                </a:lnTo>
                <a:lnTo>
                  <a:pt x="10819474" y="5812027"/>
                </a:lnTo>
                <a:lnTo>
                  <a:pt x="0" y="5812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80686" y="2883044"/>
            <a:ext cx="1959017" cy="1736351"/>
            <a:chOff x="0" y="0"/>
            <a:chExt cx="515955" cy="4573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955" cy="457311"/>
            </a:xfrm>
            <a:custGeom>
              <a:avLst/>
              <a:gdLst/>
              <a:ahLst/>
              <a:cxnLst/>
              <a:rect r="r" b="b" t="t" l="l"/>
              <a:pathLst>
                <a:path h="457311" w="515955">
                  <a:moveTo>
                    <a:pt x="142270" y="0"/>
                  </a:moveTo>
                  <a:lnTo>
                    <a:pt x="373685" y="0"/>
                  </a:lnTo>
                  <a:cubicBezTo>
                    <a:pt x="411418" y="0"/>
                    <a:pt x="447604" y="14989"/>
                    <a:pt x="474285" y="41670"/>
                  </a:cubicBezTo>
                  <a:cubicBezTo>
                    <a:pt x="500966" y="68351"/>
                    <a:pt x="515955" y="104538"/>
                    <a:pt x="515955" y="142270"/>
                  </a:cubicBezTo>
                  <a:lnTo>
                    <a:pt x="515955" y="315041"/>
                  </a:lnTo>
                  <a:cubicBezTo>
                    <a:pt x="515955" y="352773"/>
                    <a:pt x="500966" y="388960"/>
                    <a:pt x="474285" y="415641"/>
                  </a:cubicBezTo>
                  <a:cubicBezTo>
                    <a:pt x="447604" y="442322"/>
                    <a:pt x="411418" y="457311"/>
                    <a:pt x="373685" y="457311"/>
                  </a:cubicBezTo>
                  <a:lnTo>
                    <a:pt x="142270" y="457311"/>
                  </a:lnTo>
                  <a:cubicBezTo>
                    <a:pt x="104538" y="457311"/>
                    <a:pt x="68351" y="442322"/>
                    <a:pt x="41670" y="415641"/>
                  </a:cubicBezTo>
                  <a:cubicBezTo>
                    <a:pt x="14989" y="388960"/>
                    <a:pt x="0" y="352773"/>
                    <a:pt x="0" y="315041"/>
                  </a:cubicBezTo>
                  <a:lnTo>
                    <a:pt x="0" y="142270"/>
                  </a:lnTo>
                  <a:cubicBezTo>
                    <a:pt x="0" y="104538"/>
                    <a:pt x="14989" y="68351"/>
                    <a:pt x="41670" y="41670"/>
                  </a:cubicBezTo>
                  <a:cubicBezTo>
                    <a:pt x="68351" y="14989"/>
                    <a:pt x="104538" y="0"/>
                    <a:pt x="1422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515955" cy="447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72336" y="387455"/>
            <a:ext cx="6076725" cy="829549"/>
            <a:chOff x="0" y="0"/>
            <a:chExt cx="2287848" cy="312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7848" cy="312320"/>
            </a:xfrm>
            <a:custGeom>
              <a:avLst/>
              <a:gdLst/>
              <a:ahLst/>
              <a:cxnLst/>
              <a:rect r="r" b="b" t="t" l="l"/>
              <a:pathLst>
                <a:path h="312320" w="2287848">
                  <a:moveTo>
                    <a:pt x="64975" y="0"/>
                  </a:moveTo>
                  <a:lnTo>
                    <a:pt x="2222872" y="0"/>
                  </a:lnTo>
                  <a:cubicBezTo>
                    <a:pt x="2258757" y="0"/>
                    <a:pt x="2287848" y="29090"/>
                    <a:pt x="2287848" y="64975"/>
                  </a:cubicBezTo>
                  <a:lnTo>
                    <a:pt x="2287848" y="247345"/>
                  </a:lnTo>
                  <a:cubicBezTo>
                    <a:pt x="2287848" y="283230"/>
                    <a:pt x="2258757" y="312320"/>
                    <a:pt x="2222872" y="312320"/>
                  </a:cubicBezTo>
                  <a:lnTo>
                    <a:pt x="64975" y="312320"/>
                  </a:lnTo>
                  <a:cubicBezTo>
                    <a:pt x="47743" y="312320"/>
                    <a:pt x="31216" y="305474"/>
                    <a:pt x="19031" y="293289"/>
                  </a:cubicBezTo>
                  <a:cubicBezTo>
                    <a:pt x="6846" y="281104"/>
                    <a:pt x="0" y="264577"/>
                    <a:pt x="0" y="247345"/>
                  </a:cubicBezTo>
                  <a:lnTo>
                    <a:pt x="0" y="64975"/>
                  </a:lnTo>
                  <a:cubicBezTo>
                    <a:pt x="0" y="47743"/>
                    <a:pt x="6846" y="31216"/>
                    <a:pt x="19031" y="19031"/>
                  </a:cubicBezTo>
                  <a:cubicBezTo>
                    <a:pt x="31216" y="6846"/>
                    <a:pt x="47743" y="0"/>
                    <a:pt x="649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87848" cy="350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2085" y="1493229"/>
            <a:ext cx="7879751" cy="110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sz="2098" spc="33">
                <a:solidFill>
                  <a:srgbClr val="00172C"/>
                </a:solidFill>
                <a:latin typeface="Open Sauce"/>
                <a:ea typeface="Open Sauce"/>
                <a:cs typeface="Open Sauce"/>
                <a:sym typeface="Open Sauce"/>
              </a:rPr>
              <a:t>Lifetime Value (LTV), Customer Acquisition Cost (CAC), and retention rates indicating sustainable growth and profitability.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733886" y="2902274"/>
            <a:ext cx="1826980" cy="1717121"/>
            <a:chOff x="0" y="0"/>
            <a:chExt cx="481180" cy="452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180" cy="452246"/>
            </a:xfrm>
            <a:custGeom>
              <a:avLst/>
              <a:gdLst/>
              <a:ahLst/>
              <a:cxnLst/>
              <a:rect r="r" b="b" t="t" l="l"/>
              <a:pathLst>
                <a:path h="452246" w="481180">
                  <a:moveTo>
                    <a:pt x="152552" y="0"/>
                  </a:moveTo>
                  <a:lnTo>
                    <a:pt x="328628" y="0"/>
                  </a:lnTo>
                  <a:cubicBezTo>
                    <a:pt x="412880" y="0"/>
                    <a:pt x="481180" y="68300"/>
                    <a:pt x="481180" y="152552"/>
                  </a:cubicBezTo>
                  <a:lnTo>
                    <a:pt x="481180" y="299694"/>
                  </a:lnTo>
                  <a:cubicBezTo>
                    <a:pt x="481180" y="340153"/>
                    <a:pt x="465107" y="378956"/>
                    <a:pt x="436498" y="407565"/>
                  </a:cubicBezTo>
                  <a:cubicBezTo>
                    <a:pt x="407889" y="436174"/>
                    <a:pt x="369087" y="452246"/>
                    <a:pt x="328628" y="452246"/>
                  </a:cubicBezTo>
                  <a:lnTo>
                    <a:pt x="152552" y="452246"/>
                  </a:lnTo>
                  <a:cubicBezTo>
                    <a:pt x="112093" y="452246"/>
                    <a:pt x="73290" y="436174"/>
                    <a:pt x="44681" y="407565"/>
                  </a:cubicBezTo>
                  <a:cubicBezTo>
                    <a:pt x="16072" y="378956"/>
                    <a:pt x="0" y="340153"/>
                    <a:pt x="0" y="299694"/>
                  </a:cubicBezTo>
                  <a:lnTo>
                    <a:pt x="0" y="152552"/>
                  </a:lnTo>
                  <a:cubicBezTo>
                    <a:pt x="0" y="112093"/>
                    <a:pt x="16072" y="73290"/>
                    <a:pt x="44681" y="44681"/>
                  </a:cubicBezTo>
                  <a:cubicBezTo>
                    <a:pt x="73290" y="16072"/>
                    <a:pt x="112093" y="0"/>
                    <a:pt x="1525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481180" cy="44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28225" y="2821052"/>
            <a:ext cx="1962895" cy="1798343"/>
            <a:chOff x="0" y="0"/>
            <a:chExt cx="774080" cy="7091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4080" cy="709188"/>
            </a:xfrm>
            <a:custGeom>
              <a:avLst/>
              <a:gdLst/>
              <a:ahLst/>
              <a:cxnLst/>
              <a:rect r="r" b="b" t="t" l="l"/>
              <a:pathLst>
                <a:path h="709188" w="774080">
                  <a:moveTo>
                    <a:pt x="141989" y="0"/>
                  </a:moveTo>
                  <a:lnTo>
                    <a:pt x="632091" y="0"/>
                  </a:lnTo>
                  <a:cubicBezTo>
                    <a:pt x="669749" y="0"/>
                    <a:pt x="705864" y="14959"/>
                    <a:pt x="732492" y="41588"/>
                  </a:cubicBezTo>
                  <a:cubicBezTo>
                    <a:pt x="759120" y="68216"/>
                    <a:pt x="774080" y="104331"/>
                    <a:pt x="774080" y="141989"/>
                  </a:cubicBezTo>
                  <a:lnTo>
                    <a:pt x="774080" y="567199"/>
                  </a:lnTo>
                  <a:cubicBezTo>
                    <a:pt x="774080" y="604857"/>
                    <a:pt x="759120" y="640972"/>
                    <a:pt x="732492" y="667600"/>
                  </a:cubicBezTo>
                  <a:cubicBezTo>
                    <a:pt x="705864" y="694228"/>
                    <a:pt x="669749" y="709188"/>
                    <a:pt x="632091" y="709188"/>
                  </a:cubicBezTo>
                  <a:lnTo>
                    <a:pt x="141989" y="709188"/>
                  </a:lnTo>
                  <a:cubicBezTo>
                    <a:pt x="104331" y="709188"/>
                    <a:pt x="68216" y="694228"/>
                    <a:pt x="41588" y="667600"/>
                  </a:cubicBezTo>
                  <a:cubicBezTo>
                    <a:pt x="14959" y="640972"/>
                    <a:pt x="0" y="604857"/>
                    <a:pt x="0" y="567199"/>
                  </a:cubicBezTo>
                  <a:lnTo>
                    <a:pt x="0" y="141989"/>
                  </a:lnTo>
                  <a:cubicBezTo>
                    <a:pt x="0" y="104331"/>
                    <a:pt x="14959" y="68216"/>
                    <a:pt x="41588" y="41588"/>
                  </a:cubicBezTo>
                  <a:cubicBezTo>
                    <a:pt x="68216" y="14959"/>
                    <a:pt x="104331" y="0"/>
                    <a:pt x="1419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74080" cy="69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93689" y="3532619"/>
            <a:ext cx="1631966" cy="33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3"/>
              </a:lnSpc>
            </a:pPr>
            <a:r>
              <a:rPr lang="en-US" b="true" sz="2002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Engagement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180500" y="283450"/>
            <a:ext cx="1497584" cy="1570206"/>
          </a:xfrm>
          <a:custGeom>
            <a:avLst/>
            <a:gdLst/>
            <a:ahLst/>
            <a:cxnLst/>
            <a:rect r="r" b="b" t="t" l="l"/>
            <a:pathLst>
              <a:path h="1570206" w="1497584">
                <a:moveTo>
                  <a:pt x="0" y="0"/>
                </a:moveTo>
                <a:lnTo>
                  <a:pt x="1497584" y="0"/>
                </a:lnTo>
                <a:lnTo>
                  <a:pt x="1497584" y="1570206"/>
                </a:lnTo>
                <a:lnTo>
                  <a:pt x="0" y="157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28700" y="0"/>
            <a:ext cx="2395410" cy="917511"/>
            <a:chOff x="0" y="0"/>
            <a:chExt cx="3193880" cy="1223348"/>
          </a:xfrm>
        </p:grpSpPr>
        <p:sp>
          <p:nvSpPr>
            <p:cNvPr name="Freeform 22" id="22"/>
            <p:cNvSpPr/>
            <p:nvPr/>
          </p:nvSpPr>
          <p:spPr>
            <a:xfrm flipH="false" flipV="false" rot="-1739048">
              <a:off x="120254" y="219994"/>
              <a:ext cx="1110477" cy="783360"/>
            </a:xfrm>
            <a:custGeom>
              <a:avLst/>
              <a:gdLst/>
              <a:ahLst/>
              <a:cxnLst/>
              <a:rect r="r" b="b" t="t" l="l"/>
              <a:pathLst>
                <a:path h="783360" w="1110477">
                  <a:moveTo>
                    <a:pt x="0" y="0"/>
                  </a:moveTo>
                  <a:lnTo>
                    <a:pt x="1110477" y="0"/>
                  </a:lnTo>
                  <a:lnTo>
                    <a:pt x="1110477" y="783360"/>
                  </a:lnTo>
                  <a:lnTo>
                    <a:pt x="0" y="7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754582" y="650071"/>
              <a:ext cx="2439298" cy="457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0"/>
                </a:lnSpc>
              </a:pPr>
              <a:r>
                <a:rPr lang="en-US" b="true" sz="2354" i="true" spc="37">
                  <a:gradFill>
                    <a:gsLst>
                      <a:gs pos="0">
                        <a:srgbClr val="00172C">
                          <a:alpha val="100000"/>
                        </a:srgbClr>
                      </a:gs>
                      <a:gs pos="100000">
                        <a:srgbClr val="2961BC">
                          <a:alpha val="100000"/>
                        </a:srgbClr>
                      </a:gs>
                    </a:gsLst>
                    <a:lin ang="0"/>
                  </a:gra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LearnEdge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0" y="0"/>
            <a:ext cx="1264171" cy="693183"/>
          </a:xfrm>
          <a:custGeom>
            <a:avLst/>
            <a:gdLst/>
            <a:ahLst/>
            <a:cxnLst/>
            <a:rect r="r" b="b" t="t" l="l"/>
            <a:pathLst>
              <a:path h="693183" w="1264171">
                <a:moveTo>
                  <a:pt x="0" y="0"/>
                </a:moveTo>
                <a:lnTo>
                  <a:pt x="1264171" y="0"/>
                </a:lnTo>
                <a:lnTo>
                  <a:pt x="1264171" y="693183"/>
                </a:lnTo>
                <a:lnTo>
                  <a:pt x="0" y="6931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35043" y="522208"/>
            <a:ext cx="4951311" cy="57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0"/>
              </a:lnSpc>
            </a:pPr>
            <a:r>
              <a:rPr lang="en-US" b="true" sz="3947" spc="-146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METRICS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576869" y="2821052"/>
            <a:ext cx="1937942" cy="1798343"/>
            <a:chOff x="0" y="0"/>
            <a:chExt cx="764239" cy="7091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4239" cy="709188"/>
            </a:xfrm>
            <a:custGeom>
              <a:avLst/>
              <a:gdLst/>
              <a:ahLst/>
              <a:cxnLst/>
              <a:rect r="r" b="b" t="t" l="l"/>
              <a:pathLst>
                <a:path h="709188" w="764239">
                  <a:moveTo>
                    <a:pt x="143817" y="0"/>
                  </a:moveTo>
                  <a:lnTo>
                    <a:pt x="620422" y="0"/>
                  </a:lnTo>
                  <a:cubicBezTo>
                    <a:pt x="699850" y="0"/>
                    <a:pt x="764239" y="64389"/>
                    <a:pt x="764239" y="143817"/>
                  </a:cubicBezTo>
                  <a:lnTo>
                    <a:pt x="764239" y="565371"/>
                  </a:lnTo>
                  <a:cubicBezTo>
                    <a:pt x="764239" y="644799"/>
                    <a:pt x="699850" y="709188"/>
                    <a:pt x="620422" y="709188"/>
                  </a:cubicBezTo>
                  <a:lnTo>
                    <a:pt x="143817" y="709188"/>
                  </a:lnTo>
                  <a:cubicBezTo>
                    <a:pt x="64389" y="709188"/>
                    <a:pt x="0" y="644799"/>
                    <a:pt x="0" y="565371"/>
                  </a:cubicBezTo>
                  <a:lnTo>
                    <a:pt x="0" y="143817"/>
                  </a:lnTo>
                  <a:cubicBezTo>
                    <a:pt x="0" y="64389"/>
                    <a:pt x="64389" y="0"/>
                    <a:pt x="1438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764239" cy="69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72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859045" y="3532619"/>
            <a:ext cx="1373590" cy="33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3"/>
              </a:lnSpc>
            </a:pPr>
            <a:r>
              <a:rPr lang="en-US" b="true" sz="2002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86311" y="3529966"/>
            <a:ext cx="2420022" cy="33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7"/>
              </a:lnSpc>
            </a:pPr>
            <a:r>
              <a:rPr lang="en-US" b="true" sz="1998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Career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15708" y="3529966"/>
            <a:ext cx="2420022" cy="33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7"/>
              </a:lnSpc>
            </a:pPr>
            <a:r>
              <a:rPr lang="en-US" b="true" sz="1998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7209" y="4997654"/>
            <a:ext cx="1755880" cy="18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9"/>
              </a:lnSpc>
            </a:pPr>
            <a:r>
              <a:rPr lang="en-US" b="true" sz="1291" spc="2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JOURNEY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84538" y="4734684"/>
            <a:ext cx="13678084" cy="2764731"/>
            <a:chOff x="0" y="0"/>
            <a:chExt cx="3545233" cy="7165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45233" cy="716593"/>
            </a:xfrm>
            <a:custGeom>
              <a:avLst/>
              <a:gdLst/>
              <a:ahLst/>
              <a:cxnLst/>
              <a:rect r="r" b="b" t="t" l="l"/>
              <a:pathLst>
                <a:path h="716593" w="3545233">
                  <a:moveTo>
                    <a:pt x="28866" y="0"/>
                  </a:moveTo>
                  <a:lnTo>
                    <a:pt x="3516367" y="0"/>
                  </a:lnTo>
                  <a:cubicBezTo>
                    <a:pt x="3524022" y="0"/>
                    <a:pt x="3531365" y="3041"/>
                    <a:pt x="3536778" y="8455"/>
                  </a:cubicBezTo>
                  <a:cubicBezTo>
                    <a:pt x="3542192" y="13868"/>
                    <a:pt x="3545233" y="21211"/>
                    <a:pt x="3545233" y="28866"/>
                  </a:cubicBezTo>
                  <a:lnTo>
                    <a:pt x="3545233" y="687726"/>
                  </a:lnTo>
                  <a:cubicBezTo>
                    <a:pt x="3545233" y="695382"/>
                    <a:pt x="3542192" y="702724"/>
                    <a:pt x="3536778" y="708138"/>
                  </a:cubicBezTo>
                  <a:cubicBezTo>
                    <a:pt x="3531365" y="713551"/>
                    <a:pt x="3524022" y="716593"/>
                    <a:pt x="3516367" y="716593"/>
                  </a:cubicBezTo>
                  <a:lnTo>
                    <a:pt x="28866" y="716593"/>
                  </a:lnTo>
                  <a:cubicBezTo>
                    <a:pt x="21211" y="716593"/>
                    <a:pt x="13868" y="713551"/>
                    <a:pt x="8455" y="708138"/>
                  </a:cubicBezTo>
                  <a:cubicBezTo>
                    <a:pt x="3041" y="702724"/>
                    <a:pt x="0" y="695382"/>
                    <a:pt x="0" y="687726"/>
                  </a:cubicBezTo>
                  <a:lnTo>
                    <a:pt x="0" y="28866"/>
                  </a:lnTo>
                  <a:cubicBezTo>
                    <a:pt x="0" y="21211"/>
                    <a:pt x="3041" y="13868"/>
                    <a:pt x="8455" y="8455"/>
                  </a:cubicBezTo>
                  <a:cubicBezTo>
                    <a:pt x="13868" y="3041"/>
                    <a:pt x="21211" y="0"/>
                    <a:pt x="28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545233" cy="707068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87814" y="4864490"/>
            <a:ext cx="5033891" cy="35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7"/>
              </a:lnSpc>
            </a:pPr>
            <a:r>
              <a:rPr lang="en-US" b="true" sz="2555" spc="4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Performance Metrics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84538" y="7474884"/>
            <a:ext cx="13678084" cy="2764731"/>
            <a:chOff x="0" y="0"/>
            <a:chExt cx="3545233" cy="71659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45233" cy="716593"/>
            </a:xfrm>
            <a:custGeom>
              <a:avLst/>
              <a:gdLst/>
              <a:ahLst/>
              <a:cxnLst/>
              <a:rect r="r" b="b" t="t" l="l"/>
              <a:pathLst>
                <a:path h="716593" w="3545233">
                  <a:moveTo>
                    <a:pt x="28866" y="0"/>
                  </a:moveTo>
                  <a:lnTo>
                    <a:pt x="3516367" y="0"/>
                  </a:lnTo>
                  <a:cubicBezTo>
                    <a:pt x="3524022" y="0"/>
                    <a:pt x="3531365" y="3041"/>
                    <a:pt x="3536778" y="8455"/>
                  </a:cubicBezTo>
                  <a:cubicBezTo>
                    <a:pt x="3542192" y="13868"/>
                    <a:pt x="3545233" y="21211"/>
                    <a:pt x="3545233" y="28866"/>
                  </a:cubicBezTo>
                  <a:lnTo>
                    <a:pt x="3545233" y="687726"/>
                  </a:lnTo>
                  <a:cubicBezTo>
                    <a:pt x="3545233" y="695382"/>
                    <a:pt x="3542192" y="702724"/>
                    <a:pt x="3536778" y="708138"/>
                  </a:cubicBezTo>
                  <a:cubicBezTo>
                    <a:pt x="3531365" y="713551"/>
                    <a:pt x="3524022" y="716593"/>
                    <a:pt x="3516367" y="716593"/>
                  </a:cubicBezTo>
                  <a:lnTo>
                    <a:pt x="28866" y="716593"/>
                  </a:lnTo>
                  <a:cubicBezTo>
                    <a:pt x="21211" y="716593"/>
                    <a:pt x="13868" y="713551"/>
                    <a:pt x="8455" y="708138"/>
                  </a:cubicBezTo>
                  <a:cubicBezTo>
                    <a:pt x="3041" y="702724"/>
                    <a:pt x="0" y="695382"/>
                    <a:pt x="0" y="687726"/>
                  </a:cubicBezTo>
                  <a:lnTo>
                    <a:pt x="0" y="28866"/>
                  </a:lnTo>
                  <a:cubicBezTo>
                    <a:pt x="0" y="21211"/>
                    <a:pt x="3041" y="13868"/>
                    <a:pt x="8455" y="8455"/>
                  </a:cubicBezTo>
                  <a:cubicBezTo>
                    <a:pt x="13868" y="3041"/>
                    <a:pt x="21211" y="0"/>
                    <a:pt x="28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72C">
                    <a:alpha val="100000"/>
                  </a:srgbClr>
                </a:gs>
                <a:gs pos="100000">
                  <a:srgbClr val="2961B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3545233" cy="707068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511355" y="8423465"/>
            <a:ext cx="1910926" cy="1714919"/>
            <a:chOff x="0" y="0"/>
            <a:chExt cx="467001" cy="419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7001" cy="419100"/>
            </a:xfrm>
            <a:custGeom>
              <a:avLst/>
              <a:gdLst/>
              <a:ahLst/>
              <a:cxnLst/>
              <a:rect r="r" b="b" t="t" l="l"/>
              <a:pathLst>
                <a:path h="419100" w="467001">
                  <a:moveTo>
                    <a:pt x="79129" y="0"/>
                  </a:moveTo>
                  <a:lnTo>
                    <a:pt x="387872" y="0"/>
                  </a:lnTo>
                  <a:cubicBezTo>
                    <a:pt x="431574" y="0"/>
                    <a:pt x="467001" y="35427"/>
                    <a:pt x="467001" y="79129"/>
                  </a:cubicBezTo>
                  <a:lnTo>
                    <a:pt x="467001" y="339971"/>
                  </a:lnTo>
                  <a:cubicBezTo>
                    <a:pt x="467001" y="360957"/>
                    <a:pt x="458664" y="381084"/>
                    <a:pt x="443825" y="395924"/>
                  </a:cubicBezTo>
                  <a:cubicBezTo>
                    <a:pt x="428985" y="410763"/>
                    <a:pt x="408858" y="419100"/>
                    <a:pt x="387872" y="419100"/>
                  </a:cubicBezTo>
                  <a:lnTo>
                    <a:pt x="79129" y="419100"/>
                  </a:lnTo>
                  <a:cubicBezTo>
                    <a:pt x="35427" y="419100"/>
                    <a:pt x="0" y="383673"/>
                    <a:pt x="0" y="339971"/>
                  </a:cubicBezTo>
                  <a:lnTo>
                    <a:pt x="0" y="79129"/>
                  </a:lnTo>
                  <a:cubicBezTo>
                    <a:pt x="0" y="35427"/>
                    <a:pt x="35427" y="0"/>
                    <a:pt x="79129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467001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Refrerral Rate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39668" y="7743520"/>
            <a:ext cx="5033891" cy="35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7"/>
              </a:lnSpc>
            </a:pPr>
            <a:r>
              <a:rPr lang="en-US" b="true" sz="2555" spc="4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 Metrics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13570" y="8400840"/>
            <a:ext cx="1707277" cy="1714919"/>
            <a:chOff x="0" y="0"/>
            <a:chExt cx="417232" cy="419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Repeat Purchase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41216" y="8423465"/>
            <a:ext cx="1670620" cy="1714919"/>
            <a:chOff x="0" y="0"/>
            <a:chExt cx="408274" cy="419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8274" cy="419100"/>
            </a:xfrm>
            <a:custGeom>
              <a:avLst/>
              <a:gdLst/>
              <a:ahLst/>
              <a:cxnLst/>
              <a:rect r="r" b="b" t="t" l="l"/>
              <a:pathLst>
                <a:path h="419100" w="408274">
                  <a:moveTo>
                    <a:pt x="90511" y="0"/>
                  </a:moveTo>
                  <a:lnTo>
                    <a:pt x="317763" y="0"/>
                  </a:lnTo>
                  <a:cubicBezTo>
                    <a:pt x="367751" y="0"/>
                    <a:pt x="408274" y="40523"/>
                    <a:pt x="408274" y="90511"/>
                  </a:cubicBezTo>
                  <a:lnTo>
                    <a:pt x="408274" y="328589"/>
                  </a:lnTo>
                  <a:cubicBezTo>
                    <a:pt x="408274" y="352594"/>
                    <a:pt x="398738" y="375616"/>
                    <a:pt x="381764" y="392590"/>
                  </a:cubicBezTo>
                  <a:cubicBezTo>
                    <a:pt x="364790" y="409564"/>
                    <a:pt x="341768" y="419100"/>
                    <a:pt x="317763" y="419100"/>
                  </a:cubicBezTo>
                  <a:lnTo>
                    <a:pt x="90511" y="419100"/>
                  </a:lnTo>
                  <a:cubicBezTo>
                    <a:pt x="66506" y="419100"/>
                    <a:pt x="43484" y="409564"/>
                    <a:pt x="26510" y="392590"/>
                  </a:cubicBezTo>
                  <a:cubicBezTo>
                    <a:pt x="9536" y="375616"/>
                    <a:pt x="0" y="352594"/>
                    <a:pt x="0" y="328589"/>
                  </a:cubicBezTo>
                  <a:lnTo>
                    <a:pt x="0" y="90511"/>
                  </a:lnTo>
                  <a:cubicBezTo>
                    <a:pt x="0" y="66506"/>
                    <a:pt x="9536" y="43484"/>
                    <a:pt x="26510" y="26510"/>
                  </a:cubicBezTo>
                  <a:cubicBezTo>
                    <a:pt x="43484" y="9536"/>
                    <a:pt x="66506" y="0"/>
                    <a:pt x="90511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19050"/>
              <a:ext cx="408274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LTV:CAC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859462" y="8423465"/>
            <a:ext cx="2001014" cy="1714919"/>
            <a:chOff x="0" y="0"/>
            <a:chExt cx="489017" cy="419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9017" cy="419100"/>
            </a:xfrm>
            <a:custGeom>
              <a:avLst/>
              <a:gdLst/>
              <a:ahLst/>
              <a:cxnLst/>
              <a:rect r="r" b="b" t="t" l="l"/>
              <a:pathLst>
                <a:path h="419100" w="489017">
                  <a:moveTo>
                    <a:pt x="75566" y="0"/>
                  </a:moveTo>
                  <a:lnTo>
                    <a:pt x="413451" y="0"/>
                  </a:lnTo>
                  <a:cubicBezTo>
                    <a:pt x="455185" y="0"/>
                    <a:pt x="489017" y="33832"/>
                    <a:pt x="489017" y="75566"/>
                  </a:cubicBezTo>
                  <a:lnTo>
                    <a:pt x="489017" y="343534"/>
                  </a:lnTo>
                  <a:cubicBezTo>
                    <a:pt x="489017" y="363575"/>
                    <a:pt x="481056" y="382796"/>
                    <a:pt x="466884" y="396967"/>
                  </a:cubicBezTo>
                  <a:cubicBezTo>
                    <a:pt x="452713" y="411139"/>
                    <a:pt x="433492" y="419100"/>
                    <a:pt x="413451" y="419100"/>
                  </a:cubicBezTo>
                  <a:lnTo>
                    <a:pt x="75566" y="419100"/>
                  </a:lnTo>
                  <a:cubicBezTo>
                    <a:pt x="55525" y="419100"/>
                    <a:pt x="36304" y="411139"/>
                    <a:pt x="22133" y="396967"/>
                  </a:cubicBezTo>
                  <a:cubicBezTo>
                    <a:pt x="7961" y="382796"/>
                    <a:pt x="0" y="363575"/>
                    <a:pt x="0" y="343534"/>
                  </a:cubicBezTo>
                  <a:lnTo>
                    <a:pt x="0" y="75566"/>
                  </a:lnTo>
                  <a:cubicBezTo>
                    <a:pt x="0" y="55525"/>
                    <a:pt x="7961" y="36304"/>
                    <a:pt x="22133" y="22133"/>
                  </a:cubicBezTo>
                  <a:cubicBezTo>
                    <a:pt x="36304" y="7961"/>
                    <a:pt x="55525" y="0"/>
                    <a:pt x="75566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19050"/>
              <a:ext cx="489017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B2B Renewal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90156" y="8400840"/>
            <a:ext cx="2000592" cy="1714919"/>
            <a:chOff x="0" y="0"/>
            <a:chExt cx="488914" cy="419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8914" cy="419100"/>
            </a:xfrm>
            <a:custGeom>
              <a:avLst/>
              <a:gdLst/>
              <a:ahLst/>
              <a:cxnLst/>
              <a:rect r="r" b="b" t="t" l="l"/>
              <a:pathLst>
                <a:path h="419100" w="488914">
                  <a:moveTo>
                    <a:pt x="75582" y="0"/>
                  </a:moveTo>
                  <a:lnTo>
                    <a:pt x="413332" y="0"/>
                  </a:lnTo>
                  <a:cubicBezTo>
                    <a:pt x="455075" y="0"/>
                    <a:pt x="488914" y="33839"/>
                    <a:pt x="488914" y="75582"/>
                  </a:cubicBezTo>
                  <a:lnTo>
                    <a:pt x="488914" y="343518"/>
                  </a:lnTo>
                  <a:cubicBezTo>
                    <a:pt x="488914" y="385261"/>
                    <a:pt x="455075" y="419100"/>
                    <a:pt x="413332" y="419100"/>
                  </a:cubicBezTo>
                  <a:lnTo>
                    <a:pt x="75582" y="419100"/>
                  </a:lnTo>
                  <a:cubicBezTo>
                    <a:pt x="33839" y="419100"/>
                    <a:pt x="0" y="385261"/>
                    <a:pt x="0" y="343518"/>
                  </a:cubicBezTo>
                  <a:lnTo>
                    <a:pt x="0" y="75582"/>
                  </a:lnTo>
                  <a:cubicBezTo>
                    <a:pt x="0" y="33839"/>
                    <a:pt x="33839" y="0"/>
                    <a:pt x="75582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19050"/>
              <a:ext cx="488914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Readiness Score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33886" y="8400840"/>
            <a:ext cx="1707277" cy="1714919"/>
            <a:chOff x="0" y="0"/>
            <a:chExt cx="417232" cy="4191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Employer Recognition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13183" y="5309711"/>
            <a:ext cx="1707277" cy="1714919"/>
            <a:chOff x="0" y="0"/>
            <a:chExt cx="417232" cy="4191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Day 7 Activation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18698" y="5309711"/>
            <a:ext cx="1707277" cy="1714919"/>
            <a:chOff x="0" y="0"/>
            <a:chExt cx="417232" cy="4191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WAU/MAU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784212" y="5309711"/>
            <a:ext cx="1707277" cy="1714919"/>
            <a:chOff x="0" y="0"/>
            <a:chExt cx="417232" cy="4191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7-day Streak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948689" y="5309711"/>
            <a:ext cx="1791014" cy="1714919"/>
            <a:chOff x="0" y="0"/>
            <a:chExt cx="437696" cy="4191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7696" cy="419100"/>
            </a:xfrm>
            <a:custGeom>
              <a:avLst/>
              <a:gdLst/>
              <a:ahLst/>
              <a:cxnLst/>
              <a:rect r="r" b="b" t="t" l="l"/>
              <a:pathLst>
                <a:path h="419100" w="437696">
                  <a:moveTo>
                    <a:pt x="84427" y="0"/>
                  </a:moveTo>
                  <a:lnTo>
                    <a:pt x="353270" y="0"/>
                  </a:lnTo>
                  <a:cubicBezTo>
                    <a:pt x="399897" y="0"/>
                    <a:pt x="437696" y="37799"/>
                    <a:pt x="437696" y="84427"/>
                  </a:cubicBezTo>
                  <a:lnTo>
                    <a:pt x="437696" y="334673"/>
                  </a:lnTo>
                  <a:cubicBezTo>
                    <a:pt x="437696" y="381301"/>
                    <a:pt x="399897" y="419100"/>
                    <a:pt x="353270" y="419100"/>
                  </a:cubicBezTo>
                  <a:lnTo>
                    <a:pt x="84427" y="419100"/>
                  </a:lnTo>
                  <a:cubicBezTo>
                    <a:pt x="37799" y="419100"/>
                    <a:pt x="0" y="381301"/>
                    <a:pt x="0" y="334673"/>
                  </a:cubicBezTo>
                  <a:lnTo>
                    <a:pt x="0" y="84427"/>
                  </a:lnTo>
                  <a:cubicBezTo>
                    <a:pt x="0" y="37799"/>
                    <a:pt x="37799" y="0"/>
                    <a:pt x="84427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19050"/>
              <a:ext cx="437696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Sprint Completion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13166" y="5309711"/>
            <a:ext cx="1707277" cy="1714919"/>
            <a:chOff x="0" y="0"/>
            <a:chExt cx="417232" cy="4191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Time to Cart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326862" y="5309711"/>
            <a:ext cx="1707277" cy="1714919"/>
            <a:chOff x="0" y="0"/>
            <a:chExt cx="417232" cy="4191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7232" cy="419100"/>
            </a:xfrm>
            <a:custGeom>
              <a:avLst/>
              <a:gdLst/>
              <a:ahLst/>
              <a:cxnLst/>
              <a:rect r="r" b="b" t="t" l="l"/>
              <a:pathLst>
                <a:path h="419100" w="417232">
                  <a:moveTo>
                    <a:pt x="88568" y="0"/>
                  </a:moveTo>
                  <a:lnTo>
                    <a:pt x="328665" y="0"/>
                  </a:lnTo>
                  <a:cubicBezTo>
                    <a:pt x="352154" y="0"/>
                    <a:pt x="374682" y="9331"/>
                    <a:pt x="391292" y="25941"/>
                  </a:cubicBezTo>
                  <a:cubicBezTo>
                    <a:pt x="407901" y="42550"/>
                    <a:pt x="417232" y="65078"/>
                    <a:pt x="417232" y="88568"/>
                  </a:cubicBezTo>
                  <a:lnTo>
                    <a:pt x="417232" y="330532"/>
                  </a:lnTo>
                  <a:cubicBezTo>
                    <a:pt x="417232" y="354022"/>
                    <a:pt x="407901" y="376550"/>
                    <a:pt x="391292" y="393159"/>
                  </a:cubicBezTo>
                  <a:cubicBezTo>
                    <a:pt x="374682" y="409769"/>
                    <a:pt x="352154" y="419100"/>
                    <a:pt x="328665" y="419100"/>
                  </a:cubicBezTo>
                  <a:lnTo>
                    <a:pt x="88568" y="419100"/>
                  </a:lnTo>
                  <a:cubicBezTo>
                    <a:pt x="65078" y="419100"/>
                    <a:pt x="42550" y="409769"/>
                    <a:pt x="25941" y="393159"/>
                  </a:cubicBezTo>
                  <a:cubicBezTo>
                    <a:pt x="9331" y="376550"/>
                    <a:pt x="0" y="354022"/>
                    <a:pt x="0" y="330532"/>
                  </a:cubicBezTo>
                  <a:lnTo>
                    <a:pt x="0" y="88568"/>
                  </a:lnTo>
                  <a:cubicBezTo>
                    <a:pt x="0" y="65078"/>
                    <a:pt x="9331" y="42550"/>
                    <a:pt x="25941" y="25941"/>
                  </a:cubicBezTo>
                  <a:cubicBezTo>
                    <a:pt x="42550" y="9331"/>
                    <a:pt x="65078" y="0"/>
                    <a:pt x="88568" y="0"/>
                  </a:cubicBezTo>
                  <a:close/>
                </a:path>
              </a:pathLst>
            </a:custGeom>
            <a:solidFill>
              <a:srgbClr val="CFE0E6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19050"/>
              <a:ext cx="417232" cy="400050"/>
            </a:xfrm>
            <a:prstGeom prst="rect">
              <a:avLst/>
            </a:prstGeom>
          </p:spPr>
          <p:txBody>
            <a:bodyPr anchor="ctr" rtlCol="false" tIns="51620" lIns="51620" bIns="51620" rIns="51620"/>
            <a:lstStyle/>
            <a:p>
              <a:pPr algn="ctr">
                <a:lnSpc>
                  <a:spcPts val="2598"/>
                </a:lnSpc>
              </a:pPr>
              <a:r>
                <a:rPr lang="en-US" sz="2299" spc="36">
                  <a:solidFill>
                    <a:srgbClr val="0063C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Badge Score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DAHJefISPi0</dc:identifier>
  <dcterms:modified xsi:type="dcterms:W3CDTF">2011-08-01T06:04:30Z</dcterms:modified>
  <cp:revision>1</cp:revision>
  <dc:title>Non Text Magic Studio Magic Design for Presentations L&amp;P</dc:title>
</cp:coreProperties>
</file>