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Real GDP Growth (%)</a:t>
            </a:r>
          </a:p>
        </c:rich>
      </c:tx>
      <c:overlay val="0"/>
    </c:title>
    <c:autoTitleDeleted val="0"/>
    <c:plotArea>
      <c:layout/>
      <c:barChart>
        <c:barDir val="col"/>
        <c:grouping val="clustered"/>
        <c:varyColors val="0"/>
        <c:ser>
          <c:idx val="0"/>
          <c:order val="0"/>
          <c:tx>
            <c:strRef>
              <c:f>Sheet1!$B$1</c:f>
              <c:strCache>
                <c:ptCount val="1"/>
                <c:pt idx="0">
                  <c:v>GDP Growth (%)</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1-3B21-498A-8DB6-8CC8D40DDD4D}"/>
              </c:ext>
            </c:extLst>
          </c:dPt>
          <c:dPt>
            <c:idx val="1"/>
            <c:invertIfNegative val="0"/>
            <c:bubble3D val="0"/>
            <c:extLst>
              <c:ext xmlns:c16="http://schemas.microsoft.com/office/drawing/2014/chart" uri="{C3380CC4-5D6E-409C-BE32-E72D297353CC}">
                <c16:uniqueId val="{00000003-3B21-498A-8DB6-8CC8D40DDD4D}"/>
              </c:ext>
            </c:extLst>
          </c:dPt>
          <c:dPt>
            <c:idx val="2"/>
            <c:invertIfNegative val="0"/>
            <c:bubble3D val="0"/>
            <c:extLst>
              <c:ext xmlns:c16="http://schemas.microsoft.com/office/drawing/2014/chart" uri="{C3380CC4-5D6E-409C-BE32-E72D297353CC}">
                <c16:uniqueId val="{00000005-3B21-498A-8DB6-8CC8D40DDD4D}"/>
              </c:ext>
            </c:extLst>
          </c:dPt>
          <c:dPt>
            <c:idx val="3"/>
            <c:invertIfNegative val="0"/>
            <c:bubble3D val="0"/>
            <c:spPr>
              <a:solidFill>
                <a:srgbClr val="C0392B"/>
              </a:solidFill>
              <a:effectLst/>
            </c:spPr>
            <c:extLst>
              <c:ext xmlns:c16="http://schemas.microsoft.com/office/drawing/2014/chart" uri="{C3380CC4-5D6E-409C-BE32-E72D297353CC}">
                <c16:uniqueId val="{00000007-3B21-498A-8DB6-8CC8D40DDD4D}"/>
              </c:ext>
            </c:extLst>
          </c:dPt>
          <c:dPt>
            <c:idx val="4"/>
            <c:invertIfNegative val="0"/>
            <c:bubble3D val="0"/>
            <c:spPr>
              <a:solidFill>
                <a:srgbClr val="D4A017"/>
              </a:solidFill>
              <a:effectLst/>
            </c:spPr>
            <c:extLst>
              <c:ext xmlns:c16="http://schemas.microsoft.com/office/drawing/2014/chart" uri="{C3380CC4-5D6E-409C-BE32-E72D297353CC}">
                <c16:uniqueId val="{00000009-3B21-498A-8DB6-8CC8D40DDD4D}"/>
              </c:ext>
            </c:extLst>
          </c:dPt>
          <c:dPt>
            <c:idx val="5"/>
            <c:invertIfNegative val="0"/>
            <c:bubble3D val="0"/>
            <c:spPr>
              <a:solidFill>
                <a:srgbClr val="D4A017"/>
              </a:solidFill>
              <a:effectLst/>
            </c:spPr>
            <c:extLst>
              <c:ext xmlns:c16="http://schemas.microsoft.com/office/drawing/2014/chart" uri="{C3380CC4-5D6E-409C-BE32-E72D297353CC}">
                <c16:uniqueId val="{0000000B-3B21-498A-8DB6-8CC8D40DDD4D}"/>
              </c:ext>
            </c:extLst>
          </c:dPt>
          <c:dLbls>
            <c:numFmt formatCode="#,##0" sourceLinked="0"/>
            <c:spPr>
              <a:noFill/>
              <a:ln>
                <a:noFill/>
              </a:ln>
              <a:effectLst/>
            </c:spPr>
            <c:txPr>
              <a:bodyPr/>
              <a:lstStyle/>
              <a:p>
                <a:pPr>
                  <a:defRPr sz="9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2022</c:v>
                </c:pt>
                <c:pt idx="1">
                  <c:v>2023</c:v>
                </c:pt>
                <c:pt idx="2">
                  <c:v>2024</c:v>
                </c:pt>
                <c:pt idx="3">
                  <c:v>2025*</c:v>
                </c:pt>
                <c:pt idx="4">
                  <c:v>2026F</c:v>
                </c:pt>
                <c:pt idx="5">
                  <c:v>2027F</c:v>
                </c:pt>
              </c:strCache>
            </c:strRef>
          </c:cat>
          <c:val>
            <c:numRef>
              <c:f>Sheet1!$B$2:$B$7</c:f>
              <c:numCache>
                <c:formatCode>General</c:formatCode>
                <c:ptCount val="6"/>
                <c:pt idx="0">
                  <c:v>8</c:v>
                </c:pt>
                <c:pt idx="1">
                  <c:v>5.0999999999999996</c:v>
                </c:pt>
                <c:pt idx="2">
                  <c:v>7.1</c:v>
                </c:pt>
                <c:pt idx="3">
                  <c:v>8.02</c:v>
                </c:pt>
                <c:pt idx="4">
                  <c:v>6.1</c:v>
                </c:pt>
                <c:pt idx="5">
                  <c:v>6.5</c:v>
                </c:pt>
              </c:numCache>
            </c:numRef>
          </c:val>
          <c:extLst>
            <c:ext xmlns:c16="http://schemas.microsoft.com/office/drawing/2014/chart" uri="{C3380CC4-5D6E-409C-BE32-E72D297353CC}">
              <c16:uniqueId val="{0000000C-3B21-498A-8DB6-8CC8D40DDD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CPI &amp; Core Inflation (%)</a:t>
            </a:r>
          </a:p>
        </c:rich>
      </c:tx>
      <c:overlay val="0"/>
    </c:title>
    <c:autoTitleDeleted val="0"/>
    <c:plotArea>
      <c:layout/>
      <c:lineChart>
        <c:grouping val="standard"/>
        <c:varyColors val="0"/>
        <c:ser>
          <c:idx val="0"/>
          <c:order val="0"/>
          <c:tx>
            <c:strRef>
              <c:f>Sheet1!$B$1</c:f>
              <c:strCache>
                <c:ptCount val="1"/>
                <c:pt idx="0">
                  <c:v>CPI Inflation (%)</c:v>
                </c:pt>
              </c:strCache>
            </c:strRef>
          </c:tx>
          <c:spPr>
            <a:ln w="25400" cap="flat">
              <a:solidFill>
                <a:srgbClr val="C0392B"/>
              </a:solidFill>
              <a:prstDash val="solid"/>
              <a:round/>
            </a:ln>
            <a:effectLst/>
          </c:spPr>
          <c:marker>
            <c:symbol val="circle"/>
            <c:size val="6"/>
            <c:spPr>
              <a:solidFill>
                <a:srgbClr val="C0392B"/>
              </a:solidFill>
              <a:ln w="9525" cap="flat">
                <a:solidFill>
                  <a:srgbClr val="C0392B"/>
                </a:solidFill>
                <a:prstDash val="solid"/>
                <a:round/>
              </a:ln>
              <a:effectLst/>
            </c:spPr>
          </c:marker>
          <c:cat>
            <c:strRef>
              <c:f>Sheet1!$A$2:$A$7</c:f>
              <c:strCache>
                <c:ptCount val="6"/>
                <c:pt idx="0">
                  <c:v>2022</c:v>
                </c:pt>
                <c:pt idx="1">
                  <c:v>2023</c:v>
                </c:pt>
                <c:pt idx="2">
                  <c:v>2024</c:v>
                </c:pt>
                <c:pt idx="3">
                  <c:v>2025*</c:v>
                </c:pt>
                <c:pt idx="4">
                  <c:v>2026F</c:v>
                </c:pt>
                <c:pt idx="5">
                  <c:v>2027F</c:v>
                </c:pt>
              </c:strCache>
            </c:strRef>
          </c:cat>
          <c:val>
            <c:numRef>
              <c:f>Sheet1!$B$2:$B$7</c:f>
              <c:numCache>
                <c:formatCode>General</c:formatCode>
                <c:ptCount val="6"/>
                <c:pt idx="0">
                  <c:v>3.2</c:v>
                </c:pt>
                <c:pt idx="1">
                  <c:v>3.7</c:v>
                </c:pt>
                <c:pt idx="2">
                  <c:v>3.5</c:v>
                </c:pt>
                <c:pt idx="3">
                  <c:v>3.3</c:v>
                </c:pt>
                <c:pt idx="4">
                  <c:v>3.7</c:v>
                </c:pt>
                <c:pt idx="5">
                  <c:v>3.6</c:v>
                </c:pt>
              </c:numCache>
            </c:numRef>
          </c:val>
          <c:smooth val="1"/>
          <c:extLst>
            <c:ext xmlns:c16="http://schemas.microsoft.com/office/drawing/2014/chart" uri="{C3380CC4-5D6E-409C-BE32-E72D297353CC}">
              <c16:uniqueId val="{00000000-8208-46DE-ADAF-1E34BBF19867}"/>
            </c:ext>
          </c:extLst>
        </c:ser>
        <c:ser>
          <c:idx val="1"/>
          <c:order val="1"/>
          <c:tx>
            <c:strRef>
              <c:f>Sheet1!$C$1</c:f>
              <c:strCache>
                <c:ptCount val="1"/>
                <c:pt idx="0">
                  <c:v>Core Inflation (%)</c:v>
                </c:pt>
              </c:strCache>
            </c:strRef>
          </c:tx>
          <c:spPr>
            <a:ln w="25400" cap="flat">
              <a:solidFill>
                <a:srgbClr val="D4A017"/>
              </a:solidFill>
              <a:prstDash val="solid"/>
              <a:round/>
            </a:ln>
            <a:effectLst/>
          </c:spPr>
          <c:marker>
            <c:symbol val="circle"/>
            <c:size val="6"/>
            <c:spPr>
              <a:solidFill>
                <a:srgbClr val="D4A017"/>
              </a:solidFill>
              <a:ln w="9525" cap="flat">
                <a:solidFill>
                  <a:srgbClr val="D4A017"/>
                </a:solidFill>
                <a:prstDash val="solid"/>
                <a:round/>
              </a:ln>
              <a:effectLst/>
            </c:spPr>
          </c:marker>
          <c:cat>
            <c:strRef>
              <c:f>Sheet1!$A$2:$A$7</c:f>
              <c:strCache>
                <c:ptCount val="6"/>
                <c:pt idx="0">
                  <c:v>2022</c:v>
                </c:pt>
                <c:pt idx="1">
                  <c:v>2023</c:v>
                </c:pt>
                <c:pt idx="2">
                  <c:v>2024</c:v>
                </c:pt>
                <c:pt idx="3">
                  <c:v>2025*</c:v>
                </c:pt>
                <c:pt idx="4">
                  <c:v>2026F</c:v>
                </c:pt>
                <c:pt idx="5">
                  <c:v>2027F</c:v>
                </c:pt>
              </c:strCache>
            </c:strRef>
          </c:cat>
          <c:val>
            <c:numRef>
              <c:f>Sheet1!$C$2:$C$7</c:f>
              <c:numCache>
                <c:formatCode>General</c:formatCode>
                <c:ptCount val="6"/>
                <c:pt idx="0">
                  <c:v>2.7</c:v>
                </c:pt>
                <c:pt idx="1">
                  <c:v>4.2</c:v>
                </c:pt>
                <c:pt idx="2">
                  <c:v>3.4</c:v>
                </c:pt>
                <c:pt idx="3">
                  <c:v>3.1</c:v>
                </c:pt>
                <c:pt idx="4">
                  <c:v>3</c:v>
                </c:pt>
                <c:pt idx="5">
                  <c:v>3</c:v>
                </c:pt>
              </c:numCache>
            </c:numRef>
          </c:val>
          <c:smooth val="1"/>
          <c:extLst>
            <c:ext xmlns:c16="http://schemas.microsoft.com/office/drawing/2014/chart" uri="{C3380CC4-5D6E-409C-BE32-E72D297353CC}">
              <c16:uniqueId val="{00000001-8208-46DE-ADAF-1E34BBF1986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lblOffset val="100"/>
        <c:noMultiLvlLbl val="1"/>
      </c:catAx>
      <c:valAx>
        <c:axId val="2094734552"/>
        <c:scaling>
          <c:orientation val="minMax"/>
          <c:max val="6"/>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Trade — Exports &amp; Imports (US$ Bn)</a:t>
            </a:r>
          </a:p>
        </c:rich>
      </c:tx>
      <c:overlay val="0"/>
    </c:title>
    <c:autoTitleDeleted val="0"/>
    <c:plotArea>
      <c:layout/>
      <c:barChart>
        <c:barDir val="col"/>
        <c:grouping val="clustered"/>
        <c:varyColors val="0"/>
        <c:ser>
          <c:idx val="0"/>
          <c:order val="0"/>
          <c:tx>
            <c:strRef>
              <c:f>Sheet1!$B$1</c:f>
              <c:strCache>
                <c:ptCount val="1"/>
                <c:pt idx="0">
                  <c:v>Exports ($ Bn)</c:v>
                </c:pt>
              </c:strCache>
            </c:strRef>
          </c:tx>
          <c:spPr>
            <a:solidFill>
              <a:srgbClr val="1B2A4A"/>
            </a:solidFill>
            <a:effectLst/>
          </c:spPr>
          <c:invertIfNegative val="0"/>
          <c:cat>
            <c:strRef>
              <c:f>Sheet1!$A$2:$A$7</c:f>
              <c:strCache>
                <c:ptCount val="6"/>
                <c:pt idx="0">
                  <c:v>2022</c:v>
                </c:pt>
                <c:pt idx="1">
                  <c:v>2023</c:v>
                </c:pt>
                <c:pt idx="2">
                  <c:v>2024</c:v>
                </c:pt>
                <c:pt idx="3">
                  <c:v>2025*</c:v>
                </c:pt>
                <c:pt idx="4">
                  <c:v>2026F</c:v>
                </c:pt>
                <c:pt idx="5">
                  <c:v>2027F</c:v>
                </c:pt>
              </c:strCache>
            </c:strRef>
          </c:cat>
          <c:val>
            <c:numRef>
              <c:f>Sheet1!$B$2:$B$7</c:f>
              <c:numCache>
                <c:formatCode>General</c:formatCode>
                <c:ptCount val="6"/>
                <c:pt idx="0">
                  <c:v>371</c:v>
                </c:pt>
                <c:pt idx="1">
                  <c:v>354</c:v>
                </c:pt>
                <c:pt idx="2">
                  <c:v>405</c:v>
                </c:pt>
                <c:pt idx="3">
                  <c:v>446</c:v>
                </c:pt>
                <c:pt idx="4">
                  <c:v>430</c:v>
                </c:pt>
                <c:pt idx="5">
                  <c:v>455</c:v>
                </c:pt>
              </c:numCache>
            </c:numRef>
          </c:val>
          <c:extLst>
            <c:ext xmlns:c16="http://schemas.microsoft.com/office/drawing/2014/chart" uri="{C3380CC4-5D6E-409C-BE32-E72D297353CC}">
              <c16:uniqueId val="{00000000-9EAA-4FC5-A3E2-226C40B14E28}"/>
            </c:ext>
          </c:extLst>
        </c:ser>
        <c:ser>
          <c:idx val="1"/>
          <c:order val="1"/>
          <c:tx>
            <c:strRef>
              <c:f>Sheet1!$C$1</c:f>
              <c:strCache>
                <c:ptCount val="1"/>
                <c:pt idx="0">
                  <c:v>Imports ($ Bn)</c:v>
                </c:pt>
              </c:strCache>
            </c:strRef>
          </c:tx>
          <c:spPr>
            <a:solidFill>
              <a:srgbClr val="D4A017"/>
            </a:solidFill>
            <a:effectLst/>
          </c:spPr>
          <c:invertIfNegative val="0"/>
          <c:cat>
            <c:strRef>
              <c:f>Sheet1!$A$2:$A$7</c:f>
              <c:strCache>
                <c:ptCount val="6"/>
                <c:pt idx="0">
                  <c:v>2022</c:v>
                </c:pt>
                <c:pt idx="1">
                  <c:v>2023</c:v>
                </c:pt>
                <c:pt idx="2">
                  <c:v>2024</c:v>
                </c:pt>
                <c:pt idx="3">
                  <c:v>2025*</c:v>
                </c:pt>
                <c:pt idx="4">
                  <c:v>2026F</c:v>
                </c:pt>
                <c:pt idx="5">
                  <c:v>2027F</c:v>
                </c:pt>
              </c:strCache>
            </c:strRef>
          </c:cat>
          <c:val>
            <c:numRef>
              <c:f>Sheet1!$C$2:$C$7</c:f>
              <c:numCache>
                <c:formatCode>General</c:formatCode>
                <c:ptCount val="6"/>
                <c:pt idx="0">
                  <c:v>357</c:v>
                </c:pt>
                <c:pt idx="1">
                  <c:v>328</c:v>
                </c:pt>
                <c:pt idx="2">
                  <c:v>362</c:v>
                </c:pt>
                <c:pt idx="3">
                  <c:v>398</c:v>
                </c:pt>
                <c:pt idx="4">
                  <c:v>385</c:v>
                </c:pt>
                <c:pt idx="5">
                  <c:v>410</c:v>
                </c:pt>
              </c:numCache>
            </c:numRef>
          </c:val>
          <c:extLst>
            <c:ext xmlns:c16="http://schemas.microsoft.com/office/drawing/2014/chart" uri="{C3380CC4-5D6E-409C-BE32-E72D297353CC}">
              <c16:uniqueId val="{00000001-9EAA-4FC5-A3E2-226C40B14E2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Fiscal &amp; Current Account (% GDP)</a:t>
            </a:r>
          </a:p>
        </c:rich>
      </c:tx>
      <c:overlay val="0"/>
    </c:title>
    <c:autoTitleDeleted val="0"/>
    <c:plotArea>
      <c:layout/>
      <c:lineChart>
        <c:grouping val="standard"/>
        <c:varyColors val="0"/>
        <c:ser>
          <c:idx val="0"/>
          <c:order val="0"/>
          <c:tx>
            <c:strRef>
              <c:f>Sheet1!$B$1</c:f>
              <c:strCache>
                <c:ptCount val="1"/>
                <c:pt idx="0">
                  <c:v>Fiscal Deficit (% GDP)</c:v>
                </c:pt>
              </c:strCache>
            </c:strRef>
          </c:tx>
          <c:spPr>
            <a:ln w="25400" cap="flat">
              <a:solidFill>
                <a:srgbClr val="C0392B"/>
              </a:solidFill>
              <a:prstDash val="solid"/>
              <a:round/>
            </a:ln>
            <a:effectLst/>
          </c:spPr>
          <c:marker>
            <c:symbol val="circle"/>
            <c:size val="6"/>
            <c:spPr>
              <a:solidFill>
                <a:srgbClr val="C0392B"/>
              </a:solidFill>
              <a:ln w="9525" cap="flat">
                <a:solidFill>
                  <a:srgbClr val="C0392B"/>
                </a:solidFill>
                <a:prstDash val="solid"/>
                <a:round/>
              </a:ln>
              <a:effectLst/>
            </c:spPr>
          </c:marker>
          <c:cat>
            <c:strRef>
              <c:f>Sheet1!$A$2:$A$7</c:f>
              <c:strCache>
                <c:ptCount val="6"/>
                <c:pt idx="0">
                  <c:v>2022</c:v>
                </c:pt>
                <c:pt idx="1">
                  <c:v>2023</c:v>
                </c:pt>
                <c:pt idx="2">
                  <c:v>2024</c:v>
                </c:pt>
                <c:pt idx="3">
                  <c:v>2025*</c:v>
                </c:pt>
                <c:pt idx="4">
                  <c:v>2026F</c:v>
                </c:pt>
                <c:pt idx="5">
                  <c:v>2027F</c:v>
                </c:pt>
              </c:strCache>
            </c:strRef>
          </c:cat>
          <c:val>
            <c:numRef>
              <c:f>Sheet1!$B$2:$B$7</c:f>
              <c:numCache>
                <c:formatCode>General</c:formatCode>
                <c:ptCount val="6"/>
                <c:pt idx="0">
                  <c:v>-0.3</c:v>
                </c:pt>
                <c:pt idx="1">
                  <c:v>-1.3</c:v>
                </c:pt>
                <c:pt idx="2">
                  <c:v>-1.7</c:v>
                </c:pt>
                <c:pt idx="3">
                  <c:v>-2</c:v>
                </c:pt>
                <c:pt idx="4">
                  <c:v>-2.5</c:v>
                </c:pt>
                <c:pt idx="5">
                  <c:v>-2.5</c:v>
                </c:pt>
              </c:numCache>
            </c:numRef>
          </c:val>
          <c:smooth val="1"/>
          <c:extLst>
            <c:ext xmlns:c16="http://schemas.microsoft.com/office/drawing/2014/chart" uri="{C3380CC4-5D6E-409C-BE32-E72D297353CC}">
              <c16:uniqueId val="{00000000-AE2E-4F21-98B5-BD1975E33E52}"/>
            </c:ext>
          </c:extLst>
        </c:ser>
        <c:ser>
          <c:idx val="1"/>
          <c:order val="1"/>
          <c:tx>
            <c:strRef>
              <c:f>Sheet1!$C$1</c:f>
              <c:strCache>
                <c:ptCount val="1"/>
                <c:pt idx="0">
                  <c:v>Current Account (% GDP)</c:v>
                </c:pt>
              </c:strCache>
            </c:strRef>
          </c:tx>
          <c:spPr>
            <a:ln w="25400" cap="flat">
              <a:solidFill>
                <a:srgbClr val="1A7A4A"/>
              </a:solidFill>
              <a:prstDash val="solid"/>
              <a:round/>
            </a:ln>
            <a:effectLst/>
          </c:spPr>
          <c:marker>
            <c:symbol val="circle"/>
            <c:size val="6"/>
            <c:spPr>
              <a:solidFill>
                <a:srgbClr val="1A7A4A"/>
              </a:solidFill>
              <a:ln w="9525" cap="flat">
                <a:solidFill>
                  <a:srgbClr val="1A7A4A"/>
                </a:solidFill>
                <a:prstDash val="solid"/>
                <a:round/>
              </a:ln>
              <a:effectLst/>
            </c:spPr>
          </c:marker>
          <c:cat>
            <c:strRef>
              <c:f>Sheet1!$A$2:$A$7</c:f>
              <c:strCache>
                <c:ptCount val="6"/>
                <c:pt idx="0">
                  <c:v>2022</c:v>
                </c:pt>
                <c:pt idx="1">
                  <c:v>2023</c:v>
                </c:pt>
                <c:pt idx="2">
                  <c:v>2024</c:v>
                </c:pt>
                <c:pt idx="3">
                  <c:v>2025*</c:v>
                </c:pt>
                <c:pt idx="4">
                  <c:v>2026F</c:v>
                </c:pt>
                <c:pt idx="5">
                  <c:v>2027F</c:v>
                </c:pt>
              </c:strCache>
            </c:strRef>
          </c:cat>
          <c:val>
            <c:numRef>
              <c:f>Sheet1!$C$2:$C$7</c:f>
              <c:numCache>
                <c:formatCode>General</c:formatCode>
                <c:ptCount val="6"/>
                <c:pt idx="0">
                  <c:v>1.5</c:v>
                </c:pt>
                <c:pt idx="1">
                  <c:v>6.2</c:v>
                </c:pt>
                <c:pt idx="2">
                  <c:v>6.6</c:v>
                </c:pt>
                <c:pt idx="3">
                  <c:v>4.5</c:v>
                </c:pt>
                <c:pt idx="4">
                  <c:v>3.5</c:v>
                </c:pt>
                <c:pt idx="5">
                  <c:v>3</c:v>
                </c:pt>
              </c:numCache>
            </c:numRef>
          </c:val>
          <c:smooth val="1"/>
          <c:extLst>
            <c:ext xmlns:c16="http://schemas.microsoft.com/office/drawing/2014/chart" uri="{C3380CC4-5D6E-409C-BE32-E72D297353CC}">
              <c16:uniqueId val="{00000001-AE2E-4F21-98B5-BD1975E33E5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lblOffset val="100"/>
        <c:noMultiLvlLbl val="1"/>
      </c:catAx>
      <c:valAx>
        <c:axId val="2094734552"/>
        <c:scaling>
          <c:orientation val="minMax"/>
          <c:max val="8"/>
          <c:min val="-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Unemployment Rate (%)</a:t>
            </a:r>
          </a:p>
        </c:rich>
      </c:tx>
      <c:overlay val="0"/>
    </c:title>
    <c:autoTitleDeleted val="0"/>
    <c:plotArea>
      <c:layout/>
      <c:lineChart>
        <c:grouping val="standard"/>
        <c:varyColors val="0"/>
        <c:ser>
          <c:idx val="0"/>
          <c:order val="0"/>
          <c:tx>
            <c:strRef>
              <c:f>Sheet1!$B$1</c:f>
              <c:strCache>
                <c:ptCount val="1"/>
                <c:pt idx="0">
                  <c:v>Unemployment (%)</c:v>
                </c:pt>
              </c:strCache>
            </c:strRef>
          </c:tx>
          <c:spPr>
            <a:ln w="31750" cap="flat">
              <a:solidFill>
                <a:srgbClr val="1B2A4A"/>
              </a:solidFill>
              <a:prstDash val="solid"/>
              <a:round/>
            </a:ln>
            <a:effectLst/>
          </c:spPr>
          <c:marker>
            <c:symbol val="circle"/>
            <c:size val="6"/>
            <c:spPr>
              <a:solidFill>
                <a:srgbClr val="1B2A4A"/>
              </a:solidFill>
              <a:ln w="9525" cap="flat">
                <a:solidFill>
                  <a:srgbClr val="1B2A4A"/>
                </a:solidFill>
                <a:prstDash val="solid"/>
                <a:round/>
              </a:ln>
              <a:effectLst/>
            </c:spPr>
          </c:marker>
          <c:cat>
            <c:strRef>
              <c:f>Sheet1!$A$2:$A$7</c:f>
              <c:strCache>
                <c:ptCount val="6"/>
                <c:pt idx="0">
                  <c:v>2022</c:v>
                </c:pt>
                <c:pt idx="1">
                  <c:v>2023</c:v>
                </c:pt>
                <c:pt idx="2">
                  <c:v>2024</c:v>
                </c:pt>
                <c:pt idx="3">
                  <c:v>2025*</c:v>
                </c:pt>
                <c:pt idx="4">
                  <c:v>2026F</c:v>
                </c:pt>
                <c:pt idx="5">
                  <c:v>2027F</c:v>
                </c:pt>
              </c:strCache>
            </c:strRef>
          </c:cat>
          <c:val>
            <c:numRef>
              <c:f>Sheet1!$B$2:$B$7</c:f>
              <c:numCache>
                <c:formatCode>General</c:formatCode>
                <c:ptCount val="6"/>
                <c:pt idx="0">
                  <c:v>2.4</c:v>
                </c:pt>
                <c:pt idx="1">
                  <c:v>2.2999999999999998</c:v>
                </c:pt>
                <c:pt idx="2">
                  <c:v>2.2400000000000002</c:v>
                </c:pt>
                <c:pt idx="3">
                  <c:v>1.5</c:v>
                </c:pt>
                <c:pt idx="4">
                  <c:v>2</c:v>
                </c:pt>
                <c:pt idx="5">
                  <c:v>2.2000000000000002</c:v>
                </c:pt>
              </c:numCache>
            </c:numRef>
          </c:val>
          <c:smooth val="1"/>
          <c:extLst>
            <c:ext xmlns:c16="http://schemas.microsoft.com/office/drawing/2014/chart" uri="{C3380CC4-5D6E-409C-BE32-E72D297353CC}">
              <c16:uniqueId val="{00000000-F0E8-4F84-8297-BDDEED831D14}"/>
            </c:ext>
          </c:extLst>
        </c:ser>
        <c:ser>
          <c:idx val="1"/>
          <c:order val="1"/>
          <c:tx>
            <c:strRef>
              <c:f>Sheet1!$C$1</c:f>
              <c:strCache>
                <c:ptCount val="1"/>
                <c:pt idx="0">
                  <c:v>Youth Unemployment (%)</c:v>
                </c:pt>
              </c:strCache>
            </c:strRef>
          </c:tx>
          <c:spPr>
            <a:ln w="31750" cap="flat">
              <a:solidFill>
                <a:srgbClr val="C0392B"/>
              </a:solidFill>
              <a:prstDash val="solid"/>
              <a:round/>
            </a:ln>
            <a:effectLst/>
          </c:spPr>
          <c:marker>
            <c:symbol val="circle"/>
            <c:size val="6"/>
            <c:spPr>
              <a:solidFill>
                <a:srgbClr val="C0392B"/>
              </a:solidFill>
              <a:ln w="9525" cap="flat">
                <a:solidFill>
                  <a:srgbClr val="C0392B"/>
                </a:solidFill>
                <a:prstDash val="solid"/>
                <a:round/>
              </a:ln>
              <a:effectLst/>
            </c:spPr>
          </c:marker>
          <c:cat>
            <c:strRef>
              <c:f>Sheet1!$A$2:$A$7</c:f>
              <c:strCache>
                <c:ptCount val="6"/>
                <c:pt idx="0">
                  <c:v>2022</c:v>
                </c:pt>
                <c:pt idx="1">
                  <c:v>2023</c:v>
                </c:pt>
                <c:pt idx="2">
                  <c:v>2024</c:v>
                </c:pt>
                <c:pt idx="3">
                  <c:v>2025*</c:v>
                </c:pt>
                <c:pt idx="4">
                  <c:v>2026F</c:v>
                </c:pt>
                <c:pt idx="5">
                  <c:v>2027F</c:v>
                </c:pt>
              </c:strCache>
            </c:strRef>
          </c:cat>
          <c:val>
            <c:numRef>
              <c:f>Sheet1!$C$2:$C$7</c:f>
              <c:numCache>
                <c:formatCode>General</c:formatCode>
                <c:ptCount val="6"/>
                <c:pt idx="0">
                  <c:v>7.6</c:v>
                </c:pt>
                <c:pt idx="1">
                  <c:v>7.8</c:v>
                </c:pt>
                <c:pt idx="2">
                  <c:v>7.2</c:v>
                </c:pt>
                <c:pt idx="3">
                  <c:v>6.9</c:v>
                </c:pt>
                <c:pt idx="4">
                  <c:v>7</c:v>
                </c:pt>
                <c:pt idx="5">
                  <c:v>6.8</c:v>
                </c:pt>
              </c:numCache>
            </c:numRef>
          </c:val>
          <c:smooth val="1"/>
          <c:extLst>
            <c:ext xmlns:c16="http://schemas.microsoft.com/office/drawing/2014/chart" uri="{C3380CC4-5D6E-409C-BE32-E72D297353CC}">
              <c16:uniqueId val="{00000001-F0E8-4F84-8297-BDDEED831D1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Index of Industrial Production — Growth (%)</a:t>
            </a:r>
          </a:p>
        </c:rich>
      </c:tx>
      <c:overlay val="0"/>
    </c:title>
    <c:autoTitleDeleted val="0"/>
    <c:plotArea>
      <c:layout/>
      <c:barChart>
        <c:barDir val="col"/>
        <c:grouping val="clustered"/>
        <c:varyColors val="0"/>
        <c:ser>
          <c:idx val="0"/>
          <c:order val="0"/>
          <c:tx>
            <c:strRef>
              <c:f>Sheet1!$B$1</c:f>
              <c:strCache>
                <c:ptCount val="1"/>
                <c:pt idx="0">
                  <c:v>IIP Growth (%)</c:v>
                </c:pt>
              </c:strCache>
            </c:strRef>
          </c:tx>
          <c:spPr>
            <a:solidFill>
              <a:srgbClr val="0D7377"/>
            </a:solidFill>
            <a:effectLst/>
          </c:spPr>
          <c:invertIfNegative val="0"/>
          <c:dPt>
            <c:idx val="0"/>
            <c:invertIfNegative val="0"/>
            <c:bubble3D val="0"/>
            <c:extLst>
              <c:ext xmlns:c16="http://schemas.microsoft.com/office/drawing/2014/chart" uri="{C3380CC4-5D6E-409C-BE32-E72D297353CC}">
                <c16:uniqueId val="{00000001-9DA1-4A91-8397-FB0F3C19ABBA}"/>
              </c:ext>
            </c:extLst>
          </c:dPt>
          <c:dPt>
            <c:idx val="1"/>
            <c:invertIfNegative val="0"/>
            <c:bubble3D val="0"/>
            <c:extLst>
              <c:ext xmlns:c16="http://schemas.microsoft.com/office/drawing/2014/chart" uri="{C3380CC4-5D6E-409C-BE32-E72D297353CC}">
                <c16:uniqueId val="{00000003-9DA1-4A91-8397-FB0F3C19ABBA}"/>
              </c:ext>
            </c:extLst>
          </c:dPt>
          <c:dPt>
            <c:idx val="2"/>
            <c:invertIfNegative val="0"/>
            <c:bubble3D val="0"/>
            <c:extLst>
              <c:ext xmlns:c16="http://schemas.microsoft.com/office/drawing/2014/chart" uri="{C3380CC4-5D6E-409C-BE32-E72D297353CC}">
                <c16:uniqueId val="{00000005-9DA1-4A91-8397-FB0F3C19ABBA}"/>
              </c:ext>
            </c:extLst>
          </c:dPt>
          <c:dPt>
            <c:idx val="3"/>
            <c:invertIfNegative val="0"/>
            <c:bubble3D val="0"/>
            <c:spPr>
              <a:solidFill>
                <a:srgbClr val="C0392B"/>
              </a:solidFill>
              <a:effectLst/>
            </c:spPr>
            <c:extLst>
              <c:ext xmlns:c16="http://schemas.microsoft.com/office/drawing/2014/chart" uri="{C3380CC4-5D6E-409C-BE32-E72D297353CC}">
                <c16:uniqueId val="{00000007-9DA1-4A91-8397-FB0F3C19ABBA}"/>
              </c:ext>
            </c:extLst>
          </c:dPt>
          <c:dPt>
            <c:idx val="4"/>
            <c:invertIfNegative val="0"/>
            <c:bubble3D val="0"/>
            <c:spPr>
              <a:solidFill>
                <a:srgbClr val="D4A017"/>
              </a:solidFill>
              <a:effectLst/>
            </c:spPr>
            <c:extLst>
              <c:ext xmlns:c16="http://schemas.microsoft.com/office/drawing/2014/chart" uri="{C3380CC4-5D6E-409C-BE32-E72D297353CC}">
                <c16:uniqueId val="{00000009-9DA1-4A91-8397-FB0F3C19ABBA}"/>
              </c:ext>
            </c:extLst>
          </c:dPt>
          <c:dPt>
            <c:idx val="5"/>
            <c:invertIfNegative val="0"/>
            <c:bubble3D val="0"/>
            <c:spPr>
              <a:solidFill>
                <a:srgbClr val="D4A017"/>
              </a:solidFill>
              <a:effectLst/>
            </c:spPr>
            <c:extLst>
              <c:ext xmlns:c16="http://schemas.microsoft.com/office/drawing/2014/chart" uri="{C3380CC4-5D6E-409C-BE32-E72D297353CC}">
                <c16:uniqueId val="{0000000B-9DA1-4A91-8397-FB0F3C19ABBA}"/>
              </c:ext>
            </c:extLst>
          </c:dPt>
          <c:dLbls>
            <c:numFmt formatCode="#,##0" sourceLinked="0"/>
            <c:spPr>
              <a:noFill/>
              <a:ln>
                <a:noFill/>
              </a:ln>
              <a:effectLst/>
            </c:spPr>
            <c:txPr>
              <a:bodyPr/>
              <a:lstStyle/>
              <a:p>
                <a:pPr>
                  <a:defRPr sz="9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2022</c:v>
                </c:pt>
                <c:pt idx="1">
                  <c:v>2023</c:v>
                </c:pt>
                <c:pt idx="2">
                  <c:v>2024</c:v>
                </c:pt>
                <c:pt idx="3">
                  <c:v>2025*</c:v>
                </c:pt>
                <c:pt idx="4">
                  <c:v>2026F</c:v>
                </c:pt>
                <c:pt idx="5">
                  <c:v>2027F</c:v>
                </c:pt>
              </c:strCache>
            </c:strRef>
          </c:cat>
          <c:val>
            <c:numRef>
              <c:f>Sheet1!$B$2:$B$7</c:f>
              <c:numCache>
                <c:formatCode>General</c:formatCode>
                <c:ptCount val="6"/>
                <c:pt idx="0">
                  <c:v>7.8</c:v>
                </c:pt>
                <c:pt idx="1">
                  <c:v>1.5</c:v>
                </c:pt>
                <c:pt idx="2">
                  <c:v>8.9</c:v>
                </c:pt>
                <c:pt idx="3">
                  <c:v>9.6999999999999993</c:v>
                </c:pt>
                <c:pt idx="4">
                  <c:v>7.5</c:v>
                </c:pt>
                <c:pt idx="5">
                  <c:v>7</c:v>
                </c:pt>
              </c:numCache>
            </c:numRef>
          </c:val>
          <c:extLst>
            <c:ext xmlns:c16="http://schemas.microsoft.com/office/drawing/2014/chart" uri="{C3380CC4-5D6E-409C-BE32-E72D297353CC}">
              <c16:uniqueId val="{0000000C-9DA1-4A91-8397-FB0F3C19AB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9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2320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7132320" y="-731520"/>
            <a:ext cx="2926080" cy="2926080"/>
          </a:xfrm>
          <a:prstGeom prst="ellipse">
            <a:avLst/>
          </a:prstGeom>
          <a:solidFill>
            <a:srgbClr val="C0392B">
              <a:alpha val="25000"/>
            </a:srgbClr>
          </a:solidFill>
          <a:ln/>
        </p:spPr>
      </p:sp>
      <p:sp>
        <p:nvSpPr>
          <p:cNvPr id="3" name="Shape 1"/>
          <p:cNvSpPr/>
          <p:nvPr/>
        </p:nvSpPr>
        <p:spPr>
          <a:xfrm>
            <a:off x="7680960" y="-182880"/>
            <a:ext cx="1828800" cy="1828800"/>
          </a:xfrm>
          <a:prstGeom prst="ellipse">
            <a:avLst/>
          </a:prstGeom>
          <a:solidFill>
            <a:srgbClr val="D4A017">
              <a:alpha val="35000"/>
            </a:srgbClr>
          </a:solidFill>
          <a:ln/>
        </p:spPr>
      </p:sp>
      <p:sp>
        <p:nvSpPr>
          <p:cNvPr id="4" name="Text 2"/>
          <p:cNvSpPr/>
          <p:nvPr/>
        </p:nvSpPr>
        <p:spPr>
          <a:xfrm>
            <a:off x="640080" y="640080"/>
            <a:ext cx="7315200" cy="457200"/>
          </a:xfrm>
          <a:prstGeom prst="rect">
            <a:avLst/>
          </a:prstGeom>
          <a:noFill/>
          <a:ln/>
        </p:spPr>
        <p:txBody>
          <a:bodyPr wrap="square" rtlCol="0" anchor="ctr"/>
          <a:lstStyle/>
          <a:p>
            <a:pPr marL="0" indent="0">
              <a:buNone/>
            </a:pPr>
            <a:r>
              <a:rPr lang="en-US" sz="1300" b="1" kern="0" spc="600" dirty="0">
                <a:solidFill>
                  <a:srgbClr val="D4A017"/>
                </a:solidFill>
                <a:latin typeface="Calibri" pitchFamily="34" charset="0"/>
                <a:ea typeface="Calibri" pitchFamily="34" charset="-122"/>
                <a:cs typeface="Calibri" pitchFamily="34" charset="-120"/>
              </a:rPr>
              <a:t>MACROECONOMICS PROJECT</a:t>
            </a:r>
            <a:endParaRPr lang="en-US" sz="1300" dirty="0"/>
          </a:p>
        </p:txBody>
      </p:sp>
      <p:sp>
        <p:nvSpPr>
          <p:cNvPr id="5" name="Text 3"/>
          <p:cNvSpPr/>
          <p:nvPr/>
        </p:nvSpPr>
        <p:spPr>
          <a:xfrm>
            <a:off x="640080" y="1051560"/>
            <a:ext cx="7315200" cy="365760"/>
          </a:xfrm>
          <a:prstGeom prst="rect">
            <a:avLst/>
          </a:prstGeom>
          <a:noFill/>
          <a:ln/>
        </p:spPr>
        <p:txBody>
          <a:bodyPr wrap="square" rtlCol="0" anchor="ctr"/>
          <a:lstStyle/>
          <a:p>
            <a:r>
              <a:rPr lang="en-US" sz="1100" kern="0" spc="300" dirty="0">
                <a:solidFill>
                  <a:srgbClr val="CADCFC"/>
                </a:solidFill>
                <a:latin typeface="Arial" pitchFamily="34" charset="0"/>
                <a:ea typeface="Arial" pitchFamily="34" charset="-122"/>
                <a:cs typeface="Arial" pitchFamily="34" charset="-120"/>
              </a:rPr>
              <a:t>SECTION 2 — GROUP 1</a:t>
            </a:r>
            <a:endParaRPr lang="en-US" sz="1100" dirty="0"/>
          </a:p>
          <a:p>
            <a:pPr marL="0" indent="0">
              <a:buNone/>
            </a:pPr>
            <a:endParaRPr lang="en-US" sz="1100" dirty="0"/>
          </a:p>
        </p:txBody>
      </p:sp>
      <p:sp>
        <p:nvSpPr>
          <p:cNvPr id="6" name="Text 4"/>
          <p:cNvSpPr/>
          <p:nvPr/>
        </p:nvSpPr>
        <p:spPr>
          <a:xfrm>
            <a:off x="548640" y="1463040"/>
            <a:ext cx="8229600" cy="1371600"/>
          </a:xfrm>
          <a:prstGeom prst="rect">
            <a:avLst/>
          </a:prstGeom>
          <a:noFill/>
          <a:ln/>
        </p:spPr>
        <p:txBody>
          <a:bodyPr wrap="square" rtlCol="0" anchor="ctr"/>
          <a:lstStyle/>
          <a:p>
            <a:pPr marL="0" indent="0">
              <a:buNone/>
            </a:pPr>
            <a:r>
              <a:rPr lang="en-US" sz="6200" b="1" dirty="0">
                <a:solidFill>
                  <a:srgbClr val="FFFFFF"/>
                </a:solidFill>
                <a:latin typeface="Calibri" pitchFamily="34" charset="0"/>
                <a:ea typeface="Calibri" pitchFamily="34" charset="-122"/>
                <a:cs typeface="Calibri" pitchFamily="34" charset="-120"/>
              </a:rPr>
              <a:t>Vietnam</a:t>
            </a:r>
            <a:endParaRPr lang="en-US" sz="6200" dirty="0"/>
          </a:p>
        </p:txBody>
      </p:sp>
      <p:sp>
        <p:nvSpPr>
          <p:cNvPr id="7" name="Text 5"/>
          <p:cNvSpPr/>
          <p:nvPr/>
        </p:nvSpPr>
        <p:spPr>
          <a:xfrm>
            <a:off x="751600" y="2468880"/>
            <a:ext cx="5486400" cy="411480"/>
          </a:xfrm>
          <a:prstGeom prst="rect">
            <a:avLst/>
          </a:prstGeom>
          <a:noFill/>
          <a:ln/>
        </p:spPr>
        <p:txBody>
          <a:bodyPr wrap="square" rtlCol="0" anchor="ctr"/>
          <a:lstStyle/>
          <a:p>
            <a:pPr marL="0" indent="0">
              <a:buNone/>
            </a:pPr>
            <a:r>
              <a:rPr lang="en-US" sz="1500" i="1" dirty="0">
                <a:solidFill>
                  <a:srgbClr val="D4A017"/>
                </a:solidFill>
                <a:latin typeface="Calibri" pitchFamily="34" charset="0"/>
                <a:ea typeface="Calibri" pitchFamily="34" charset="-122"/>
                <a:cs typeface="Calibri" pitchFamily="34" charset="-120"/>
              </a:rPr>
              <a:t>Socialist Republic of Vietnam</a:t>
            </a:r>
            <a:endParaRPr lang="en-US" sz="1500" dirty="0"/>
          </a:p>
        </p:txBody>
      </p:sp>
      <p:sp>
        <p:nvSpPr>
          <p:cNvPr id="8" name="Text 6"/>
          <p:cNvSpPr/>
          <p:nvPr/>
        </p:nvSpPr>
        <p:spPr>
          <a:xfrm>
            <a:off x="640080" y="3337560"/>
            <a:ext cx="7772400" cy="1554480"/>
          </a:xfrm>
          <a:prstGeom prst="rect">
            <a:avLst/>
          </a:prstGeom>
          <a:noFill/>
          <a:ln/>
        </p:spPr>
        <p:txBody>
          <a:bodyPr wrap="square" rtlCol="0" anchor="ctr"/>
          <a:lstStyle/>
          <a:p>
            <a:pPr marL="0" indent="0">
              <a:spcAft>
                <a:spcPts val="400"/>
              </a:spcAft>
              <a:buNone/>
            </a:pPr>
            <a:r>
              <a:rPr lang="en-US" sz="1050" dirty="0">
                <a:solidFill>
                  <a:srgbClr val="CADCFC"/>
                </a:solidFill>
                <a:latin typeface="Arial" pitchFamily="34" charset="0"/>
                <a:ea typeface="Arial" pitchFamily="34" charset="-122"/>
                <a:cs typeface="Arial" pitchFamily="34" charset="-120"/>
              </a:rPr>
              <a:t>01  Overview of the Country</a:t>
            </a:r>
            <a:endParaRPr lang="en-US" sz="1050" dirty="0"/>
          </a:p>
          <a:p>
            <a:pPr marL="0" indent="0">
              <a:spcAft>
                <a:spcPts val="400"/>
              </a:spcAft>
              <a:buNone/>
            </a:pPr>
            <a:r>
              <a:rPr lang="en-US" sz="1050" dirty="0">
                <a:solidFill>
                  <a:srgbClr val="CADCFC"/>
                </a:solidFill>
                <a:latin typeface="Arial" pitchFamily="34" charset="0"/>
                <a:ea typeface="Arial" pitchFamily="34" charset="-122"/>
                <a:cs typeface="Arial" pitchFamily="34" charset="-120"/>
              </a:rPr>
              <a:t>02  Macroeconomic Performance (FY 2022–25 &amp; Forecasts)</a:t>
            </a:r>
            <a:endParaRPr lang="en-US" sz="1050" dirty="0"/>
          </a:p>
          <a:p>
            <a:pPr marL="0" indent="0">
              <a:spcAft>
                <a:spcPts val="400"/>
              </a:spcAft>
              <a:buNone/>
            </a:pPr>
            <a:r>
              <a:rPr lang="en-US" sz="1050" dirty="0">
                <a:solidFill>
                  <a:srgbClr val="CADCFC"/>
                </a:solidFill>
                <a:latin typeface="Arial" pitchFamily="34" charset="0"/>
                <a:ea typeface="Arial" pitchFamily="34" charset="-122"/>
                <a:cs typeface="Arial" pitchFamily="34" charset="-120"/>
              </a:rPr>
              <a:t>03  Three Macroeconomic Difficulties</a:t>
            </a:r>
            <a:endParaRPr lang="en-US" sz="1050" dirty="0"/>
          </a:p>
          <a:p>
            <a:pPr marL="0" indent="0">
              <a:spcAft>
                <a:spcPts val="400"/>
              </a:spcAft>
              <a:buNone/>
            </a:pPr>
            <a:r>
              <a:rPr lang="en-US" sz="1050" dirty="0">
                <a:solidFill>
                  <a:srgbClr val="CADCFC"/>
                </a:solidFill>
                <a:latin typeface="Arial" pitchFamily="34" charset="0"/>
                <a:ea typeface="Arial" pitchFamily="34" charset="-122"/>
                <a:cs typeface="Arial" pitchFamily="34" charset="-120"/>
              </a:rPr>
              <a:t>04  Remedial Policy Measures</a:t>
            </a:r>
            <a:endParaRPr lang="en-US" sz="1050" dirty="0"/>
          </a:p>
          <a:p>
            <a:pPr marL="0" indent="0">
              <a:spcAft>
                <a:spcPts val="400"/>
              </a:spcAft>
              <a:buNone/>
            </a:pPr>
            <a:r>
              <a:rPr lang="en-US" sz="1050" dirty="0">
                <a:solidFill>
                  <a:srgbClr val="CADCFC"/>
                </a:solidFill>
                <a:latin typeface="Arial" pitchFamily="34" charset="0"/>
                <a:ea typeface="Arial" pitchFamily="34" charset="-122"/>
                <a:cs typeface="Arial" pitchFamily="34" charset="-120"/>
              </a:rPr>
              <a:t>05  AI Prompt Appendix</a:t>
            </a:r>
            <a:endParaRPr lang="en-US" sz="1050" dirty="0"/>
          </a:p>
        </p:txBody>
      </p:sp>
      <p:sp>
        <p:nvSpPr>
          <p:cNvPr id="9" name="Shape 7"/>
          <p:cNvSpPr/>
          <p:nvPr/>
        </p:nvSpPr>
        <p:spPr>
          <a:xfrm>
            <a:off x="0" y="4828032"/>
            <a:ext cx="9144000" cy="315468"/>
          </a:xfrm>
          <a:prstGeom prst="rect">
            <a:avLst/>
          </a:prstGeom>
          <a:solidFill>
            <a:srgbClr val="0D1A2D"/>
          </a:solidFill>
          <a:ln w="12700">
            <a:solidFill>
              <a:srgbClr val="0D1A2D"/>
            </a:solidFill>
            <a:prstDash val="solid"/>
          </a:ln>
        </p:spPr>
      </p:sp>
      <p:sp>
        <p:nvSpPr>
          <p:cNvPr id="10" name="Text 8"/>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Data sourced from: World Bank (worldbank.org/vietnam) · IMF Article IV 2025 (imf.org) · OECD Economic Survey Vietnam 2025 (oecd.org) · GSO Vietnam (gso.gov.vn) · AMRO Asia (amro-asia.org)</a:t>
            </a:r>
            <a:endParaRPr lang="en-US" sz="680" dirty="0"/>
          </a:p>
        </p:txBody>
      </p:sp>
      <p:pic>
        <p:nvPicPr>
          <p:cNvPr id="11" name="Pho Illustration">
            <a:extLst>
              <a:ext uri="{FF2B5EF4-FFF2-40B4-BE49-F238E27FC236}">
                <a16:creationId xmlns:a16="http://schemas.microsoft.com/office/drawing/2014/main" id="{DF0F04B8-75F5-FFC0-0D44-69A54B1CECA0}"/>
              </a:ext>
            </a:extLst>
          </p:cNvPr>
          <p:cNvPicPr>
            <a:picLocks noChangeAspect="1"/>
          </p:cNvPicPr>
          <p:nvPr/>
        </p:nvPicPr>
        <p:blipFill>
          <a:blip r:embed="rId3"/>
          <a:stretch>
            <a:fillRect/>
          </a:stretch>
        </p:blipFill>
        <p:spPr>
          <a:xfrm>
            <a:off x="6529528" y="2399312"/>
            <a:ext cx="2480000" cy="2480000"/>
          </a:xfrm>
          <a:prstGeom prst="rect">
            <a:avLst/>
          </a:prstGeom>
        </p:spPr>
      </p:pic>
      <p:sp>
        <p:nvSpPr>
          <p:cNvPr id="12" name="Text 19">
            <a:extLst>
              <a:ext uri="{FF2B5EF4-FFF2-40B4-BE49-F238E27FC236}">
                <a16:creationId xmlns:a16="http://schemas.microsoft.com/office/drawing/2014/main" id="{1B113BD7-829B-A74E-09C6-E55F30E6859C}"/>
              </a:ext>
            </a:extLst>
          </p:cNvPr>
          <p:cNvSpPr/>
          <p:nvPr/>
        </p:nvSpPr>
        <p:spPr>
          <a:xfrm>
            <a:off x="751600" y="2810792"/>
            <a:ext cx="640080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kern="0" spc="100" dirty="0">
                <a:solidFill>
                  <a:srgbClr val="CADCFC"/>
                </a:solidFill>
                <a:latin typeface="Arial" pitchFamily="34" charset="0"/>
                <a:ea typeface="Arial" pitchFamily="34" charset="-122"/>
                <a:cs typeface="Arial" pitchFamily="34" charset="-120"/>
              </a:rPr>
              <a:t>Naman</a:t>
            </a:r>
            <a:r>
              <a:rPr lang="en-US" sz="850" kern="0" spc="100" dirty="0">
                <a:solidFill>
                  <a:srgbClr val="D4A017"/>
                </a:solidFill>
                <a:latin typeface="Arial" pitchFamily="34" charset="0"/>
                <a:ea typeface="Arial" pitchFamily="34" charset="-122"/>
                <a:cs typeface="Arial" pitchFamily="34" charset="-120"/>
              </a:rPr>
              <a:t>  ·  </a:t>
            </a:r>
            <a:r>
              <a:rPr lang="en-US" sz="850" kern="0" spc="100" dirty="0">
                <a:solidFill>
                  <a:srgbClr val="CADCFC"/>
                </a:solidFill>
                <a:latin typeface="Arial" pitchFamily="34" charset="0"/>
                <a:ea typeface="Arial" pitchFamily="34" charset="-122"/>
                <a:cs typeface="Arial" pitchFamily="34" charset="-120"/>
              </a:rPr>
              <a:t>Nikhil Aggarwal</a:t>
            </a:r>
            <a:r>
              <a:rPr lang="en-US" sz="850" kern="0" spc="100" dirty="0">
                <a:solidFill>
                  <a:srgbClr val="D4A017"/>
                </a:solidFill>
                <a:latin typeface="Arial" pitchFamily="34" charset="0"/>
                <a:ea typeface="Arial" pitchFamily="34" charset="-122"/>
                <a:cs typeface="Arial" pitchFamily="34" charset="-120"/>
              </a:rPr>
              <a:t>  ·  </a:t>
            </a:r>
            <a:r>
              <a:rPr lang="en-US" sz="850" kern="0" spc="100" dirty="0">
                <a:solidFill>
                  <a:srgbClr val="CADCFC"/>
                </a:solidFill>
                <a:latin typeface="Arial" pitchFamily="34" charset="0"/>
                <a:ea typeface="Arial" pitchFamily="34" charset="-122"/>
                <a:cs typeface="Arial" pitchFamily="34" charset="-120"/>
              </a:rPr>
              <a:t>Pooja Singh</a:t>
            </a:r>
            <a:r>
              <a:rPr lang="en-US" sz="850" kern="0" spc="100" dirty="0">
                <a:solidFill>
                  <a:srgbClr val="D4A017"/>
                </a:solidFill>
                <a:latin typeface="Arial" pitchFamily="34" charset="0"/>
                <a:ea typeface="Arial" pitchFamily="34" charset="-122"/>
                <a:cs typeface="Arial" pitchFamily="34" charset="-120"/>
              </a:rPr>
              <a:t>  ·  </a:t>
            </a:r>
            <a:r>
              <a:rPr lang="en-US" sz="850" kern="0" spc="100" dirty="0">
                <a:solidFill>
                  <a:srgbClr val="CADCFC"/>
                </a:solidFill>
                <a:latin typeface="Arial" pitchFamily="34" charset="0"/>
                <a:ea typeface="Arial" pitchFamily="34" charset="-122"/>
                <a:cs typeface="Arial" pitchFamily="34" charset="-120"/>
              </a:rPr>
              <a:t>Sreshta B</a:t>
            </a:r>
            <a:r>
              <a:rPr lang="en-US" sz="850" kern="0" spc="100" dirty="0">
                <a:solidFill>
                  <a:srgbClr val="D4A017"/>
                </a:solidFill>
                <a:latin typeface="Arial" pitchFamily="34" charset="0"/>
                <a:ea typeface="Arial" pitchFamily="34" charset="-122"/>
                <a:cs typeface="Arial" pitchFamily="34" charset="-120"/>
              </a:rPr>
              <a:t>  ·  </a:t>
            </a:r>
            <a:r>
              <a:rPr lang="en-US" sz="850" kern="0" spc="100" dirty="0">
                <a:solidFill>
                  <a:srgbClr val="CADCFC"/>
                </a:solidFill>
                <a:latin typeface="Arial" pitchFamily="34" charset="0"/>
                <a:ea typeface="Arial" pitchFamily="34" charset="-122"/>
                <a:cs typeface="Arial" pitchFamily="34" charset="-120"/>
              </a:rPr>
              <a:t>Suhaila Abdulkareem</a:t>
            </a:r>
            <a:endParaRPr lang="en-US" sz="850" dirty="0"/>
          </a:p>
        </p:txBody>
      </p:sp>
      <p:pic>
        <p:nvPicPr>
          <p:cNvPr id="13" name="Picture 12" descr="File:Flag of Vietnam.svg - Wikimedia Commons">
            <a:extLst>
              <a:ext uri="{FF2B5EF4-FFF2-40B4-BE49-F238E27FC236}">
                <a16:creationId xmlns:a16="http://schemas.microsoft.com/office/drawing/2014/main" id="{A73E8AFC-6103-F090-F0AA-65C7018EBEB4}"/>
              </a:ext>
            </a:extLst>
          </p:cNvPr>
          <p:cNvPicPr>
            <a:picLocks noChangeAspect="1"/>
          </p:cNvPicPr>
          <p:nvPr/>
        </p:nvPicPr>
        <p:blipFill>
          <a:blip r:embed="rId4"/>
          <a:stretch>
            <a:fillRect/>
          </a:stretch>
        </p:blipFill>
        <p:spPr>
          <a:xfrm>
            <a:off x="7268816" y="254334"/>
            <a:ext cx="1676843" cy="11178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01 — Overview of the Country</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Socialist Republic of Vietnam · Southeast Asia</a:t>
            </a:r>
            <a:endParaRPr lang="en-US" sz="950" dirty="0"/>
          </a:p>
        </p:txBody>
      </p:sp>
      <p:sp>
        <p:nvSpPr>
          <p:cNvPr id="5" name="Shape 3"/>
          <p:cNvSpPr/>
          <p:nvPr/>
        </p:nvSpPr>
        <p:spPr>
          <a:xfrm>
            <a:off x="274320" y="107899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6" name="Text 4"/>
          <p:cNvSpPr/>
          <p:nvPr/>
        </p:nvSpPr>
        <p:spPr>
          <a:xfrm>
            <a:off x="365760" y="111556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Capital</a:t>
            </a:r>
            <a:endParaRPr lang="en-US" sz="800" dirty="0"/>
          </a:p>
        </p:txBody>
      </p:sp>
      <p:sp>
        <p:nvSpPr>
          <p:cNvPr id="7" name="Text 5"/>
          <p:cNvSpPr/>
          <p:nvPr/>
        </p:nvSpPr>
        <p:spPr>
          <a:xfrm>
            <a:off x="365760" y="135331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Hanoi</a:t>
            </a:r>
            <a:endParaRPr lang="en-US" sz="1000" dirty="0"/>
          </a:p>
        </p:txBody>
      </p:sp>
      <p:sp>
        <p:nvSpPr>
          <p:cNvPr id="8" name="Shape 6"/>
          <p:cNvSpPr/>
          <p:nvPr/>
        </p:nvSpPr>
        <p:spPr>
          <a:xfrm>
            <a:off x="2606040" y="107899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9" name="Text 7"/>
          <p:cNvSpPr/>
          <p:nvPr/>
        </p:nvSpPr>
        <p:spPr>
          <a:xfrm>
            <a:off x="2697480" y="111556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Currency</a:t>
            </a:r>
            <a:endParaRPr lang="en-US" sz="800" dirty="0"/>
          </a:p>
        </p:txBody>
      </p:sp>
      <p:sp>
        <p:nvSpPr>
          <p:cNvPr id="10" name="Text 8"/>
          <p:cNvSpPr/>
          <p:nvPr/>
        </p:nvSpPr>
        <p:spPr>
          <a:xfrm>
            <a:off x="2697480" y="135331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Vietnamese Đồng (VND)</a:t>
            </a:r>
            <a:endParaRPr lang="en-US" sz="1000" dirty="0"/>
          </a:p>
        </p:txBody>
      </p:sp>
      <p:sp>
        <p:nvSpPr>
          <p:cNvPr id="11" name="Shape 9"/>
          <p:cNvSpPr/>
          <p:nvPr/>
        </p:nvSpPr>
        <p:spPr>
          <a:xfrm>
            <a:off x="274320" y="190195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12" name="Text 10"/>
          <p:cNvSpPr/>
          <p:nvPr/>
        </p:nvSpPr>
        <p:spPr>
          <a:xfrm>
            <a:off x="365760" y="193852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Area</a:t>
            </a:r>
            <a:endParaRPr lang="en-US" sz="800" dirty="0"/>
          </a:p>
        </p:txBody>
      </p:sp>
      <p:sp>
        <p:nvSpPr>
          <p:cNvPr id="13" name="Text 11"/>
          <p:cNvSpPr/>
          <p:nvPr/>
        </p:nvSpPr>
        <p:spPr>
          <a:xfrm>
            <a:off x="365760" y="217627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331,212 km²</a:t>
            </a:r>
            <a:endParaRPr lang="en-US" sz="1000" dirty="0"/>
          </a:p>
        </p:txBody>
      </p:sp>
      <p:sp>
        <p:nvSpPr>
          <p:cNvPr id="14" name="Shape 12"/>
          <p:cNvSpPr/>
          <p:nvPr/>
        </p:nvSpPr>
        <p:spPr>
          <a:xfrm>
            <a:off x="2606040" y="190195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15" name="Text 13"/>
          <p:cNvSpPr/>
          <p:nvPr/>
        </p:nvSpPr>
        <p:spPr>
          <a:xfrm>
            <a:off x="2697480" y="193852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Population</a:t>
            </a:r>
            <a:endParaRPr lang="en-US" sz="800" dirty="0"/>
          </a:p>
        </p:txBody>
      </p:sp>
      <p:sp>
        <p:nvSpPr>
          <p:cNvPr id="16" name="Text 14"/>
          <p:cNvSpPr/>
          <p:nvPr/>
        </p:nvSpPr>
        <p:spPr>
          <a:xfrm>
            <a:off x="2697480" y="217627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102.3 million (2025)</a:t>
            </a:r>
            <a:endParaRPr lang="en-US" sz="1000" dirty="0"/>
          </a:p>
        </p:txBody>
      </p:sp>
      <p:sp>
        <p:nvSpPr>
          <p:cNvPr id="17" name="Shape 15"/>
          <p:cNvSpPr/>
          <p:nvPr/>
        </p:nvSpPr>
        <p:spPr>
          <a:xfrm>
            <a:off x="274320" y="272491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18" name="Text 16"/>
          <p:cNvSpPr/>
          <p:nvPr/>
        </p:nvSpPr>
        <p:spPr>
          <a:xfrm>
            <a:off x="365760" y="276148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GDP (2025)</a:t>
            </a:r>
            <a:endParaRPr lang="en-US" sz="800" dirty="0"/>
          </a:p>
        </p:txBody>
      </p:sp>
      <p:sp>
        <p:nvSpPr>
          <p:cNvPr id="19" name="Text 17"/>
          <p:cNvSpPr/>
          <p:nvPr/>
        </p:nvSpPr>
        <p:spPr>
          <a:xfrm>
            <a:off x="365760" y="299923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~US$ 514 Bn (nominal)</a:t>
            </a:r>
            <a:endParaRPr lang="en-US" sz="1000" dirty="0"/>
          </a:p>
        </p:txBody>
      </p:sp>
      <p:sp>
        <p:nvSpPr>
          <p:cNvPr id="20" name="Shape 18"/>
          <p:cNvSpPr/>
          <p:nvPr/>
        </p:nvSpPr>
        <p:spPr>
          <a:xfrm>
            <a:off x="2606040" y="272491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21" name="Text 19"/>
          <p:cNvSpPr/>
          <p:nvPr/>
        </p:nvSpPr>
        <p:spPr>
          <a:xfrm>
            <a:off x="2697480" y="276148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GDP per Capita</a:t>
            </a:r>
            <a:endParaRPr lang="en-US" sz="800" dirty="0"/>
          </a:p>
        </p:txBody>
      </p:sp>
      <p:sp>
        <p:nvSpPr>
          <p:cNvPr id="22" name="Text 20"/>
          <p:cNvSpPr/>
          <p:nvPr/>
        </p:nvSpPr>
        <p:spPr>
          <a:xfrm>
            <a:off x="2697480" y="299923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US$ 5,026 (2025)</a:t>
            </a:r>
            <a:endParaRPr lang="en-US" sz="1000" dirty="0"/>
          </a:p>
        </p:txBody>
      </p:sp>
      <p:sp>
        <p:nvSpPr>
          <p:cNvPr id="23" name="Shape 21"/>
          <p:cNvSpPr/>
          <p:nvPr/>
        </p:nvSpPr>
        <p:spPr>
          <a:xfrm>
            <a:off x="274320" y="354787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24" name="Text 22"/>
          <p:cNvSpPr/>
          <p:nvPr/>
        </p:nvSpPr>
        <p:spPr>
          <a:xfrm>
            <a:off x="365760" y="358444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HDI</a:t>
            </a:r>
            <a:endParaRPr lang="en-US" sz="800" dirty="0"/>
          </a:p>
        </p:txBody>
      </p:sp>
      <p:sp>
        <p:nvSpPr>
          <p:cNvPr id="25" name="Text 23"/>
          <p:cNvSpPr/>
          <p:nvPr/>
        </p:nvSpPr>
        <p:spPr>
          <a:xfrm>
            <a:off x="365760" y="382219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0.766 (High) — 2023</a:t>
            </a:r>
            <a:endParaRPr lang="en-US" sz="1000" dirty="0"/>
          </a:p>
        </p:txBody>
      </p:sp>
      <p:sp>
        <p:nvSpPr>
          <p:cNvPr id="26" name="Shape 24"/>
          <p:cNvSpPr/>
          <p:nvPr/>
        </p:nvSpPr>
        <p:spPr>
          <a:xfrm>
            <a:off x="2606040" y="3547872"/>
            <a:ext cx="2194560" cy="694944"/>
          </a:xfrm>
          <a:prstGeom prst="roundRect">
            <a:avLst>
              <a:gd name="adj" fmla="val 13158"/>
            </a:avLst>
          </a:prstGeom>
          <a:solidFill>
            <a:srgbClr val="FFFFFF"/>
          </a:solidFill>
          <a:ln/>
          <a:effectLst>
            <a:outerShdw blurRad="63500" dist="25400" dir="2700000" algn="bl" rotWithShape="0">
              <a:srgbClr val="000000">
                <a:alpha val="10000"/>
              </a:srgbClr>
            </a:outerShdw>
          </a:effectLst>
        </p:spPr>
      </p:sp>
      <p:sp>
        <p:nvSpPr>
          <p:cNvPr id="27" name="Text 25"/>
          <p:cNvSpPr/>
          <p:nvPr/>
        </p:nvSpPr>
        <p:spPr>
          <a:xfrm>
            <a:off x="2697480" y="3584448"/>
            <a:ext cx="2011680" cy="237744"/>
          </a:xfrm>
          <a:prstGeom prst="rect">
            <a:avLst/>
          </a:prstGeom>
          <a:noFill/>
          <a:ln/>
        </p:spPr>
        <p:txBody>
          <a:bodyPr wrap="square" rtlCol="0" anchor="ctr"/>
          <a:lstStyle/>
          <a:p>
            <a:pPr marL="0" indent="0">
              <a:buNone/>
            </a:pPr>
            <a:r>
              <a:rPr lang="en-US" sz="800" dirty="0">
                <a:solidFill>
                  <a:srgbClr val="6B7A99"/>
                </a:solidFill>
                <a:latin typeface="Arial" pitchFamily="34" charset="0"/>
                <a:ea typeface="Arial" pitchFamily="34" charset="-122"/>
                <a:cs typeface="Arial" pitchFamily="34" charset="-120"/>
              </a:rPr>
              <a:t>Political System</a:t>
            </a:r>
            <a:endParaRPr lang="en-US" sz="800" dirty="0"/>
          </a:p>
        </p:txBody>
      </p:sp>
      <p:sp>
        <p:nvSpPr>
          <p:cNvPr id="28" name="Text 26"/>
          <p:cNvSpPr/>
          <p:nvPr/>
        </p:nvSpPr>
        <p:spPr>
          <a:xfrm>
            <a:off x="2697480" y="3822192"/>
            <a:ext cx="2011680" cy="347472"/>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One-party Socialist Republic</a:t>
            </a:r>
            <a:endParaRPr lang="en-US" sz="1000" dirty="0"/>
          </a:p>
        </p:txBody>
      </p:sp>
      <p:sp>
        <p:nvSpPr>
          <p:cNvPr id="29" name="Shape 27"/>
          <p:cNvSpPr/>
          <p:nvPr/>
        </p:nvSpPr>
        <p:spPr>
          <a:xfrm>
            <a:off x="4983480" y="1078992"/>
            <a:ext cx="3886200" cy="1234440"/>
          </a:xfrm>
          <a:prstGeom prst="roundRect">
            <a:avLst>
              <a:gd name="adj" fmla="val 7407"/>
            </a:avLst>
          </a:prstGeom>
          <a:solidFill>
            <a:srgbClr val="FFF8E6"/>
          </a:solidFill>
          <a:ln/>
          <a:effectLst>
            <a:outerShdw blurRad="63500" dist="25400" dir="2700000" algn="bl" rotWithShape="0">
              <a:srgbClr val="000000">
                <a:alpha val="10000"/>
              </a:srgbClr>
            </a:outerShdw>
          </a:effectLst>
        </p:spPr>
      </p:sp>
      <p:sp>
        <p:nvSpPr>
          <p:cNvPr id="30" name="Text 28"/>
          <p:cNvSpPr/>
          <p:nvPr/>
        </p:nvSpPr>
        <p:spPr>
          <a:xfrm>
            <a:off x="5120640" y="1133856"/>
            <a:ext cx="3566160" cy="27432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Economy</a:t>
            </a:r>
            <a:endParaRPr lang="en-US" sz="1100" dirty="0"/>
          </a:p>
        </p:txBody>
      </p:sp>
      <p:sp>
        <p:nvSpPr>
          <p:cNvPr id="31" name="Text 29"/>
          <p:cNvSpPr/>
          <p:nvPr/>
        </p:nvSpPr>
        <p:spPr>
          <a:xfrm>
            <a:off x="5120640" y="1389888"/>
            <a:ext cx="3611880" cy="859536"/>
          </a:xfrm>
          <a:prstGeom prst="rect">
            <a:avLst/>
          </a:prstGeom>
          <a:noFill/>
          <a:ln/>
        </p:spPr>
        <p:txBody>
          <a:bodyPr wrap="square" rtlCol="0" anchor="t"/>
          <a:lstStyle/>
          <a:p>
            <a:pPr marL="0" indent="0">
              <a:buNone/>
            </a:pPr>
            <a:r>
              <a:rPr lang="en-US" sz="900" dirty="0">
                <a:solidFill>
                  <a:srgbClr val="333333"/>
                </a:solidFill>
                <a:latin typeface="Arial" pitchFamily="34" charset="0"/>
                <a:ea typeface="Arial" pitchFamily="34" charset="-122"/>
                <a:cs typeface="Arial" pitchFamily="34" charset="-120"/>
              </a:rPr>
              <a:t>Vietnam is a lower-middle income, export-driven emerging economy. Following Đổi Mới reforms (1986), it transformed into a manufacturing &amp; electronics powerhouse. Electronics, textiles, seafood and machinery drive exports. FDI anchors growth — Samsung, Intel and LG operate major facilities.</a:t>
            </a:r>
            <a:endParaRPr lang="en-US" sz="900" dirty="0"/>
          </a:p>
        </p:txBody>
      </p:sp>
      <p:sp>
        <p:nvSpPr>
          <p:cNvPr id="32" name="Shape 30"/>
          <p:cNvSpPr/>
          <p:nvPr/>
        </p:nvSpPr>
        <p:spPr>
          <a:xfrm>
            <a:off x="4983480" y="2395728"/>
            <a:ext cx="3886200" cy="1097280"/>
          </a:xfrm>
          <a:prstGeom prst="roundRect">
            <a:avLst>
              <a:gd name="adj" fmla="val 8333"/>
            </a:avLst>
          </a:prstGeom>
          <a:solidFill>
            <a:srgbClr val="EAF7F0"/>
          </a:solidFill>
          <a:ln/>
          <a:effectLst>
            <a:outerShdw blurRad="63500" dist="25400" dir="2700000" algn="bl" rotWithShape="0">
              <a:srgbClr val="000000">
                <a:alpha val="10000"/>
              </a:srgbClr>
            </a:outerShdw>
          </a:effectLst>
        </p:spPr>
      </p:sp>
      <p:sp>
        <p:nvSpPr>
          <p:cNvPr id="33" name="Text 31"/>
          <p:cNvSpPr/>
          <p:nvPr/>
        </p:nvSpPr>
        <p:spPr>
          <a:xfrm>
            <a:off x="5120640" y="2450592"/>
            <a:ext cx="3566160" cy="274320"/>
          </a:xfrm>
          <a:prstGeom prst="rect">
            <a:avLst/>
          </a:prstGeom>
          <a:noFill/>
          <a:ln/>
        </p:spPr>
        <p:txBody>
          <a:bodyPr wrap="square"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Political &amp; Social Context</a:t>
            </a:r>
            <a:endParaRPr lang="en-US" sz="1100" dirty="0"/>
          </a:p>
        </p:txBody>
      </p:sp>
      <p:sp>
        <p:nvSpPr>
          <p:cNvPr id="34" name="Text 32"/>
          <p:cNvSpPr/>
          <p:nvPr/>
        </p:nvSpPr>
        <p:spPr>
          <a:xfrm>
            <a:off x="5120640" y="2715768"/>
            <a:ext cx="3611880" cy="713232"/>
          </a:xfrm>
          <a:prstGeom prst="rect">
            <a:avLst/>
          </a:prstGeom>
          <a:noFill/>
          <a:ln/>
        </p:spPr>
        <p:txBody>
          <a:bodyPr wrap="square" rtlCol="0" anchor="t"/>
          <a:lstStyle/>
          <a:p>
            <a:pPr marL="0" indent="0">
              <a:buNone/>
            </a:pPr>
            <a:r>
              <a:rPr lang="en-US" sz="900" dirty="0">
                <a:solidFill>
                  <a:srgbClr val="333333"/>
                </a:solidFill>
                <a:latin typeface="Arial" pitchFamily="34" charset="0"/>
                <a:ea typeface="Arial" pitchFamily="34" charset="-122"/>
                <a:cs typeface="Arial" pitchFamily="34" charset="-120"/>
              </a:rPr>
              <a:t>Governed by the Communist Party of Vietnam (CPV). Strong human capital — 95% lower-secondary enrollment; HCI highest among lower-middle-income countries. Rapid urbanisation (~40%) and a large working-age cohort remain structural tailwinds.</a:t>
            </a:r>
            <a:endParaRPr lang="en-US" sz="900" dirty="0"/>
          </a:p>
        </p:txBody>
      </p:sp>
      <p:sp>
        <p:nvSpPr>
          <p:cNvPr id="35" name="Shape 33"/>
          <p:cNvSpPr/>
          <p:nvPr/>
        </p:nvSpPr>
        <p:spPr>
          <a:xfrm>
            <a:off x="4983480" y="3575304"/>
            <a:ext cx="3886200" cy="1069848"/>
          </a:xfrm>
          <a:prstGeom prst="roundRect">
            <a:avLst>
              <a:gd name="adj" fmla="val 8547"/>
            </a:avLst>
          </a:prstGeom>
          <a:solidFill>
            <a:srgbClr val="FEF0F0"/>
          </a:solidFill>
          <a:ln/>
          <a:effectLst>
            <a:outerShdw blurRad="63500" dist="25400" dir="2700000" algn="bl" rotWithShape="0">
              <a:srgbClr val="000000">
                <a:alpha val="10000"/>
              </a:srgbClr>
            </a:outerShdw>
          </a:effectLst>
        </p:spPr>
      </p:sp>
      <p:sp>
        <p:nvSpPr>
          <p:cNvPr id="36" name="Text 34"/>
          <p:cNvSpPr/>
          <p:nvPr/>
        </p:nvSpPr>
        <p:spPr>
          <a:xfrm>
            <a:off x="5120640" y="3639312"/>
            <a:ext cx="3566160" cy="27432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SWOT Snapshot</a:t>
            </a:r>
            <a:endParaRPr lang="en-US" sz="1100" dirty="0"/>
          </a:p>
        </p:txBody>
      </p:sp>
      <p:sp>
        <p:nvSpPr>
          <p:cNvPr id="37" name="Text 35"/>
          <p:cNvSpPr/>
          <p:nvPr/>
        </p:nvSpPr>
        <p:spPr>
          <a:xfrm>
            <a:off x="5093208" y="3931920"/>
            <a:ext cx="201168" cy="292608"/>
          </a:xfrm>
          <a:prstGeom prst="rect">
            <a:avLst/>
          </a:prstGeom>
          <a:noFill/>
          <a:ln/>
        </p:spPr>
        <p:txBody>
          <a:bodyPr wrap="square" rtlCol="0" anchor="ctr"/>
          <a:lstStyle/>
          <a:p>
            <a:pPr marL="0" indent="0">
              <a:buNone/>
            </a:pPr>
            <a:r>
              <a:rPr lang="en-US" sz="850" b="1" dirty="0">
                <a:solidFill>
                  <a:srgbClr val="1A7A4A"/>
                </a:solidFill>
                <a:latin typeface="Calibri" pitchFamily="34" charset="0"/>
                <a:ea typeface="Calibri" pitchFamily="34" charset="-122"/>
                <a:cs typeface="Calibri" pitchFamily="34" charset="-120"/>
              </a:rPr>
              <a:t>S: </a:t>
            </a:r>
            <a:endParaRPr lang="en-US" sz="850" dirty="0"/>
          </a:p>
        </p:txBody>
      </p:sp>
      <p:sp>
        <p:nvSpPr>
          <p:cNvPr id="38" name="Text 36"/>
          <p:cNvSpPr/>
          <p:nvPr/>
        </p:nvSpPr>
        <p:spPr>
          <a:xfrm>
            <a:off x="5276088" y="3931920"/>
            <a:ext cx="1627632" cy="292608"/>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Young demographics, high FDI, 17 FTAs</a:t>
            </a:r>
            <a:endParaRPr lang="en-US" sz="750" dirty="0"/>
          </a:p>
        </p:txBody>
      </p:sp>
      <p:sp>
        <p:nvSpPr>
          <p:cNvPr id="39" name="Text 37"/>
          <p:cNvSpPr/>
          <p:nvPr/>
        </p:nvSpPr>
        <p:spPr>
          <a:xfrm>
            <a:off x="6967728" y="3931920"/>
            <a:ext cx="201168" cy="292608"/>
          </a:xfrm>
          <a:prstGeom prst="rect">
            <a:avLst/>
          </a:prstGeom>
          <a:noFill/>
          <a:ln/>
        </p:spPr>
        <p:txBody>
          <a:bodyPr wrap="square" rtlCol="0" anchor="ctr"/>
          <a:lstStyle/>
          <a:p>
            <a:pPr marL="0" indent="0">
              <a:buNone/>
            </a:pPr>
            <a:r>
              <a:rPr lang="en-US" sz="850" b="1" dirty="0">
                <a:solidFill>
                  <a:srgbClr val="C0392B"/>
                </a:solidFill>
                <a:latin typeface="Calibri" pitchFamily="34" charset="0"/>
                <a:ea typeface="Calibri" pitchFamily="34" charset="-122"/>
                <a:cs typeface="Calibri" pitchFamily="34" charset="-120"/>
              </a:rPr>
              <a:t>W: </a:t>
            </a:r>
            <a:endParaRPr lang="en-US" sz="850" dirty="0"/>
          </a:p>
        </p:txBody>
      </p:sp>
      <p:sp>
        <p:nvSpPr>
          <p:cNvPr id="40" name="Text 38"/>
          <p:cNvSpPr/>
          <p:nvPr/>
        </p:nvSpPr>
        <p:spPr>
          <a:xfrm>
            <a:off x="7150608" y="3931920"/>
            <a:ext cx="1627632" cy="292608"/>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Concentrated exports, weak banking, high NPLs</a:t>
            </a:r>
            <a:endParaRPr lang="en-US" sz="750" dirty="0"/>
          </a:p>
        </p:txBody>
      </p:sp>
      <p:sp>
        <p:nvSpPr>
          <p:cNvPr id="41" name="Text 39"/>
          <p:cNvSpPr/>
          <p:nvPr/>
        </p:nvSpPr>
        <p:spPr>
          <a:xfrm>
            <a:off x="5093208" y="4279392"/>
            <a:ext cx="201168" cy="292608"/>
          </a:xfrm>
          <a:prstGeom prst="rect">
            <a:avLst/>
          </a:prstGeom>
          <a:noFill/>
          <a:ln/>
        </p:spPr>
        <p:txBody>
          <a:bodyPr wrap="square" rtlCol="0" anchor="ctr"/>
          <a:lstStyle/>
          <a:p>
            <a:pPr marL="0" indent="0">
              <a:buNone/>
            </a:pPr>
            <a:r>
              <a:rPr lang="en-US" sz="850" b="1" dirty="0">
                <a:solidFill>
                  <a:srgbClr val="0D7377"/>
                </a:solidFill>
                <a:latin typeface="Calibri" pitchFamily="34" charset="0"/>
                <a:ea typeface="Calibri" pitchFamily="34" charset="-122"/>
                <a:cs typeface="Calibri" pitchFamily="34" charset="-120"/>
              </a:rPr>
              <a:t>O: </a:t>
            </a:r>
            <a:endParaRPr lang="en-US" sz="850" dirty="0"/>
          </a:p>
        </p:txBody>
      </p:sp>
      <p:sp>
        <p:nvSpPr>
          <p:cNvPr id="42" name="Text 40"/>
          <p:cNvSpPr/>
          <p:nvPr/>
        </p:nvSpPr>
        <p:spPr>
          <a:xfrm>
            <a:off x="5276088" y="4279392"/>
            <a:ext cx="1627632" cy="292608"/>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China+1 shift, tourism, digitalisation</a:t>
            </a:r>
            <a:endParaRPr lang="en-US" sz="750" dirty="0"/>
          </a:p>
        </p:txBody>
      </p:sp>
      <p:sp>
        <p:nvSpPr>
          <p:cNvPr id="43" name="Text 41"/>
          <p:cNvSpPr/>
          <p:nvPr/>
        </p:nvSpPr>
        <p:spPr>
          <a:xfrm>
            <a:off x="6967728" y="4279392"/>
            <a:ext cx="201168" cy="292608"/>
          </a:xfrm>
          <a:prstGeom prst="rect">
            <a:avLst/>
          </a:prstGeom>
          <a:noFill/>
          <a:ln/>
        </p:spPr>
        <p:txBody>
          <a:bodyPr wrap="square" rtlCol="0" anchor="ctr"/>
          <a:lstStyle/>
          <a:p>
            <a:pPr marL="0" indent="0">
              <a:buNone/>
            </a:pPr>
            <a:r>
              <a:rPr lang="en-US" sz="850" b="1" dirty="0">
                <a:solidFill>
                  <a:srgbClr val="D4651A"/>
                </a:solidFill>
                <a:latin typeface="Calibri" pitchFamily="34" charset="0"/>
                <a:ea typeface="Calibri" pitchFamily="34" charset="-122"/>
                <a:cs typeface="Calibri" pitchFamily="34" charset="-120"/>
              </a:rPr>
              <a:t>T: </a:t>
            </a:r>
            <a:endParaRPr lang="en-US" sz="850" dirty="0"/>
          </a:p>
        </p:txBody>
      </p:sp>
      <p:sp>
        <p:nvSpPr>
          <p:cNvPr id="44" name="Text 42"/>
          <p:cNvSpPr/>
          <p:nvPr/>
        </p:nvSpPr>
        <p:spPr>
          <a:xfrm>
            <a:off x="7150608" y="4279392"/>
            <a:ext cx="1627632" cy="292608"/>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US tariffs 20%, real estate stress, climate risk</a:t>
            </a:r>
            <a:endParaRPr lang="en-US" sz="750" dirty="0"/>
          </a:p>
        </p:txBody>
      </p:sp>
      <p:sp>
        <p:nvSpPr>
          <p:cNvPr id="45" name="Shape 43"/>
          <p:cNvSpPr/>
          <p:nvPr/>
        </p:nvSpPr>
        <p:spPr>
          <a:xfrm>
            <a:off x="0" y="4828032"/>
            <a:ext cx="9144000" cy="315468"/>
          </a:xfrm>
          <a:prstGeom prst="rect">
            <a:avLst/>
          </a:prstGeom>
          <a:solidFill>
            <a:srgbClr val="1B2A4A"/>
          </a:solidFill>
          <a:ln w="12700">
            <a:solidFill>
              <a:srgbClr val="1B2A4A"/>
            </a:solidFill>
            <a:prstDash val="solid"/>
          </a:ln>
        </p:spPr>
      </p:sp>
      <p:sp>
        <p:nvSpPr>
          <p:cNvPr id="46" name="Text 44"/>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World Bank – Vietnam Overview: worldbank.org/en/country/vietnam/overview  |  IMF Country Data: imf.org/en/countries/VNM  |  GSO Vietnam 2025: gso.gov.vn  |  UNDP HDI 2023: hdr.undp.org  |  Wikipedia – Economy of Vietnam: en.wikipedia.org/wiki/Economy_of_Vietnam</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02 — Macroeconomic Performance (I): GDP Growth &amp; Inflation</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FY 2022–2025 Actuals · 2026–2027 Forecasts</a:t>
            </a:r>
            <a:endParaRPr lang="en-US" sz="950" dirty="0"/>
          </a:p>
        </p:txBody>
      </p:sp>
      <p:graphicFrame>
        <p:nvGraphicFramePr>
          <p:cNvPr id="5" name="Chart 0"/>
          <p:cNvGraphicFramePr/>
          <p:nvPr/>
        </p:nvGraphicFramePr>
        <p:xfrm>
          <a:off x="274320" y="1051560"/>
          <a:ext cx="502920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5394960" y="1051560"/>
          <a:ext cx="347472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74320" y="3886200"/>
            <a:ext cx="2468880" cy="365760"/>
          </a:xfrm>
          <a:prstGeom prst="roundRect">
            <a:avLst>
              <a:gd name="adj" fmla="val 15000"/>
            </a:avLst>
          </a:prstGeom>
          <a:solidFill>
            <a:srgbClr val="FFFFFF"/>
          </a:solidFill>
          <a:ln/>
          <a:effectLst>
            <a:outerShdw blurRad="63500" dist="25400" dir="2700000" algn="bl" rotWithShape="0">
              <a:srgbClr val="000000">
                <a:alpha val="10000"/>
              </a:srgbClr>
            </a:outerShdw>
          </a:effectLst>
        </p:spPr>
      </p:sp>
      <p:sp>
        <p:nvSpPr>
          <p:cNvPr id="8" name="Shape 4"/>
          <p:cNvSpPr/>
          <p:nvPr/>
        </p:nvSpPr>
        <p:spPr>
          <a:xfrm>
            <a:off x="347472" y="3977640"/>
            <a:ext cx="164592" cy="164592"/>
          </a:xfrm>
          <a:prstGeom prst="ellipse">
            <a:avLst/>
          </a:prstGeom>
          <a:solidFill>
            <a:srgbClr val="1A7A4A"/>
          </a:solidFill>
          <a:ln/>
        </p:spPr>
      </p:sp>
      <p:sp>
        <p:nvSpPr>
          <p:cNvPr id="9" name="Text 5"/>
          <p:cNvSpPr/>
          <p:nvPr/>
        </p:nvSpPr>
        <p:spPr>
          <a:xfrm>
            <a:off x="566928" y="3941064"/>
            <a:ext cx="2103120" cy="274320"/>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8.0% growth in 2022 — post-COVID surge; among Asia's highest</a:t>
            </a:r>
            <a:endParaRPr lang="en-US" sz="750" dirty="0"/>
          </a:p>
        </p:txBody>
      </p:sp>
      <p:sp>
        <p:nvSpPr>
          <p:cNvPr id="10" name="Shape 6"/>
          <p:cNvSpPr/>
          <p:nvPr/>
        </p:nvSpPr>
        <p:spPr>
          <a:xfrm>
            <a:off x="2880360" y="3886200"/>
            <a:ext cx="2468880" cy="365760"/>
          </a:xfrm>
          <a:prstGeom prst="roundRect">
            <a:avLst>
              <a:gd name="adj" fmla="val 15000"/>
            </a:avLst>
          </a:prstGeom>
          <a:solidFill>
            <a:srgbClr val="FFFFFF"/>
          </a:solidFill>
          <a:ln/>
          <a:effectLst>
            <a:outerShdw blurRad="63500" dist="25400" dir="2700000" algn="bl" rotWithShape="0">
              <a:srgbClr val="000000">
                <a:alpha val="10000"/>
              </a:srgbClr>
            </a:outerShdw>
          </a:effectLst>
        </p:spPr>
      </p:sp>
      <p:sp>
        <p:nvSpPr>
          <p:cNvPr id="11" name="Shape 7"/>
          <p:cNvSpPr/>
          <p:nvPr/>
        </p:nvSpPr>
        <p:spPr>
          <a:xfrm>
            <a:off x="2953512" y="3977640"/>
            <a:ext cx="164592" cy="164592"/>
          </a:xfrm>
          <a:prstGeom prst="ellipse">
            <a:avLst/>
          </a:prstGeom>
          <a:solidFill>
            <a:srgbClr val="D4651A"/>
          </a:solidFill>
          <a:ln/>
        </p:spPr>
      </p:sp>
      <p:sp>
        <p:nvSpPr>
          <p:cNvPr id="12" name="Text 8"/>
          <p:cNvSpPr/>
          <p:nvPr/>
        </p:nvSpPr>
        <p:spPr>
          <a:xfrm>
            <a:off x="3172968" y="3941064"/>
            <a:ext cx="2103120" cy="274320"/>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Slowed to 5.1% in 2023 — weak trade + Saigon Commercial Bank collapse</a:t>
            </a:r>
            <a:endParaRPr lang="en-US" sz="750" dirty="0"/>
          </a:p>
        </p:txBody>
      </p:sp>
      <p:sp>
        <p:nvSpPr>
          <p:cNvPr id="13" name="Shape 9"/>
          <p:cNvSpPr/>
          <p:nvPr/>
        </p:nvSpPr>
        <p:spPr>
          <a:xfrm>
            <a:off x="274320" y="4361688"/>
            <a:ext cx="2468880" cy="365760"/>
          </a:xfrm>
          <a:prstGeom prst="roundRect">
            <a:avLst>
              <a:gd name="adj" fmla="val 15000"/>
            </a:avLst>
          </a:prstGeom>
          <a:solidFill>
            <a:srgbClr val="FFFFFF"/>
          </a:solidFill>
          <a:ln/>
          <a:effectLst>
            <a:outerShdw blurRad="63500" dist="25400" dir="2700000" algn="bl" rotWithShape="0">
              <a:srgbClr val="000000">
                <a:alpha val="10000"/>
              </a:srgbClr>
            </a:outerShdw>
          </a:effectLst>
        </p:spPr>
      </p:sp>
      <p:sp>
        <p:nvSpPr>
          <p:cNvPr id="14" name="Shape 10"/>
          <p:cNvSpPr/>
          <p:nvPr/>
        </p:nvSpPr>
        <p:spPr>
          <a:xfrm>
            <a:off x="347472" y="4453128"/>
            <a:ext cx="164592" cy="164592"/>
          </a:xfrm>
          <a:prstGeom prst="ellipse">
            <a:avLst/>
          </a:prstGeom>
          <a:solidFill>
            <a:srgbClr val="1A7A4A"/>
          </a:solidFill>
          <a:ln/>
        </p:spPr>
      </p:sp>
      <p:sp>
        <p:nvSpPr>
          <p:cNvPr id="15" name="Text 11"/>
          <p:cNvSpPr/>
          <p:nvPr/>
        </p:nvSpPr>
        <p:spPr>
          <a:xfrm>
            <a:off x="566928" y="4416552"/>
            <a:ext cx="2103120" cy="274320"/>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Recovered to 7.1% (2024) &amp; 8.02% (2025) — strongest since 2011</a:t>
            </a:r>
            <a:endParaRPr lang="en-US" sz="750" dirty="0"/>
          </a:p>
        </p:txBody>
      </p:sp>
      <p:sp>
        <p:nvSpPr>
          <p:cNvPr id="16" name="Shape 12"/>
          <p:cNvSpPr/>
          <p:nvPr/>
        </p:nvSpPr>
        <p:spPr>
          <a:xfrm>
            <a:off x="2880360" y="4361688"/>
            <a:ext cx="2468880" cy="365760"/>
          </a:xfrm>
          <a:prstGeom prst="roundRect">
            <a:avLst>
              <a:gd name="adj" fmla="val 15000"/>
            </a:avLst>
          </a:prstGeom>
          <a:solidFill>
            <a:srgbClr val="FFFFFF"/>
          </a:solidFill>
          <a:ln/>
          <a:effectLst>
            <a:outerShdw blurRad="63500" dist="25400" dir="2700000" algn="bl" rotWithShape="0">
              <a:srgbClr val="000000">
                <a:alpha val="10000"/>
              </a:srgbClr>
            </a:outerShdw>
          </a:effectLst>
        </p:spPr>
      </p:sp>
      <p:sp>
        <p:nvSpPr>
          <p:cNvPr id="17" name="Shape 13"/>
          <p:cNvSpPr/>
          <p:nvPr/>
        </p:nvSpPr>
        <p:spPr>
          <a:xfrm>
            <a:off x="2953512" y="4453128"/>
            <a:ext cx="164592" cy="164592"/>
          </a:xfrm>
          <a:prstGeom prst="ellipse">
            <a:avLst/>
          </a:prstGeom>
          <a:solidFill>
            <a:srgbClr val="6B7A99"/>
          </a:solidFill>
          <a:ln/>
        </p:spPr>
      </p:sp>
      <p:sp>
        <p:nvSpPr>
          <p:cNvPr id="18" name="Text 14"/>
          <p:cNvSpPr/>
          <p:nvPr/>
        </p:nvSpPr>
        <p:spPr>
          <a:xfrm>
            <a:off x="3172968" y="4416552"/>
            <a:ext cx="2103120" cy="274320"/>
          </a:xfrm>
          <a:prstGeom prst="rect">
            <a:avLst/>
          </a:prstGeom>
          <a:noFill/>
          <a:ln/>
        </p:spPr>
        <p:txBody>
          <a:bodyPr wrap="square" rtlCol="0" anchor="ctr"/>
          <a:lstStyle/>
          <a:p>
            <a:pPr marL="0" indent="0">
              <a:buNone/>
            </a:pPr>
            <a:r>
              <a:rPr lang="en-US" sz="750" dirty="0">
                <a:solidFill>
                  <a:srgbClr val="333333"/>
                </a:solidFill>
                <a:latin typeface="Arial" pitchFamily="34" charset="0"/>
                <a:ea typeface="Arial" pitchFamily="34" charset="-122"/>
                <a:cs typeface="Arial" pitchFamily="34" charset="-120"/>
              </a:rPr>
              <a:t>2026–27 forecast 6.1–6.5% (WB); US tariff headwinds remain key risk</a:t>
            </a:r>
            <a:endParaRPr lang="en-US" sz="750" dirty="0"/>
          </a:p>
        </p:txBody>
      </p:sp>
      <p:sp>
        <p:nvSpPr>
          <p:cNvPr id="19" name="Text 15"/>
          <p:cNvSpPr/>
          <p:nvPr/>
        </p:nvSpPr>
        <p:spPr>
          <a:xfrm>
            <a:off x="5394960" y="3858768"/>
            <a:ext cx="3474720" cy="347472"/>
          </a:xfrm>
          <a:prstGeom prst="rect">
            <a:avLst/>
          </a:prstGeom>
          <a:noFill/>
          <a:ln/>
        </p:spPr>
        <p:txBody>
          <a:bodyPr wrap="square" rtlCol="0" anchor="ctr"/>
          <a:lstStyle/>
          <a:p>
            <a:pPr marL="0" indent="0">
              <a:buNone/>
            </a:pPr>
            <a:r>
              <a:rPr lang="en-US" sz="700" i="1" dirty="0">
                <a:solidFill>
                  <a:srgbClr val="6B7A99"/>
                </a:solidFill>
                <a:latin typeface="Arial" pitchFamily="34" charset="0"/>
                <a:ea typeface="Arial" pitchFamily="34" charset="-122"/>
                <a:cs typeface="Arial" pitchFamily="34" charset="-120"/>
              </a:rPr>
              <a:t>*2025 Full-year Actual (GSO Vietnam, Dec 2025)  |  F = Forecast</a:t>
            </a:r>
            <a:endParaRPr lang="en-US" sz="700" dirty="0"/>
          </a:p>
        </p:txBody>
      </p:sp>
      <p:sp>
        <p:nvSpPr>
          <p:cNvPr id="20" name="Shape 16"/>
          <p:cNvSpPr/>
          <p:nvPr/>
        </p:nvSpPr>
        <p:spPr>
          <a:xfrm>
            <a:off x="0" y="4828032"/>
            <a:ext cx="9144000" cy="315468"/>
          </a:xfrm>
          <a:prstGeom prst="rect">
            <a:avLst/>
          </a:prstGeom>
          <a:solidFill>
            <a:srgbClr val="1B2A4A"/>
          </a:solidFill>
          <a:ln w="12700">
            <a:solidFill>
              <a:srgbClr val="1B2A4A"/>
            </a:solidFill>
            <a:prstDash val="solid"/>
          </a:ln>
        </p:spPr>
      </p:sp>
      <p:sp>
        <p:nvSpPr>
          <p:cNvPr id="21" name="Text 17"/>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GSO Vietnam – GDP Press Release 2025: gso.gov.vn/en/homepage.html  |  IMF WEO April 2025: imf.org/en/Publications/WEO  |  World Bank Vietnam Economic Update 2025: worldbank.org/en/country/vietnam  |  OECD Economic Survey Vietnam 2025: oecd.org/economy/vietnam-economic-survey  |  Trading Economics – Vietnam GDP: tradingeconomics.com/vietnam/gdp-growth-annual</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02 — Macroeconomic Performance (II): Trade, BoP &amp; Public Finances</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FY 2022–2025 Actuals · 2026–2027 Forecasts</a:t>
            </a:r>
            <a:endParaRPr lang="en-US" sz="950" dirty="0"/>
          </a:p>
        </p:txBody>
      </p:sp>
      <p:graphicFrame>
        <p:nvGraphicFramePr>
          <p:cNvPr id="5" name="Chart 0"/>
          <p:cNvGraphicFramePr/>
          <p:nvPr/>
        </p:nvGraphicFramePr>
        <p:xfrm>
          <a:off x="274320" y="1078992"/>
          <a:ext cx="530352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5669280" y="1078992"/>
          <a:ext cx="320040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74320" y="3538728"/>
            <a:ext cx="1572768" cy="896112"/>
          </a:xfrm>
          <a:prstGeom prst="roundRect">
            <a:avLst>
              <a:gd name="adj" fmla="val 8163"/>
            </a:avLst>
          </a:prstGeom>
          <a:solidFill>
            <a:srgbClr val="EAF0FB"/>
          </a:solidFill>
          <a:ln/>
          <a:effectLst>
            <a:outerShdw blurRad="63500" dist="25400" dir="2700000" algn="bl" rotWithShape="0">
              <a:srgbClr val="000000">
                <a:alpha val="10000"/>
              </a:srgbClr>
            </a:outerShdw>
          </a:effectLst>
        </p:spPr>
      </p:sp>
      <p:sp>
        <p:nvSpPr>
          <p:cNvPr id="8" name="Text 4"/>
          <p:cNvSpPr/>
          <p:nvPr/>
        </p:nvSpPr>
        <p:spPr>
          <a:xfrm>
            <a:off x="274320" y="3593592"/>
            <a:ext cx="1572768" cy="46597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$25B</a:t>
            </a:r>
            <a:endParaRPr lang="en-US" sz="2000" dirty="0"/>
          </a:p>
        </p:txBody>
      </p:sp>
      <p:sp>
        <p:nvSpPr>
          <p:cNvPr id="9" name="Text 5"/>
          <p:cNvSpPr/>
          <p:nvPr/>
        </p:nvSpPr>
        <p:spPr>
          <a:xfrm>
            <a:off x="274320" y="4004706"/>
            <a:ext cx="1572768" cy="394289"/>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Trade Surplus</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2024</a:t>
            </a:r>
            <a:endParaRPr lang="en-US" sz="800" dirty="0"/>
          </a:p>
        </p:txBody>
      </p:sp>
      <p:sp>
        <p:nvSpPr>
          <p:cNvPr id="10" name="Shape 6"/>
          <p:cNvSpPr/>
          <p:nvPr/>
        </p:nvSpPr>
        <p:spPr>
          <a:xfrm>
            <a:off x="2011680" y="3538728"/>
            <a:ext cx="1572768" cy="896112"/>
          </a:xfrm>
          <a:prstGeom prst="roundRect">
            <a:avLst>
              <a:gd name="adj" fmla="val 8163"/>
            </a:avLst>
          </a:prstGeom>
          <a:solidFill>
            <a:srgbClr val="EAF0FB"/>
          </a:solidFill>
          <a:ln/>
          <a:effectLst>
            <a:outerShdw blurRad="63500" dist="25400" dir="2700000" algn="bl" rotWithShape="0">
              <a:srgbClr val="000000">
                <a:alpha val="10000"/>
              </a:srgbClr>
            </a:outerShdw>
          </a:effectLst>
        </p:spPr>
      </p:sp>
      <p:sp>
        <p:nvSpPr>
          <p:cNvPr id="11" name="Text 7"/>
          <p:cNvSpPr/>
          <p:nvPr/>
        </p:nvSpPr>
        <p:spPr>
          <a:xfrm>
            <a:off x="2011680" y="3593592"/>
            <a:ext cx="1572768" cy="46597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6.6%</a:t>
            </a:r>
            <a:endParaRPr lang="en-US" sz="2000" dirty="0"/>
          </a:p>
        </p:txBody>
      </p:sp>
      <p:sp>
        <p:nvSpPr>
          <p:cNvPr id="12" name="Text 8"/>
          <p:cNvSpPr/>
          <p:nvPr/>
        </p:nvSpPr>
        <p:spPr>
          <a:xfrm>
            <a:off x="2011680" y="4004706"/>
            <a:ext cx="1572768" cy="394289"/>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Current Acct</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Surplus/GDP 2024</a:t>
            </a:r>
            <a:endParaRPr lang="en-US" sz="800" dirty="0"/>
          </a:p>
        </p:txBody>
      </p:sp>
      <p:sp>
        <p:nvSpPr>
          <p:cNvPr id="13" name="Shape 9"/>
          <p:cNvSpPr/>
          <p:nvPr/>
        </p:nvSpPr>
        <p:spPr>
          <a:xfrm>
            <a:off x="3749040" y="3538728"/>
            <a:ext cx="1572768" cy="896112"/>
          </a:xfrm>
          <a:prstGeom prst="roundRect">
            <a:avLst>
              <a:gd name="adj" fmla="val 8163"/>
            </a:avLst>
          </a:prstGeom>
          <a:solidFill>
            <a:srgbClr val="FEF0F0"/>
          </a:solidFill>
          <a:ln/>
          <a:effectLst>
            <a:outerShdw blurRad="63500" dist="25400" dir="2700000" algn="bl" rotWithShape="0">
              <a:srgbClr val="000000">
                <a:alpha val="10000"/>
              </a:srgbClr>
            </a:outerShdw>
          </a:effectLst>
        </p:spPr>
      </p:sp>
      <p:sp>
        <p:nvSpPr>
          <p:cNvPr id="14" name="Text 10"/>
          <p:cNvSpPr/>
          <p:nvPr/>
        </p:nvSpPr>
        <p:spPr>
          <a:xfrm>
            <a:off x="3749040" y="3593592"/>
            <a:ext cx="1572768" cy="465978"/>
          </a:xfrm>
          <a:prstGeom prst="rect">
            <a:avLst/>
          </a:prstGeom>
          <a:noFill/>
          <a:ln/>
        </p:spPr>
        <p:txBody>
          <a:bodyPr wrap="square" rtlCol="0" anchor="ctr"/>
          <a:lstStyle/>
          <a:p>
            <a:pPr marL="0" indent="0" algn="ctr">
              <a:buNone/>
            </a:pPr>
            <a:r>
              <a:rPr lang="en-US" sz="2000" b="1" dirty="0">
                <a:solidFill>
                  <a:srgbClr val="C0392B"/>
                </a:solidFill>
                <a:latin typeface="Calibri" pitchFamily="34" charset="0"/>
                <a:ea typeface="Calibri" pitchFamily="34" charset="-122"/>
                <a:cs typeface="Calibri" pitchFamily="34" charset="-120"/>
              </a:rPr>
              <a:t>-1.7%</a:t>
            </a:r>
            <a:endParaRPr lang="en-US" sz="2000" dirty="0"/>
          </a:p>
        </p:txBody>
      </p:sp>
      <p:sp>
        <p:nvSpPr>
          <p:cNvPr id="15" name="Text 11"/>
          <p:cNvSpPr/>
          <p:nvPr/>
        </p:nvSpPr>
        <p:spPr>
          <a:xfrm>
            <a:off x="3749040" y="4004706"/>
            <a:ext cx="1572768" cy="394289"/>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Fiscal Deficit</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 GDP (2024)</a:t>
            </a:r>
            <a:endParaRPr lang="en-US" sz="800" dirty="0"/>
          </a:p>
        </p:txBody>
      </p:sp>
      <p:sp>
        <p:nvSpPr>
          <p:cNvPr id="16" name="Shape 12"/>
          <p:cNvSpPr/>
          <p:nvPr/>
        </p:nvSpPr>
        <p:spPr>
          <a:xfrm>
            <a:off x="5486400" y="3538728"/>
            <a:ext cx="1572768" cy="896112"/>
          </a:xfrm>
          <a:prstGeom prst="roundRect">
            <a:avLst>
              <a:gd name="adj" fmla="val 8163"/>
            </a:avLst>
          </a:prstGeom>
          <a:solidFill>
            <a:srgbClr val="EAF0FB"/>
          </a:solidFill>
          <a:ln/>
          <a:effectLst>
            <a:outerShdw blurRad="63500" dist="25400" dir="2700000" algn="bl" rotWithShape="0">
              <a:srgbClr val="000000">
                <a:alpha val="10000"/>
              </a:srgbClr>
            </a:outerShdw>
          </a:effectLst>
        </p:spPr>
      </p:sp>
      <p:sp>
        <p:nvSpPr>
          <p:cNvPr id="17" name="Text 13"/>
          <p:cNvSpPr/>
          <p:nvPr/>
        </p:nvSpPr>
        <p:spPr>
          <a:xfrm>
            <a:off x="5486400" y="3593592"/>
            <a:ext cx="1572768" cy="46597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75%</a:t>
            </a:r>
            <a:endParaRPr lang="en-US" sz="2000" dirty="0"/>
          </a:p>
        </p:txBody>
      </p:sp>
      <p:sp>
        <p:nvSpPr>
          <p:cNvPr id="18" name="Text 14"/>
          <p:cNvSpPr/>
          <p:nvPr/>
        </p:nvSpPr>
        <p:spPr>
          <a:xfrm>
            <a:off x="5486400" y="4004706"/>
            <a:ext cx="1572768" cy="394289"/>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FDI Share</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of Exports 2025</a:t>
            </a:r>
            <a:endParaRPr lang="en-US" sz="800" dirty="0"/>
          </a:p>
        </p:txBody>
      </p:sp>
      <p:sp>
        <p:nvSpPr>
          <p:cNvPr id="19" name="Shape 15"/>
          <p:cNvSpPr/>
          <p:nvPr/>
        </p:nvSpPr>
        <p:spPr>
          <a:xfrm>
            <a:off x="7223760" y="3538728"/>
            <a:ext cx="1572768" cy="896112"/>
          </a:xfrm>
          <a:prstGeom prst="roundRect">
            <a:avLst>
              <a:gd name="adj" fmla="val 8163"/>
            </a:avLst>
          </a:prstGeom>
          <a:solidFill>
            <a:srgbClr val="EAF0FB"/>
          </a:solidFill>
          <a:ln/>
          <a:effectLst>
            <a:outerShdw blurRad="63500" dist="25400" dir="2700000" algn="bl" rotWithShape="0">
              <a:srgbClr val="000000">
                <a:alpha val="10000"/>
              </a:srgbClr>
            </a:outerShdw>
          </a:effectLst>
        </p:spPr>
      </p:sp>
      <p:sp>
        <p:nvSpPr>
          <p:cNvPr id="20" name="Text 16"/>
          <p:cNvSpPr/>
          <p:nvPr/>
        </p:nvSpPr>
        <p:spPr>
          <a:xfrm>
            <a:off x="7223760" y="3593592"/>
            <a:ext cx="1572768" cy="46597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~37%</a:t>
            </a:r>
            <a:endParaRPr lang="en-US" sz="2000" dirty="0"/>
          </a:p>
        </p:txBody>
      </p:sp>
      <p:sp>
        <p:nvSpPr>
          <p:cNvPr id="21" name="Text 17"/>
          <p:cNvSpPr/>
          <p:nvPr/>
        </p:nvSpPr>
        <p:spPr>
          <a:xfrm>
            <a:off x="7223760" y="4004706"/>
            <a:ext cx="1572768" cy="394289"/>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Govt. Debt</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 GDP (2024)</a:t>
            </a:r>
            <a:endParaRPr lang="en-US" sz="800" dirty="0"/>
          </a:p>
        </p:txBody>
      </p:sp>
      <p:sp>
        <p:nvSpPr>
          <p:cNvPr id="22" name="Text 18"/>
          <p:cNvSpPr/>
          <p:nvPr/>
        </p:nvSpPr>
        <p:spPr>
          <a:xfrm>
            <a:off x="274320" y="4507992"/>
            <a:ext cx="8595360" cy="256032"/>
          </a:xfrm>
          <a:prstGeom prst="rect">
            <a:avLst/>
          </a:prstGeom>
          <a:noFill/>
          <a:ln/>
        </p:spPr>
        <p:txBody>
          <a:bodyPr wrap="square" rtlCol="0" anchor="ctr"/>
          <a:lstStyle/>
          <a:p>
            <a:pPr marL="0" indent="0">
              <a:buNone/>
            </a:pPr>
            <a:r>
              <a:rPr lang="en-US" sz="750" i="1" dirty="0">
                <a:solidFill>
                  <a:srgbClr val="6B7A99"/>
                </a:solidFill>
                <a:latin typeface="Arial" pitchFamily="34" charset="0"/>
                <a:ea typeface="Arial" pitchFamily="34" charset="-122"/>
                <a:cs typeface="Arial" pitchFamily="34" charset="-120"/>
              </a:rPr>
              <a:t>Key partners: USA 29.5% · China 18.2% · EU 13.7% · ASEAN 9.1% · S.Korea 6.3%  |  Top exports: Electronics, Textiles, Machinery, Footwear, Seafood</a:t>
            </a:r>
            <a:endParaRPr lang="en-US" sz="750" dirty="0"/>
          </a:p>
        </p:txBody>
      </p:sp>
      <p:sp>
        <p:nvSpPr>
          <p:cNvPr id="23" name="Shape 19"/>
          <p:cNvSpPr/>
          <p:nvPr/>
        </p:nvSpPr>
        <p:spPr>
          <a:xfrm>
            <a:off x="0" y="4828032"/>
            <a:ext cx="9144000" cy="315468"/>
          </a:xfrm>
          <a:prstGeom prst="rect">
            <a:avLst/>
          </a:prstGeom>
          <a:solidFill>
            <a:srgbClr val="1B2A4A"/>
          </a:solidFill>
          <a:ln w="12700">
            <a:solidFill>
              <a:srgbClr val="1B2A4A"/>
            </a:solidFill>
            <a:prstDash val="solid"/>
          </a:ln>
        </p:spPr>
      </p:sp>
      <p:sp>
        <p:nvSpPr>
          <p:cNvPr id="24" name="Text 20"/>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IMF Article IV Consultation – Vietnam 2025: imf.org/en/countries/VNM  |  IMF Selected Economic Indicators 2024 (Table): regulations.gov/document/ITA-2023-0010-0047  |  World Bank Vietnam Trade Data: wits.worldbank.org  |  OECD Economic Survey Vietnam 2025: oecd.org/economy/vietnam-economic-survey  |  FocusEconomics – Vietnam: focus-economics.com/countries/vietnam</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02 — Macroeconomic Performance (III): Labour Market &amp; Industrial Output</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FY 2022–2025 Actuals · 2026–2027 Forecasts</a:t>
            </a:r>
            <a:endParaRPr lang="en-US" sz="950" dirty="0"/>
          </a:p>
        </p:txBody>
      </p:sp>
      <p:graphicFrame>
        <p:nvGraphicFramePr>
          <p:cNvPr id="5" name="Chart 0"/>
          <p:cNvGraphicFramePr/>
          <p:nvPr/>
        </p:nvGraphicFramePr>
        <p:xfrm>
          <a:off x="274320" y="1078992"/>
          <a:ext cx="393192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389120" y="1078992"/>
          <a:ext cx="438912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74320" y="3749040"/>
            <a:ext cx="4160520" cy="365760"/>
          </a:xfrm>
          <a:prstGeom prst="roundRect">
            <a:avLst>
              <a:gd name="adj" fmla="val 25000"/>
            </a:avLst>
          </a:prstGeom>
          <a:solidFill>
            <a:srgbClr val="FFFFFF"/>
          </a:solidFill>
          <a:ln/>
          <a:effectLst>
            <a:outerShdw blurRad="63500" dist="25400" dir="2700000" algn="bl" rotWithShape="0">
              <a:srgbClr val="000000">
                <a:alpha val="10000"/>
              </a:srgbClr>
            </a:outerShdw>
          </a:effectLst>
        </p:spPr>
      </p:sp>
      <p:sp>
        <p:nvSpPr>
          <p:cNvPr id="8" name="Text 4"/>
          <p:cNvSpPr/>
          <p:nvPr/>
        </p:nvSpPr>
        <p:spPr>
          <a:xfrm>
            <a:off x="365760" y="3803904"/>
            <a:ext cx="82296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2.24%</a:t>
            </a:r>
            <a:endParaRPr lang="en-US" sz="1100" dirty="0"/>
          </a:p>
        </p:txBody>
      </p:sp>
      <p:sp>
        <p:nvSpPr>
          <p:cNvPr id="9" name="Text 5"/>
          <p:cNvSpPr/>
          <p:nvPr/>
        </p:nvSpPr>
        <p:spPr>
          <a:xfrm>
            <a:off x="1170432" y="3813048"/>
            <a:ext cx="3200400" cy="274320"/>
          </a:xfrm>
          <a:prstGeom prst="rect">
            <a:avLst/>
          </a:prstGeom>
          <a:noFill/>
          <a:ln/>
        </p:spPr>
        <p:txBody>
          <a:bodyPr wrap="square" rtlCol="0" anchor="ctr"/>
          <a:lstStyle/>
          <a:p>
            <a:pPr marL="0" indent="0">
              <a:buNone/>
            </a:pPr>
            <a:r>
              <a:rPr lang="en-US" sz="800" dirty="0">
                <a:solidFill>
                  <a:srgbClr val="333333"/>
                </a:solidFill>
                <a:latin typeface="Arial" pitchFamily="34" charset="0"/>
                <a:ea typeface="Arial" pitchFamily="34" charset="-122"/>
                <a:cs typeface="Arial" pitchFamily="34" charset="-120"/>
              </a:rPr>
              <a:t>Unemployment 2024 — among lowest in ASEAN (OECD 2025)</a:t>
            </a:r>
            <a:endParaRPr lang="en-US" sz="800" dirty="0"/>
          </a:p>
        </p:txBody>
      </p:sp>
      <p:sp>
        <p:nvSpPr>
          <p:cNvPr id="10" name="Shape 6"/>
          <p:cNvSpPr/>
          <p:nvPr/>
        </p:nvSpPr>
        <p:spPr>
          <a:xfrm>
            <a:off x="4663440" y="3749040"/>
            <a:ext cx="4160520" cy="365760"/>
          </a:xfrm>
          <a:prstGeom prst="roundRect">
            <a:avLst>
              <a:gd name="adj" fmla="val 25000"/>
            </a:avLst>
          </a:prstGeom>
          <a:solidFill>
            <a:srgbClr val="FFFFFF"/>
          </a:solidFill>
          <a:ln/>
          <a:effectLst>
            <a:outerShdw blurRad="63500" dist="25400" dir="2700000" algn="bl" rotWithShape="0">
              <a:srgbClr val="000000">
                <a:alpha val="10000"/>
              </a:srgbClr>
            </a:outerShdw>
          </a:effectLst>
        </p:spPr>
      </p:sp>
      <p:sp>
        <p:nvSpPr>
          <p:cNvPr id="11" name="Text 7"/>
          <p:cNvSpPr/>
          <p:nvPr/>
        </p:nvSpPr>
        <p:spPr>
          <a:xfrm>
            <a:off x="4754880" y="3803904"/>
            <a:ext cx="82296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57 Mn</a:t>
            </a:r>
            <a:endParaRPr lang="en-US" sz="1100" dirty="0"/>
          </a:p>
        </p:txBody>
      </p:sp>
      <p:sp>
        <p:nvSpPr>
          <p:cNvPr id="12" name="Text 8"/>
          <p:cNvSpPr/>
          <p:nvPr/>
        </p:nvSpPr>
        <p:spPr>
          <a:xfrm>
            <a:off x="5559552" y="3813048"/>
            <a:ext cx="3200400" cy="274320"/>
          </a:xfrm>
          <a:prstGeom prst="rect">
            <a:avLst/>
          </a:prstGeom>
          <a:noFill/>
          <a:ln/>
        </p:spPr>
        <p:txBody>
          <a:bodyPr wrap="square" rtlCol="0" anchor="ctr"/>
          <a:lstStyle/>
          <a:p>
            <a:pPr marL="0" indent="0">
              <a:buNone/>
            </a:pPr>
            <a:r>
              <a:rPr lang="en-US" sz="800" dirty="0">
                <a:solidFill>
                  <a:srgbClr val="333333"/>
                </a:solidFill>
                <a:latin typeface="Arial" pitchFamily="34" charset="0"/>
                <a:ea typeface="Arial" pitchFamily="34" charset="-122"/>
                <a:cs typeface="Arial" pitchFamily="34" charset="-120"/>
              </a:rPr>
              <a:t>Labour force 2025; 71.3% employment rate (Wikipedia/ILO)</a:t>
            </a:r>
            <a:endParaRPr lang="en-US" sz="800" dirty="0"/>
          </a:p>
        </p:txBody>
      </p:sp>
      <p:sp>
        <p:nvSpPr>
          <p:cNvPr id="13" name="Shape 9"/>
          <p:cNvSpPr/>
          <p:nvPr/>
        </p:nvSpPr>
        <p:spPr>
          <a:xfrm>
            <a:off x="274320" y="4224528"/>
            <a:ext cx="4160520" cy="365760"/>
          </a:xfrm>
          <a:prstGeom prst="roundRect">
            <a:avLst>
              <a:gd name="adj" fmla="val 25000"/>
            </a:avLst>
          </a:prstGeom>
          <a:solidFill>
            <a:srgbClr val="FFFFFF"/>
          </a:solidFill>
          <a:ln/>
          <a:effectLst>
            <a:outerShdw blurRad="63500" dist="25400" dir="2700000" algn="bl" rotWithShape="0">
              <a:srgbClr val="000000">
                <a:alpha val="10000"/>
              </a:srgbClr>
            </a:outerShdw>
          </a:effectLst>
        </p:spPr>
      </p:sp>
      <p:sp>
        <p:nvSpPr>
          <p:cNvPr id="14" name="Text 10"/>
          <p:cNvSpPr/>
          <p:nvPr/>
        </p:nvSpPr>
        <p:spPr>
          <a:xfrm>
            <a:off x="365760" y="4279392"/>
            <a:ext cx="82296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27.5%</a:t>
            </a:r>
            <a:endParaRPr lang="en-US" sz="1100" dirty="0"/>
          </a:p>
        </p:txBody>
      </p:sp>
      <p:sp>
        <p:nvSpPr>
          <p:cNvPr id="15" name="Text 11"/>
          <p:cNvSpPr/>
          <p:nvPr/>
        </p:nvSpPr>
        <p:spPr>
          <a:xfrm>
            <a:off x="1170432" y="4288536"/>
            <a:ext cx="3200400" cy="274320"/>
          </a:xfrm>
          <a:prstGeom prst="rect">
            <a:avLst/>
          </a:prstGeom>
          <a:noFill/>
          <a:ln/>
        </p:spPr>
        <p:txBody>
          <a:bodyPr wrap="square" rtlCol="0" anchor="ctr"/>
          <a:lstStyle/>
          <a:p>
            <a:pPr marL="0" indent="0">
              <a:buNone/>
            </a:pPr>
            <a:r>
              <a:rPr lang="en-US" sz="800" dirty="0">
                <a:solidFill>
                  <a:srgbClr val="333333"/>
                </a:solidFill>
                <a:latin typeface="Arial" pitchFamily="34" charset="0"/>
                <a:ea typeface="Arial" pitchFamily="34" charset="-122"/>
                <a:cs typeface="Arial" pitchFamily="34" charset="-120"/>
              </a:rPr>
              <a:t>Agriculture employment — low-productivity drag (GSO 2022)</a:t>
            </a:r>
            <a:endParaRPr lang="en-US" sz="800" dirty="0"/>
          </a:p>
        </p:txBody>
      </p:sp>
      <p:sp>
        <p:nvSpPr>
          <p:cNvPr id="16" name="Shape 12"/>
          <p:cNvSpPr/>
          <p:nvPr/>
        </p:nvSpPr>
        <p:spPr>
          <a:xfrm>
            <a:off x="4663440" y="4224528"/>
            <a:ext cx="4160520" cy="365760"/>
          </a:xfrm>
          <a:prstGeom prst="roundRect">
            <a:avLst>
              <a:gd name="adj" fmla="val 25000"/>
            </a:avLst>
          </a:prstGeom>
          <a:solidFill>
            <a:srgbClr val="FFFFFF"/>
          </a:solidFill>
          <a:ln/>
          <a:effectLst>
            <a:outerShdw blurRad="63500" dist="25400" dir="2700000" algn="bl" rotWithShape="0">
              <a:srgbClr val="000000">
                <a:alpha val="10000"/>
              </a:srgbClr>
            </a:outerShdw>
          </a:effectLst>
        </p:spPr>
      </p:sp>
      <p:sp>
        <p:nvSpPr>
          <p:cNvPr id="17" name="Text 13"/>
          <p:cNvSpPr/>
          <p:nvPr/>
        </p:nvSpPr>
        <p:spPr>
          <a:xfrm>
            <a:off x="4754880" y="4279392"/>
            <a:ext cx="82296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~3%</a:t>
            </a:r>
            <a:endParaRPr lang="en-US" sz="1100" dirty="0"/>
          </a:p>
        </p:txBody>
      </p:sp>
      <p:sp>
        <p:nvSpPr>
          <p:cNvPr id="18" name="Text 14"/>
          <p:cNvSpPr/>
          <p:nvPr/>
        </p:nvSpPr>
        <p:spPr>
          <a:xfrm>
            <a:off x="5559552" y="4288536"/>
            <a:ext cx="3200400" cy="274320"/>
          </a:xfrm>
          <a:prstGeom prst="rect">
            <a:avLst/>
          </a:prstGeom>
          <a:noFill/>
          <a:ln/>
        </p:spPr>
        <p:txBody>
          <a:bodyPr wrap="square" rtlCol="0" anchor="ctr"/>
          <a:lstStyle/>
          <a:p>
            <a:pPr marL="0" indent="0">
              <a:buNone/>
            </a:pPr>
            <a:r>
              <a:rPr lang="en-US" sz="800" dirty="0">
                <a:solidFill>
                  <a:srgbClr val="333333"/>
                </a:solidFill>
                <a:latin typeface="Arial" pitchFamily="34" charset="0"/>
                <a:ea typeface="Arial" pitchFamily="34" charset="-122"/>
                <a:cs typeface="Arial" pitchFamily="34" charset="-120"/>
              </a:rPr>
              <a:t>Real wage growth 2024; boosted by 21% public wage rise Jul 2023</a:t>
            </a:r>
            <a:endParaRPr lang="en-US" sz="800" dirty="0"/>
          </a:p>
        </p:txBody>
      </p:sp>
      <p:sp>
        <p:nvSpPr>
          <p:cNvPr id="19" name="Shape 15"/>
          <p:cNvSpPr/>
          <p:nvPr/>
        </p:nvSpPr>
        <p:spPr>
          <a:xfrm>
            <a:off x="0" y="4828032"/>
            <a:ext cx="9144000" cy="315468"/>
          </a:xfrm>
          <a:prstGeom prst="rect">
            <a:avLst/>
          </a:prstGeom>
          <a:solidFill>
            <a:srgbClr val="1B2A4A"/>
          </a:solidFill>
          <a:ln w="12700">
            <a:solidFill>
              <a:srgbClr val="1B2A4A"/>
            </a:solidFill>
            <a:prstDash val="solid"/>
          </a:ln>
        </p:spPr>
      </p:sp>
      <p:sp>
        <p:nvSpPr>
          <p:cNvPr id="20" name="Text 16"/>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GSO Vietnam – Labour Force Survey 2025: gso.gov.vn/en/homepage.html  |  OECD Economic Survey Vietnam 2025 (p.18–22): oecd.org/economy/vietnam-economic-survey  |  ILO – Vietnam Labour Market: ilo.org/asia/countries/viet-nam  |  Wikipedia – Economy of Vietnam (Labour section): en.wikipedia.org/wiki/Economy_of_Vietnam  |  CEIC Data – Vietnam IIP: ceicdata.com/en/indicator/vietnam/industrial-production-index-growth</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03 — Problem 1: Dangerous Export Concentration &amp; US Tariff Shock</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Direct Macroeconomic Difficulty</a:t>
            </a:r>
            <a:endParaRPr lang="en-US" sz="950" dirty="0"/>
          </a:p>
        </p:txBody>
      </p:sp>
      <p:sp>
        <p:nvSpPr>
          <p:cNvPr id="5" name="Shape 3"/>
          <p:cNvSpPr/>
          <p:nvPr/>
        </p:nvSpPr>
        <p:spPr>
          <a:xfrm>
            <a:off x="274320" y="1078992"/>
            <a:ext cx="8595360" cy="1097280"/>
          </a:xfrm>
          <a:prstGeom prst="roundRect">
            <a:avLst>
              <a:gd name="adj" fmla="val 8333"/>
            </a:avLst>
          </a:prstGeom>
          <a:solidFill>
            <a:srgbClr val="FEF0F0"/>
          </a:solidFill>
          <a:ln/>
          <a:effectLst>
            <a:outerShdw blurRad="63500" dist="25400" dir="2700000" algn="bl" rotWithShape="0">
              <a:srgbClr val="000000">
                <a:alpha val="10000"/>
              </a:srgbClr>
            </a:outerShdw>
          </a:effectLst>
        </p:spPr>
      </p:sp>
      <p:sp>
        <p:nvSpPr>
          <p:cNvPr id="6" name="Text 4"/>
          <p:cNvSpPr/>
          <p:nvPr/>
        </p:nvSpPr>
        <p:spPr>
          <a:xfrm>
            <a:off x="457200" y="1133856"/>
            <a:ext cx="2743200" cy="27432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Core Problem</a:t>
            </a:r>
            <a:endParaRPr lang="en-US" sz="1100" dirty="0"/>
          </a:p>
        </p:txBody>
      </p:sp>
      <p:sp>
        <p:nvSpPr>
          <p:cNvPr id="7" name="Text 5"/>
          <p:cNvSpPr/>
          <p:nvPr/>
        </p:nvSpPr>
        <p:spPr>
          <a:xfrm>
            <a:off x="457200" y="1389888"/>
            <a:ext cx="8321040" cy="713232"/>
          </a:xfrm>
          <a:prstGeom prst="rect">
            <a:avLst/>
          </a:prstGeom>
          <a:noFill/>
          <a:ln/>
        </p:spPr>
        <p:txBody>
          <a:bodyPr wrap="square" rtlCol="0" anchor="t"/>
          <a:lstStyle/>
          <a:p>
            <a:pPr marL="0" indent="0">
              <a:buNone/>
            </a:pPr>
            <a:r>
              <a:rPr lang="en-US" sz="900" dirty="0">
                <a:solidFill>
                  <a:srgbClr val="222222"/>
                </a:solidFill>
                <a:latin typeface="Arial" pitchFamily="34" charset="0"/>
                <a:ea typeface="Arial" pitchFamily="34" charset="-122"/>
                <a:cs typeface="Arial" pitchFamily="34" charset="-120"/>
              </a:rPr>
              <a:t>Vietnam's exports (~84% of GDP) are dangerously concentrated in electronics (40%+) and a single market — the US (29.5% of exports ≈ ~30% of GDP). In August 2025, the US imposed a 20% tariff on Vietnamese goods (40% on transshipments), threatening ~$130B in annual exports. This has direct recessionary implications.</a:t>
            </a:r>
            <a:endParaRPr lang="en-US" sz="900" dirty="0"/>
          </a:p>
        </p:txBody>
      </p:sp>
      <p:sp>
        <p:nvSpPr>
          <p:cNvPr id="8" name="Shape 6"/>
          <p:cNvSpPr/>
          <p:nvPr/>
        </p:nvSpPr>
        <p:spPr>
          <a:xfrm>
            <a:off x="274320" y="2304288"/>
            <a:ext cx="2697480" cy="512064"/>
          </a:xfrm>
          <a:prstGeom prst="roundRect">
            <a:avLst>
              <a:gd name="adj" fmla="val 17857"/>
            </a:avLst>
          </a:prstGeom>
          <a:solidFill>
            <a:srgbClr val="FFFFFF"/>
          </a:solidFill>
          <a:ln/>
          <a:effectLst>
            <a:outerShdw blurRad="63500" dist="25400" dir="2700000" algn="bl" rotWithShape="0">
              <a:srgbClr val="000000">
                <a:alpha val="10000"/>
              </a:srgbClr>
            </a:outerShdw>
          </a:effectLst>
        </p:spPr>
      </p:sp>
      <p:sp>
        <p:nvSpPr>
          <p:cNvPr id="9" name="Text 7"/>
          <p:cNvSpPr/>
          <p:nvPr/>
        </p:nvSpPr>
        <p:spPr>
          <a:xfrm>
            <a:off x="384048" y="2377440"/>
            <a:ext cx="2487168" cy="384048"/>
          </a:xfrm>
          <a:prstGeom prst="rect">
            <a:avLst/>
          </a:prstGeom>
          <a:noFill/>
          <a:ln/>
        </p:spPr>
        <p:txBody>
          <a:bodyPr wrap="square" rtlCol="0" anchor="ctr"/>
          <a:lstStyle/>
          <a:p>
            <a:pPr marL="0" indent="0">
              <a:buNone/>
            </a:pPr>
            <a:r>
              <a:rPr lang="en-US" sz="850" b="1" dirty="0">
                <a:solidFill>
                  <a:srgbClr val="C0392B"/>
                </a:solidFill>
                <a:latin typeface="Arial" pitchFamily="34" charset="0"/>
                <a:ea typeface="Arial" pitchFamily="34" charset="-122"/>
                <a:cs typeface="Arial" pitchFamily="34" charset="-120"/>
              </a:rPr>
              <a:t>US imposes 20%</a:t>
            </a:r>
            <a:endParaRPr lang="en-US" sz="850" dirty="0"/>
          </a:p>
          <a:p>
            <a:pPr marL="0" indent="0">
              <a:buNone/>
            </a:pPr>
            <a:r>
              <a:rPr lang="en-US" sz="850" b="1" dirty="0">
                <a:solidFill>
                  <a:srgbClr val="C0392B"/>
                </a:solidFill>
                <a:latin typeface="Arial" pitchFamily="34" charset="0"/>
                <a:ea typeface="Arial" pitchFamily="34" charset="-122"/>
                <a:cs typeface="Arial" pitchFamily="34" charset="-120"/>
              </a:rPr>
              <a:t>tariff (Aug 2025)</a:t>
            </a:r>
            <a:endParaRPr lang="en-US" sz="850" dirty="0"/>
          </a:p>
        </p:txBody>
      </p:sp>
      <p:sp>
        <p:nvSpPr>
          <p:cNvPr id="10" name="Shape 8"/>
          <p:cNvSpPr/>
          <p:nvPr/>
        </p:nvSpPr>
        <p:spPr>
          <a:xfrm>
            <a:off x="3108960" y="2304288"/>
            <a:ext cx="2697480" cy="512064"/>
          </a:xfrm>
          <a:prstGeom prst="roundRect">
            <a:avLst>
              <a:gd name="adj" fmla="val 17857"/>
            </a:avLst>
          </a:prstGeom>
          <a:solidFill>
            <a:srgbClr val="FFFFFF"/>
          </a:solidFill>
          <a:ln/>
          <a:effectLst>
            <a:outerShdw blurRad="63500" dist="25400" dir="2700000" algn="bl" rotWithShape="0">
              <a:srgbClr val="000000">
                <a:alpha val="10000"/>
              </a:srgbClr>
            </a:outerShdw>
          </a:effectLst>
        </p:spPr>
      </p:sp>
      <p:sp>
        <p:nvSpPr>
          <p:cNvPr id="11" name="Text 9"/>
          <p:cNvSpPr/>
          <p:nvPr/>
        </p:nvSpPr>
        <p:spPr>
          <a:xfrm>
            <a:off x="3218688" y="2377440"/>
            <a:ext cx="2487168" cy="384048"/>
          </a:xfrm>
          <a:prstGeom prst="rect">
            <a:avLst/>
          </a:prstGeom>
          <a:noFill/>
          <a:ln/>
        </p:spPr>
        <p:txBody>
          <a:bodyPr wrap="square" rtlCol="0" anchor="ctr"/>
          <a:lstStyle/>
          <a:p>
            <a:pPr marL="0" indent="0">
              <a:buNone/>
            </a:pPr>
            <a:r>
              <a:rPr lang="en-US" sz="850" dirty="0">
                <a:solidFill>
                  <a:srgbClr val="D4651A"/>
                </a:solidFill>
                <a:latin typeface="Arial" pitchFamily="34" charset="0"/>
                <a:ea typeface="Arial" pitchFamily="34" charset="-122"/>
                <a:cs typeface="Arial" pitchFamily="34" charset="-120"/>
              </a:rPr>
              <a:t>→ Export revenues</a:t>
            </a:r>
            <a:endParaRPr lang="en-US" sz="850" dirty="0"/>
          </a:p>
          <a:p>
            <a:pPr marL="0" indent="0">
              <a:buNone/>
            </a:pPr>
            <a:r>
              <a:rPr lang="en-US" sz="850" dirty="0">
                <a:solidFill>
                  <a:srgbClr val="D4651A"/>
                </a:solidFill>
                <a:latin typeface="Arial" pitchFamily="34" charset="0"/>
                <a:ea typeface="Arial" pitchFamily="34" charset="-122"/>
                <a:cs typeface="Arial" pitchFamily="34" charset="-120"/>
              </a:rPr>
              <a:t>&amp; FDI decline</a:t>
            </a:r>
            <a:endParaRPr lang="en-US" sz="850" dirty="0"/>
          </a:p>
        </p:txBody>
      </p:sp>
      <p:sp>
        <p:nvSpPr>
          <p:cNvPr id="12" name="Shape 10"/>
          <p:cNvSpPr/>
          <p:nvPr/>
        </p:nvSpPr>
        <p:spPr>
          <a:xfrm>
            <a:off x="5943600" y="2304288"/>
            <a:ext cx="2697480" cy="512064"/>
          </a:xfrm>
          <a:prstGeom prst="roundRect">
            <a:avLst>
              <a:gd name="adj" fmla="val 17857"/>
            </a:avLst>
          </a:prstGeom>
          <a:solidFill>
            <a:srgbClr val="FFFFFF"/>
          </a:solidFill>
          <a:ln/>
          <a:effectLst>
            <a:outerShdw blurRad="63500" dist="25400" dir="2700000" algn="bl" rotWithShape="0">
              <a:srgbClr val="000000">
                <a:alpha val="10000"/>
              </a:srgbClr>
            </a:outerShdw>
          </a:effectLst>
        </p:spPr>
      </p:sp>
      <p:sp>
        <p:nvSpPr>
          <p:cNvPr id="13" name="Text 11"/>
          <p:cNvSpPr/>
          <p:nvPr/>
        </p:nvSpPr>
        <p:spPr>
          <a:xfrm>
            <a:off x="6053328" y="2377440"/>
            <a:ext cx="2487168" cy="384048"/>
          </a:xfrm>
          <a:prstGeom prst="rect">
            <a:avLst/>
          </a:prstGeom>
          <a:noFill/>
          <a:ln/>
        </p:spPr>
        <p:txBody>
          <a:bodyPr wrap="square" rtlCol="0" anchor="ctr"/>
          <a:lstStyle/>
          <a:p>
            <a:pPr marL="0" indent="0">
              <a:buNone/>
            </a:pPr>
            <a:r>
              <a:rPr lang="en-US" sz="850" dirty="0">
                <a:solidFill>
                  <a:srgbClr val="D4651A"/>
                </a:solidFill>
                <a:latin typeface="Arial" pitchFamily="34" charset="0"/>
                <a:ea typeface="Arial" pitchFamily="34" charset="-122"/>
                <a:cs typeface="Arial" pitchFamily="34" charset="-120"/>
              </a:rPr>
              <a:t>→ IIP contracts,</a:t>
            </a:r>
            <a:endParaRPr lang="en-US" sz="850" dirty="0"/>
          </a:p>
          <a:p>
            <a:pPr marL="0" indent="0">
              <a:buNone/>
            </a:pPr>
            <a:r>
              <a:rPr lang="en-US" sz="850" dirty="0">
                <a:solidFill>
                  <a:srgbClr val="D4651A"/>
                </a:solidFill>
                <a:latin typeface="Arial" pitchFamily="34" charset="0"/>
                <a:ea typeface="Arial" pitchFamily="34" charset="-122"/>
                <a:cs typeface="Arial" pitchFamily="34" charset="-120"/>
              </a:rPr>
              <a:t>industry slows</a:t>
            </a:r>
            <a:endParaRPr lang="en-US" sz="850" dirty="0"/>
          </a:p>
        </p:txBody>
      </p:sp>
      <p:sp>
        <p:nvSpPr>
          <p:cNvPr id="14" name="Shape 12"/>
          <p:cNvSpPr/>
          <p:nvPr/>
        </p:nvSpPr>
        <p:spPr>
          <a:xfrm>
            <a:off x="274320" y="2944368"/>
            <a:ext cx="2697480" cy="512064"/>
          </a:xfrm>
          <a:prstGeom prst="roundRect">
            <a:avLst>
              <a:gd name="adj" fmla="val 17857"/>
            </a:avLst>
          </a:prstGeom>
          <a:solidFill>
            <a:srgbClr val="FFFFFF"/>
          </a:solidFill>
          <a:ln/>
          <a:effectLst>
            <a:outerShdw blurRad="63500" dist="25400" dir="2700000" algn="bl" rotWithShape="0">
              <a:srgbClr val="000000">
                <a:alpha val="10000"/>
              </a:srgbClr>
            </a:outerShdw>
          </a:effectLst>
        </p:spPr>
      </p:sp>
      <p:sp>
        <p:nvSpPr>
          <p:cNvPr id="15" name="Text 13"/>
          <p:cNvSpPr/>
          <p:nvPr/>
        </p:nvSpPr>
        <p:spPr>
          <a:xfrm>
            <a:off x="384048" y="3017520"/>
            <a:ext cx="2487168" cy="384048"/>
          </a:xfrm>
          <a:prstGeom prst="rect">
            <a:avLst/>
          </a:prstGeom>
          <a:noFill/>
          <a:ln/>
        </p:spPr>
        <p:txBody>
          <a:bodyPr wrap="square" rtlCol="0" anchor="ctr"/>
          <a:lstStyle/>
          <a:p>
            <a:pPr marL="0" indent="0">
              <a:buNone/>
            </a:pPr>
            <a:r>
              <a:rPr lang="en-US" sz="850" dirty="0">
                <a:solidFill>
                  <a:srgbClr val="1B2A4A"/>
                </a:solidFill>
                <a:latin typeface="Arial" pitchFamily="34" charset="0"/>
                <a:ea typeface="Arial" pitchFamily="34" charset="-122"/>
                <a:cs typeface="Arial" pitchFamily="34" charset="-120"/>
              </a:rPr>
              <a:t>→ VND depreciates,</a:t>
            </a:r>
            <a:endParaRPr lang="en-US" sz="850" dirty="0"/>
          </a:p>
          <a:p>
            <a:pPr marL="0" indent="0">
              <a:buNone/>
            </a:pPr>
            <a:r>
              <a:rPr lang="en-US" sz="850" dirty="0">
                <a:solidFill>
                  <a:srgbClr val="1B2A4A"/>
                </a:solidFill>
                <a:latin typeface="Arial" pitchFamily="34" charset="0"/>
                <a:ea typeface="Arial" pitchFamily="34" charset="-122"/>
                <a:cs typeface="Arial" pitchFamily="34" charset="-120"/>
              </a:rPr>
              <a:t>import costs rise</a:t>
            </a:r>
            <a:endParaRPr lang="en-US" sz="850" dirty="0"/>
          </a:p>
        </p:txBody>
      </p:sp>
      <p:sp>
        <p:nvSpPr>
          <p:cNvPr id="16" name="Shape 14"/>
          <p:cNvSpPr/>
          <p:nvPr/>
        </p:nvSpPr>
        <p:spPr>
          <a:xfrm>
            <a:off x="3108960" y="2944368"/>
            <a:ext cx="2697480" cy="512064"/>
          </a:xfrm>
          <a:prstGeom prst="roundRect">
            <a:avLst>
              <a:gd name="adj" fmla="val 17857"/>
            </a:avLst>
          </a:prstGeom>
          <a:solidFill>
            <a:srgbClr val="FFFFFF"/>
          </a:solidFill>
          <a:ln/>
          <a:effectLst>
            <a:outerShdw blurRad="63500" dist="25400" dir="2700000" algn="bl" rotWithShape="0">
              <a:srgbClr val="000000">
                <a:alpha val="10000"/>
              </a:srgbClr>
            </a:outerShdw>
          </a:effectLst>
        </p:spPr>
      </p:sp>
      <p:sp>
        <p:nvSpPr>
          <p:cNvPr id="17" name="Text 15"/>
          <p:cNvSpPr/>
          <p:nvPr/>
        </p:nvSpPr>
        <p:spPr>
          <a:xfrm>
            <a:off x="3218688" y="3017520"/>
            <a:ext cx="2487168" cy="384048"/>
          </a:xfrm>
          <a:prstGeom prst="rect">
            <a:avLst/>
          </a:prstGeom>
          <a:noFill/>
          <a:ln/>
        </p:spPr>
        <p:txBody>
          <a:bodyPr wrap="square" rtlCol="0" anchor="ctr"/>
          <a:lstStyle/>
          <a:p>
            <a:pPr marL="0" indent="0">
              <a:buNone/>
            </a:pPr>
            <a:r>
              <a:rPr lang="en-US" sz="850" dirty="0">
                <a:solidFill>
                  <a:srgbClr val="1B2A4A"/>
                </a:solidFill>
                <a:latin typeface="Arial" pitchFamily="34" charset="0"/>
                <a:ea typeface="Arial" pitchFamily="34" charset="-122"/>
                <a:cs typeface="Arial" pitchFamily="34" charset="-120"/>
              </a:rPr>
              <a:t>→ Inflation risk</a:t>
            </a:r>
            <a:endParaRPr lang="en-US" sz="850" dirty="0"/>
          </a:p>
          <a:p>
            <a:pPr marL="0" indent="0">
              <a:buNone/>
            </a:pPr>
            <a:r>
              <a:rPr lang="en-US" sz="850" dirty="0">
                <a:solidFill>
                  <a:srgbClr val="1B2A4A"/>
                </a:solidFill>
                <a:latin typeface="Arial" pitchFamily="34" charset="0"/>
                <a:ea typeface="Arial" pitchFamily="34" charset="-122"/>
                <a:cs typeface="Arial" pitchFamily="34" charset="-120"/>
              </a:rPr>
              <a:t>increases</a:t>
            </a:r>
            <a:endParaRPr lang="en-US" sz="850" dirty="0"/>
          </a:p>
        </p:txBody>
      </p:sp>
      <p:sp>
        <p:nvSpPr>
          <p:cNvPr id="18" name="Shape 16"/>
          <p:cNvSpPr/>
          <p:nvPr/>
        </p:nvSpPr>
        <p:spPr>
          <a:xfrm>
            <a:off x="5943600" y="2944368"/>
            <a:ext cx="2697480" cy="512064"/>
          </a:xfrm>
          <a:prstGeom prst="roundRect">
            <a:avLst>
              <a:gd name="adj" fmla="val 17857"/>
            </a:avLst>
          </a:prstGeom>
          <a:solidFill>
            <a:srgbClr val="FFFFFF"/>
          </a:solidFill>
          <a:ln/>
          <a:effectLst>
            <a:outerShdw blurRad="63500" dist="25400" dir="2700000" algn="bl" rotWithShape="0">
              <a:srgbClr val="000000">
                <a:alpha val="10000"/>
              </a:srgbClr>
            </a:outerShdw>
          </a:effectLst>
        </p:spPr>
      </p:sp>
      <p:sp>
        <p:nvSpPr>
          <p:cNvPr id="19" name="Text 17"/>
          <p:cNvSpPr/>
          <p:nvPr/>
        </p:nvSpPr>
        <p:spPr>
          <a:xfrm>
            <a:off x="6053328" y="3017520"/>
            <a:ext cx="2487168" cy="384048"/>
          </a:xfrm>
          <a:prstGeom prst="rect">
            <a:avLst/>
          </a:prstGeom>
          <a:noFill/>
          <a:ln/>
        </p:spPr>
        <p:txBody>
          <a:bodyPr wrap="square" rtlCol="0" anchor="ctr"/>
          <a:lstStyle/>
          <a:p>
            <a:pPr marL="0" indent="0">
              <a:buNone/>
            </a:pPr>
            <a:r>
              <a:rPr lang="en-US" sz="850" dirty="0">
                <a:solidFill>
                  <a:srgbClr val="1B2A4A"/>
                </a:solidFill>
                <a:latin typeface="Arial" pitchFamily="34" charset="0"/>
                <a:ea typeface="Arial" pitchFamily="34" charset="-122"/>
                <a:cs typeface="Arial" pitchFamily="34" charset="-120"/>
              </a:rPr>
              <a:t>→ GDP growth</a:t>
            </a:r>
            <a:endParaRPr lang="en-US" sz="850" dirty="0"/>
          </a:p>
          <a:p>
            <a:pPr marL="0" indent="0">
              <a:buNone/>
            </a:pPr>
            <a:r>
              <a:rPr lang="en-US" sz="850" dirty="0">
                <a:solidFill>
                  <a:srgbClr val="1B2A4A"/>
                </a:solidFill>
                <a:latin typeface="Arial" pitchFamily="34" charset="0"/>
                <a:ea typeface="Arial" pitchFamily="34" charset="-122"/>
                <a:cs typeface="Arial" pitchFamily="34" charset="-120"/>
              </a:rPr>
              <a:t>downgraded to 6.6%</a:t>
            </a:r>
            <a:endParaRPr lang="en-US" sz="850" dirty="0"/>
          </a:p>
        </p:txBody>
      </p:sp>
      <p:sp>
        <p:nvSpPr>
          <p:cNvPr id="20" name="Shape 18"/>
          <p:cNvSpPr/>
          <p:nvPr/>
        </p:nvSpPr>
        <p:spPr>
          <a:xfrm>
            <a:off x="274320" y="3712464"/>
            <a:ext cx="2029968" cy="914400"/>
          </a:xfrm>
          <a:prstGeom prst="roundRect">
            <a:avLst>
              <a:gd name="adj" fmla="val 8000"/>
            </a:avLst>
          </a:prstGeom>
          <a:solidFill>
            <a:srgbClr val="EAF0FB"/>
          </a:solidFill>
          <a:ln/>
          <a:effectLst>
            <a:outerShdw blurRad="63500" dist="25400" dir="2700000" algn="bl" rotWithShape="0">
              <a:srgbClr val="000000">
                <a:alpha val="10000"/>
              </a:srgbClr>
            </a:outerShdw>
          </a:effectLst>
        </p:spPr>
      </p:sp>
      <p:sp>
        <p:nvSpPr>
          <p:cNvPr id="21" name="Text 19"/>
          <p:cNvSpPr/>
          <p:nvPr/>
        </p:nvSpPr>
        <p:spPr>
          <a:xfrm>
            <a:off x="274320" y="3767328"/>
            <a:ext cx="2029968" cy="47548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~24.8 %</a:t>
            </a:r>
            <a:endParaRPr lang="en-US" sz="2000" dirty="0"/>
          </a:p>
        </p:txBody>
      </p:sp>
      <p:sp>
        <p:nvSpPr>
          <p:cNvPr id="22" name="Text 20"/>
          <p:cNvSpPr/>
          <p:nvPr/>
        </p:nvSpPr>
        <p:spPr>
          <a:xfrm>
            <a:off x="274320" y="4187952"/>
            <a:ext cx="2029968" cy="40233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of GDP from</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US-bound exports</a:t>
            </a:r>
            <a:endParaRPr lang="en-US" sz="800" dirty="0"/>
          </a:p>
        </p:txBody>
      </p:sp>
      <p:sp>
        <p:nvSpPr>
          <p:cNvPr id="23" name="Shape 21"/>
          <p:cNvSpPr/>
          <p:nvPr/>
        </p:nvSpPr>
        <p:spPr>
          <a:xfrm>
            <a:off x="2450592" y="3712464"/>
            <a:ext cx="2029968" cy="914400"/>
          </a:xfrm>
          <a:prstGeom prst="roundRect">
            <a:avLst>
              <a:gd name="adj" fmla="val 8000"/>
            </a:avLst>
          </a:prstGeom>
          <a:solidFill>
            <a:srgbClr val="FEF0F0"/>
          </a:solidFill>
          <a:ln/>
          <a:effectLst>
            <a:outerShdw blurRad="63500" dist="25400" dir="2700000" algn="bl" rotWithShape="0">
              <a:srgbClr val="000000">
                <a:alpha val="10000"/>
              </a:srgbClr>
            </a:outerShdw>
          </a:effectLst>
        </p:spPr>
      </p:sp>
      <p:sp>
        <p:nvSpPr>
          <p:cNvPr id="24" name="Text 22"/>
          <p:cNvSpPr/>
          <p:nvPr/>
        </p:nvSpPr>
        <p:spPr>
          <a:xfrm>
            <a:off x="2450592" y="3767328"/>
            <a:ext cx="2029968" cy="475488"/>
          </a:xfrm>
          <a:prstGeom prst="rect">
            <a:avLst/>
          </a:prstGeom>
          <a:noFill/>
          <a:ln/>
        </p:spPr>
        <p:txBody>
          <a:bodyPr wrap="square" rtlCol="0" anchor="ctr"/>
          <a:lstStyle/>
          <a:p>
            <a:pPr marL="0" indent="0" algn="ctr">
              <a:buNone/>
            </a:pPr>
            <a:r>
              <a:rPr lang="en-US" sz="2000" b="1" dirty="0">
                <a:solidFill>
                  <a:srgbClr val="C0392B"/>
                </a:solidFill>
                <a:latin typeface="Calibri" pitchFamily="34" charset="0"/>
                <a:ea typeface="Calibri" pitchFamily="34" charset="-122"/>
                <a:cs typeface="Calibri" pitchFamily="34" charset="-120"/>
              </a:rPr>
              <a:t>-5.7%</a:t>
            </a:r>
            <a:endParaRPr lang="en-US" sz="2000" dirty="0"/>
          </a:p>
        </p:txBody>
      </p:sp>
      <p:sp>
        <p:nvSpPr>
          <p:cNvPr id="25" name="Text 23"/>
          <p:cNvSpPr/>
          <p:nvPr/>
        </p:nvSpPr>
        <p:spPr>
          <a:xfrm>
            <a:off x="2450592" y="4187952"/>
            <a:ext cx="2029968" cy="40233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US export decline</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post-tariff Aug–Oct 2025</a:t>
            </a:r>
            <a:endParaRPr lang="en-US" sz="800" dirty="0"/>
          </a:p>
        </p:txBody>
      </p:sp>
      <p:sp>
        <p:nvSpPr>
          <p:cNvPr id="26" name="Shape 24"/>
          <p:cNvSpPr/>
          <p:nvPr/>
        </p:nvSpPr>
        <p:spPr>
          <a:xfrm>
            <a:off x="4626864" y="3712464"/>
            <a:ext cx="2029968" cy="914400"/>
          </a:xfrm>
          <a:prstGeom prst="roundRect">
            <a:avLst>
              <a:gd name="adj" fmla="val 8000"/>
            </a:avLst>
          </a:prstGeom>
          <a:solidFill>
            <a:srgbClr val="EAF0FB"/>
          </a:solidFill>
          <a:ln/>
          <a:effectLst>
            <a:outerShdw blurRad="63500" dist="25400" dir="2700000" algn="bl" rotWithShape="0">
              <a:srgbClr val="000000">
                <a:alpha val="10000"/>
              </a:srgbClr>
            </a:outerShdw>
          </a:effectLst>
        </p:spPr>
      </p:sp>
      <p:sp>
        <p:nvSpPr>
          <p:cNvPr id="27" name="Text 25"/>
          <p:cNvSpPr/>
          <p:nvPr/>
        </p:nvSpPr>
        <p:spPr>
          <a:xfrm>
            <a:off x="4626864" y="3767328"/>
            <a:ext cx="2029968" cy="47548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20%</a:t>
            </a:r>
            <a:endParaRPr lang="en-US" sz="2000" dirty="0"/>
          </a:p>
        </p:txBody>
      </p:sp>
      <p:sp>
        <p:nvSpPr>
          <p:cNvPr id="28" name="Text 26"/>
          <p:cNvSpPr/>
          <p:nvPr/>
        </p:nvSpPr>
        <p:spPr>
          <a:xfrm>
            <a:off x="4626864" y="4187952"/>
            <a:ext cx="2029968" cy="40233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US tariff rate</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eff. Aug 2025</a:t>
            </a:r>
            <a:endParaRPr lang="en-US" sz="800" dirty="0"/>
          </a:p>
        </p:txBody>
      </p:sp>
      <p:sp>
        <p:nvSpPr>
          <p:cNvPr id="29" name="Shape 27"/>
          <p:cNvSpPr/>
          <p:nvPr/>
        </p:nvSpPr>
        <p:spPr>
          <a:xfrm>
            <a:off x="6803136" y="3712464"/>
            <a:ext cx="2029968" cy="914400"/>
          </a:xfrm>
          <a:prstGeom prst="roundRect">
            <a:avLst>
              <a:gd name="adj" fmla="val 8000"/>
            </a:avLst>
          </a:prstGeom>
          <a:solidFill>
            <a:srgbClr val="EAF0FB"/>
          </a:solidFill>
          <a:ln/>
          <a:effectLst>
            <a:outerShdw blurRad="63500" dist="25400" dir="2700000" algn="bl" rotWithShape="0">
              <a:srgbClr val="000000">
                <a:alpha val="10000"/>
              </a:srgbClr>
            </a:outerShdw>
          </a:effectLst>
        </p:spPr>
      </p:sp>
      <p:sp>
        <p:nvSpPr>
          <p:cNvPr id="30" name="Text 28"/>
          <p:cNvSpPr/>
          <p:nvPr/>
        </p:nvSpPr>
        <p:spPr>
          <a:xfrm>
            <a:off x="6803136" y="3767328"/>
            <a:ext cx="2029968" cy="475488"/>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6.6%</a:t>
            </a:r>
            <a:endParaRPr lang="en-US" sz="2000" dirty="0"/>
          </a:p>
        </p:txBody>
      </p:sp>
      <p:sp>
        <p:nvSpPr>
          <p:cNvPr id="31" name="Text 29"/>
          <p:cNvSpPr/>
          <p:nvPr/>
        </p:nvSpPr>
        <p:spPr>
          <a:xfrm>
            <a:off x="6803136" y="4187952"/>
            <a:ext cx="2029968" cy="40233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WB revised 2025</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growth forecast</a:t>
            </a:r>
            <a:endParaRPr lang="en-US" sz="800" dirty="0"/>
          </a:p>
        </p:txBody>
      </p:sp>
      <p:sp>
        <p:nvSpPr>
          <p:cNvPr id="32" name="Shape 30"/>
          <p:cNvSpPr/>
          <p:nvPr/>
        </p:nvSpPr>
        <p:spPr>
          <a:xfrm>
            <a:off x="0" y="4828032"/>
            <a:ext cx="9144000" cy="315468"/>
          </a:xfrm>
          <a:prstGeom prst="rect">
            <a:avLst/>
          </a:prstGeom>
          <a:solidFill>
            <a:srgbClr val="1B2A4A"/>
          </a:solidFill>
          <a:ln w="12700">
            <a:solidFill>
              <a:srgbClr val="1B2A4A"/>
            </a:solidFill>
            <a:prstDash val="solid"/>
          </a:ln>
        </p:spPr>
      </p:sp>
      <p:sp>
        <p:nvSpPr>
          <p:cNvPr id="33" name="Text 31"/>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OECD Economic Survey Vietnam 2025 – p.8–14: oecd.org/economy/vietnam-economic-survey  |  IMF Article IV 2025 – External Sector: elibrary.imf.org/view/journals/002/2025/283  |  US-ASEAN Business Council – Vietnam Trade Update Q3 2025: usasean.org/article/vietnam-macroeconomic-trade-update  |  East Asia Forum – Vietnam Double-Digit Growth (Mar 2026): eastasiaforum.org/2025/12/20/vietnam-confronts-the-limits  |  World Bank – Vietnam Growth Forecast Sep 2025: tradingeconomics.com/vietnam/gdp-growth-annual/news/483530</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03 — Problem 2: Financial Sector Fragility &amp; Real Estate Stress</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Direct Macroeconomic Difficulty</a:t>
            </a:r>
            <a:endParaRPr lang="en-US" sz="950" dirty="0"/>
          </a:p>
        </p:txBody>
      </p:sp>
      <p:sp>
        <p:nvSpPr>
          <p:cNvPr id="5" name="Shape 3"/>
          <p:cNvSpPr/>
          <p:nvPr/>
        </p:nvSpPr>
        <p:spPr>
          <a:xfrm>
            <a:off x="274320" y="1078992"/>
            <a:ext cx="4389120" cy="3657600"/>
          </a:xfrm>
          <a:prstGeom prst="roundRect">
            <a:avLst>
              <a:gd name="adj" fmla="val 2500"/>
            </a:avLst>
          </a:prstGeom>
          <a:solidFill>
            <a:srgbClr val="FEF0F0"/>
          </a:solidFill>
          <a:ln/>
          <a:effectLst>
            <a:outerShdw blurRad="63500" dist="25400" dir="2700000" algn="bl" rotWithShape="0">
              <a:srgbClr val="000000">
                <a:alpha val="10000"/>
              </a:srgbClr>
            </a:outerShdw>
          </a:effectLst>
        </p:spPr>
      </p:sp>
      <p:sp>
        <p:nvSpPr>
          <p:cNvPr id="6" name="Text 4"/>
          <p:cNvSpPr/>
          <p:nvPr/>
        </p:nvSpPr>
        <p:spPr>
          <a:xfrm>
            <a:off x="438912" y="1152144"/>
            <a:ext cx="4023360" cy="292608"/>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What Happened</a:t>
            </a:r>
            <a:endParaRPr lang="en-US" sz="1200" dirty="0"/>
          </a:p>
        </p:txBody>
      </p:sp>
      <p:sp>
        <p:nvSpPr>
          <p:cNvPr id="7" name="Text 5"/>
          <p:cNvSpPr/>
          <p:nvPr/>
        </p:nvSpPr>
        <p:spPr>
          <a:xfrm>
            <a:off x="438912" y="1481328"/>
            <a:ext cx="4023360" cy="3127248"/>
          </a:xfrm>
          <a:prstGeom prst="rect">
            <a:avLst/>
          </a:prstGeom>
          <a:noFill/>
          <a:ln/>
        </p:spPr>
        <p:txBody>
          <a:bodyPr wrap="square" rtlCol="0" anchor="t"/>
          <a:lstStyle/>
          <a:p>
            <a:pPr marL="342900" indent="-342900">
              <a:spcAft>
                <a:spcPts val="600"/>
              </a:spcAft>
              <a:buSzPct val="100000"/>
              <a:buChar char="•"/>
            </a:pPr>
            <a:r>
              <a:rPr lang="en-US" sz="900" dirty="0">
                <a:solidFill>
                  <a:srgbClr val="222222"/>
                </a:solidFill>
                <a:latin typeface="Arial" pitchFamily="34" charset="0"/>
                <a:ea typeface="Arial" pitchFamily="34" charset="-122"/>
                <a:cs typeface="Arial" pitchFamily="34" charset="-120"/>
              </a:rPr>
              <a:t>Saigon Commercial Bank (SCB) — Vietnam's 5th largest — collapsed Oct 2022 amid fraud scandal, triggering bank runs.</a:t>
            </a:r>
            <a:endParaRPr lang="en-US" sz="900" dirty="0"/>
          </a:p>
          <a:p>
            <a:pPr marL="342900" indent="-342900">
              <a:spcAft>
                <a:spcPts val="600"/>
              </a:spcAft>
              <a:buSzPct val="100000"/>
              <a:buChar char="•"/>
            </a:pPr>
            <a:r>
              <a:rPr lang="en-US" sz="900" dirty="0">
                <a:solidFill>
                  <a:srgbClr val="222222"/>
                </a:solidFill>
                <a:latin typeface="Arial" pitchFamily="34" charset="0"/>
                <a:ea typeface="Arial" pitchFamily="34" charset="-122"/>
                <a:cs typeface="Arial" pitchFamily="34" charset="-120"/>
              </a:rPr>
              <a:t>Real estate sector (financing ~20% of bank credit) saw 90% fewer licensed projects in 2022. Hundreds of developers face liquidity crises.</a:t>
            </a:r>
            <a:endParaRPr lang="en-US" sz="900" dirty="0"/>
          </a:p>
          <a:p>
            <a:pPr marL="342900" indent="-342900">
              <a:spcAft>
                <a:spcPts val="600"/>
              </a:spcAft>
              <a:buSzPct val="100000"/>
              <a:buChar char="•"/>
            </a:pPr>
            <a:r>
              <a:rPr lang="en-US" sz="900" dirty="0">
                <a:solidFill>
                  <a:srgbClr val="222222"/>
                </a:solidFill>
                <a:latin typeface="Arial" pitchFamily="34" charset="0"/>
                <a:ea typeface="Arial" pitchFamily="34" charset="-122"/>
                <a:cs typeface="Arial" pitchFamily="34" charset="-120"/>
              </a:rPr>
              <a:t>NPLs have risen to their highest level in a decade. Systemic risk remains elevated per IMF 2025.</a:t>
            </a:r>
            <a:endParaRPr lang="en-US" sz="900" dirty="0"/>
          </a:p>
          <a:p>
            <a:pPr marL="342900" indent="-342900">
              <a:spcAft>
                <a:spcPts val="600"/>
              </a:spcAft>
              <a:buSzPct val="100000"/>
              <a:buChar char="•"/>
            </a:pPr>
            <a:r>
              <a:rPr lang="en-US" sz="900" dirty="0">
                <a:solidFill>
                  <a:srgbClr val="222222"/>
                </a:solidFill>
                <a:latin typeface="Arial" pitchFamily="34" charset="0"/>
                <a:ea typeface="Arial" pitchFamily="34" charset="-122"/>
                <a:cs typeface="Arial" pitchFamily="34" charset="-120"/>
              </a:rPr>
              <a:t>Corporate bond market: large maturities falling due in 2025-H2; limited, interconnected investor base creates rollover cliff risk.</a:t>
            </a:r>
            <a:endParaRPr lang="en-US" sz="900" dirty="0"/>
          </a:p>
          <a:p>
            <a:pPr marL="342900" indent="-342900">
              <a:spcAft>
                <a:spcPts val="600"/>
              </a:spcAft>
              <a:buSzPct val="100000"/>
              <a:buChar char="•"/>
            </a:pPr>
            <a:r>
              <a:rPr lang="en-US" sz="900" dirty="0">
                <a:solidFill>
                  <a:srgbClr val="222222"/>
                </a:solidFill>
                <a:latin typeface="Arial" pitchFamily="34" charset="0"/>
                <a:ea typeface="Arial" pitchFamily="34" charset="-122"/>
                <a:cs typeface="Arial" pitchFamily="34" charset="-120"/>
              </a:rPr>
              <a:t>Private debt is elevated; significant corporate debt at risk especially in real estate and SME sectors.</a:t>
            </a:r>
            <a:endParaRPr lang="en-US" sz="900" dirty="0"/>
          </a:p>
        </p:txBody>
      </p:sp>
      <p:sp>
        <p:nvSpPr>
          <p:cNvPr id="8" name="Shape 6"/>
          <p:cNvSpPr/>
          <p:nvPr/>
        </p:nvSpPr>
        <p:spPr>
          <a:xfrm>
            <a:off x="4828032" y="1078992"/>
            <a:ext cx="4041648" cy="804672"/>
          </a:xfrm>
          <a:prstGeom prst="roundRect">
            <a:avLst>
              <a:gd name="adj" fmla="val 9091"/>
            </a:avLst>
          </a:prstGeom>
          <a:solidFill>
            <a:srgbClr val="FEF0F0"/>
          </a:solidFill>
          <a:ln/>
          <a:effectLst>
            <a:outerShdw blurRad="63500" dist="25400" dir="2700000" algn="bl" rotWithShape="0">
              <a:srgbClr val="000000">
                <a:alpha val="10000"/>
              </a:srgbClr>
            </a:outerShdw>
          </a:effectLst>
        </p:spPr>
      </p:sp>
      <p:sp>
        <p:nvSpPr>
          <p:cNvPr id="9" name="Text 7"/>
          <p:cNvSpPr/>
          <p:nvPr/>
        </p:nvSpPr>
        <p:spPr>
          <a:xfrm>
            <a:off x="4828032" y="1133856"/>
            <a:ext cx="4041648" cy="418429"/>
          </a:xfrm>
          <a:prstGeom prst="rect">
            <a:avLst/>
          </a:prstGeom>
          <a:noFill/>
          <a:ln/>
        </p:spPr>
        <p:txBody>
          <a:bodyPr wrap="square" rtlCol="0" anchor="ctr"/>
          <a:lstStyle/>
          <a:p>
            <a:pPr marL="0" indent="0" algn="ctr">
              <a:buNone/>
            </a:pPr>
            <a:r>
              <a:rPr lang="en-US" sz="2000" b="1" dirty="0">
                <a:solidFill>
                  <a:srgbClr val="C0392B"/>
                </a:solidFill>
                <a:latin typeface="Calibri" pitchFamily="34" charset="0"/>
                <a:ea typeface="Calibri" pitchFamily="34" charset="-122"/>
                <a:cs typeface="Calibri" pitchFamily="34" charset="-120"/>
              </a:rPr>
              <a:t>↑ Decade-high</a:t>
            </a:r>
            <a:endParaRPr lang="en-US" sz="2000" dirty="0"/>
          </a:p>
        </p:txBody>
      </p:sp>
      <p:sp>
        <p:nvSpPr>
          <p:cNvPr id="10" name="Text 8"/>
          <p:cNvSpPr/>
          <p:nvPr/>
        </p:nvSpPr>
        <p:spPr>
          <a:xfrm>
            <a:off x="4828032" y="1497421"/>
            <a:ext cx="4041648" cy="35405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NPL Ratio 2024</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(Non-Performing Loans)</a:t>
            </a:r>
            <a:endParaRPr lang="en-US" sz="800" dirty="0"/>
          </a:p>
        </p:txBody>
      </p:sp>
      <p:sp>
        <p:nvSpPr>
          <p:cNvPr id="11" name="Shape 9"/>
          <p:cNvSpPr/>
          <p:nvPr/>
        </p:nvSpPr>
        <p:spPr>
          <a:xfrm>
            <a:off x="4828032" y="2002536"/>
            <a:ext cx="4041648" cy="804672"/>
          </a:xfrm>
          <a:prstGeom prst="roundRect">
            <a:avLst>
              <a:gd name="adj" fmla="val 9091"/>
            </a:avLst>
          </a:prstGeom>
          <a:solidFill>
            <a:srgbClr val="FEF0F0"/>
          </a:solidFill>
          <a:ln/>
          <a:effectLst>
            <a:outerShdw blurRad="63500" dist="25400" dir="2700000" algn="bl" rotWithShape="0">
              <a:srgbClr val="000000">
                <a:alpha val="10000"/>
              </a:srgbClr>
            </a:outerShdw>
          </a:effectLst>
        </p:spPr>
      </p:sp>
      <p:sp>
        <p:nvSpPr>
          <p:cNvPr id="12" name="Text 10"/>
          <p:cNvSpPr/>
          <p:nvPr/>
        </p:nvSpPr>
        <p:spPr>
          <a:xfrm>
            <a:off x="4828032" y="2057400"/>
            <a:ext cx="4041648" cy="418429"/>
          </a:xfrm>
          <a:prstGeom prst="rect">
            <a:avLst/>
          </a:prstGeom>
          <a:noFill/>
          <a:ln/>
        </p:spPr>
        <p:txBody>
          <a:bodyPr wrap="square" rtlCol="0" anchor="ctr"/>
          <a:lstStyle/>
          <a:p>
            <a:pPr marL="0" indent="0" algn="ctr">
              <a:buNone/>
            </a:pPr>
            <a:r>
              <a:rPr lang="en-US" sz="2000" b="1" dirty="0">
                <a:solidFill>
                  <a:srgbClr val="C0392B"/>
                </a:solidFill>
                <a:latin typeface="Calibri" pitchFamily="34" charset="0"/>
                <a:ea typeface="Calibri" pitchFamily="34" charset="-122"/>
                <a:cs typeface="Calibri" pitchFamily="34" charset="-120"/>
              </a:rPr>
              <a:t>−90%</a:t>
            </a:r>
            <a:endParaRPr lang="en-US" sz="2000" dirty="0"/>
          </a:p>
        </p:txBody>
      </p:sp>
      <p:sp>
        <p:nvSpPr>
          <p:cNvPr id="13" name="Text 11"/>
          <p:cNvSpPr/>
          <p:nvPr/>
        </p:nvSpPr>
        <p:spPr>
          <a:xfrm>
            <a:off x="4828032" y="2420965"/>
            <a:ext cx="4041648" cy="35405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Licensed housing</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projects 2022 vs 2021</a:t>
            </a:r>
            <a:endParaRPr lang="en-US" sz="800" dirty="0"/>
          </a:p>
        </p:txBody>
      </p:sp>
      <p:sp>
        <p:nvSpPr>
          <p:cNvPr id="14" name="Shape 12"/>
          <p:cNvSpPr/>
          <p:nvPr/>
        </p:nvSpPr>
        <p:spPr>
          <a:xfrm>
            <a:off x="4828032" y="2926080"/>
            <a:ext cx="4041648" cy="804672"/>
          </a:xfrm>
          <a:prstGeom prst="roundRect">
            <a:avLst>
              <a:gd name="adj" fmla="val 9091"/>
            </a:avLst>
          </a:prstGeom>
          <a:solidFill>
            <a:srgbClr val="EAF0FB"/>
          </a:solidFill>
          <a:ln/>
          <a:effectLst>
            <a:outerShdw blurRad="63500" dist="25400" dir="2700000" algn="bl" rotWithShape="0">
              <a:srgbClr val="000000">
                <a:alpha val="10000"/>
              </a:srgbClr>
            </a:outerShdw>
          </a:effectLst>
        </p:spPr>
      </p:sp>
      <p:sp>
        <p:nvSpPr>
          <p:cNvPr id="15" name="Text 13"/>
          <p:cNvSpPr/>
          <p:nvPr/>
        </p:nvSpPr>
        <p:spPr>
          <a:xfrm>
            <a:off x="4828032" y="2980944"/>
            <a:ext cx="4041648" cy="418429"/>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20%</a:t>
            </a:r>
            <a:endParaRPr lang="en-US" sz="2000" dirty="0"/>
          </a:p>
        </p:txBody>
      </p:sp>
      <p:sp>
        <p:nvSpPr>
          <p:cNvPr id="16" name="Text 14"/>
          <p:cNvSpPr/>
          <p:nvPr/>
        </p:nvSpPr>
        <p:spPr>
          <a:xfrm>
            <a:off x="4828032" y="3344509"/>
            <a:ext cx="4041648" cy="35405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Bank credit</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exposed to real estate</a:t>
            </a:r>
            <a:endParaRPr lang="en-US" sz="800" dirty="0"/>
          </a:p>
        </p:txBody>
      </p:sp>
      <p:sp>
        <p:nvSpPr>
          <p:cNvPr id="17" name="Shape 15"/>
          <p:cNvSpPr/>
          <p:nvPr/>
        </p:nvSpPr>
        <p:spPr>
          <a:xfrm>
            <a:off x="4828032" y="3849624"/>
            <a:ext cx="4041648" cy="804672"/>
          </a:xfrm>
          <a:prstGeom prst="roundRect">
            <a:avLst>
              <a:gd name="adj" fmla="val 9091"/>
            </a:avLst>
          </a:prstGeom>
          <a:solidFill>
            <a:srgbClr val="EAF0FB"/>
          </a:solidFill>
          <a:ln/>
          <a:effectLst>
            <a:outerShdw blurRad="63500" dist="25400" dir="2700000" algn="bl" rotWithShape="0">
              <a:srgbClr val="000000">
                <a:alpha val="10000"/>
              </a:srgbClr>
            </a:outerShdw>
          </a:effectLst>
        </p:spPr>
      </p:sp>
      <p:sp>
        <p:nvSpPr>
          <p:cNvPr id="18" name="Text 16"/>
          <p:cNvSpPr/>
          <p:nvPr/>
        </p:nvSpPr>
        <p:spPr>
          <a:xfrm>
            <a:off x="4828032" y="3904488"/>
            <a:ext cx="4041648" cy="418429"/>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~37%</a:t>
            </a:r>
            <a:endParaRPr lang="en-US" sz="2000" dirty="0"/>
          </a:p>
        </p:txBody>
      </p:sp>
      <p:sp>
        <p:nvSpPr>
          <p:cNvPr id="19" name="Text 17"/>
          <p:cNvSpPr/>
          <p:nvPr/>
        </p:nvSpPr>
        <p:spPr>
          <a:xfrm>
            <a:off x="4828032" y="4268053"/>
            <a:ext cx="4041648" cy="354056"/>
          </a:xfrm>
          <a:prstGeom prst="rect">
            <a:avLst/>
          </a:prstGeom>
          <a:noFill/>
          <a:ln/>
        </p:spPr>
        <p:txBody>
          <a:bodyPr wrap="square" rtlCol="0" anchor="t"/>
          <a:lstStyle/>
          <a:p>
            <a:pPr marL="0" indent="0" algn="ctr">
              <a:buNone/>
            </a:pPr>
            <a:r>
              <a:rPr lang="en-US" sz="800" dirty="0">
                <a:solidFill>
                  <a:srgbClr val="6B7A99"/>
                </a:solidFill>
                <a:latin typeface="Arial" pitchFamily="34" charset="0"/>
                <a:ea typeface="Arial" pitchFamily="34" charset="-122"/>
                <a:cs typeface="Arial" pitchFamily="34" charset="-120"/>
              </a:rPr>
              <a:t>Govt. Debt / GDP</a:t>
            </a:r>
            <a:endParaRPr lang="en-US" sz="800" dirty="0"/>
          </a:p>
          <a:p>
            <a:pPr marL="0" indent="0" algn="ctr">
              <a:buNone/>
            </a:pPr>
            <a:r>
              <a:rPr lang="en-US" sz="800" dirty="0">
                <a:solidFill>
                  <a:srgbClr val="6B7A99"/>
                </a:solidFill>
                <a:latin typeface="Arial" pitchFamily="34" charset="0"/>
                <a:ea typeface="Arial" pitchFamily="34" charset="-122"/>
                <a:cs typeface="Arial" pitchFamily="34" charset="-120"/>
              </a:rPr>
              <a:t>2024 estimate</a:t>
            </a:r>
            <a:endParaRPr lang="en-US" sz="800" dirty="0"/>
          </a:p>
        </p:txBody>
      </p:sp>
      <p:sp>
        <p:nvSpPr>
          <p:cNvPr id="23" name="Shape 21"/>
          <p:cNvSpPr/>
          <p:nvPr/>
        </p:nvSpPr>
        <p:spPr>
          <a:xfrm>
            <a:off x="0" y="4828032"/>
            <a:ext cx="9144000" cy="315468"/>
          </a:xfrm>
          <a:prstGeom prst="rect">
            <a:avLst/>
          </a:prstGeom>
          <a:solidFill>
            <a:srgbClr val="1B2A4A"/>
          </a:solidFill>
          <a:ln w="12700">
            <a:solidFill>
              <a:srgbClr val="1B2A4A"/>
            </a:solidFill>
            <a:prstDash val="solid"/>
          </a:ln>
        </p:spPr>
      </p:sp>
      <p:sp>
        <p:nvSpPr>
          <p:cNvPr id="24" name="Text 22"/>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IMF Article IV Consultation 2025 – §20 Financial Risks: elibrary.imf.org/view/journals/002/2025/283  |  OECD Economic Survey Vietnam 2025 – Banking/Real Estate: oecd.org/economy/vietnam-economic-survey  |  AMRO Asia – Vietnam Assessment Mar 2025: amro-asia.org/vietnam-targeted-macro-policies  |  Krungsri Research – Vietnam Financial 2025: krungsri.com/en/research/research-intelligence/vietnam-financial-2025  |  AMRO Asia – Recalibrate Policy Oct 2024: amro-asia.org/vietnam-recalibrate-policy-mix</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03 — Problem 3: Structural Productivity Trap &amp; Demographic Transition</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Broad Economic Problem with Indirect Macroeconomic Implications</a:t>
            </a:r>
            <a:endParaRPr lang="en-US" sz="950" dirty="0"/>
          </a:p>
        </p:txBody>
      </p:sp>
      <p:sp>
        <p:nvSpPr>
          <p:cNvPr id="5" name="Shape 3"/>
          <p:cNvSpPr/>
          <p:nvPr/>
        </p:nvSpPr>
        <p:spPr>
          <a:xfrm>
            <a:off x="274320" y="1078992"/>
            <a:ext cx="2788920" cy="3657600"/>
          </a:xfrm>
          <a:prstGeom prst="roundRect">
            <a:avLst>
              <a:gd name="adj" fmla="val 3279"/>
            </a:avLst>
          </a:prstGeom>
          <a:solidFill>
            <a:srgbClr val="EAF0FB"/>
          </a:solidFill>
          <a:ln/>
          <a:effectLst>
            <a:outerShdw blurRad="63500" dist="25400" dir="2700000" algn="bl" rotWithShape="0">
              <a:srgbClr val="000000">
                <a:alpha val="10000"/>
              </a:srgbClr>
            </a:outerShdw>
          </a:effectLst>
        </p:spPr>
      </p:sp>
      <p:sp>
        <p:nvSpPr>
          <p:cNvPr id="6" name="Text 4"/>
          <p:cNvSpPr/>
          <p:nvPr/>
        </p:nvSpPr>
        <p:spPr>
          <a:xfrm>
            <a:off x="411480" y="1143000"/>
            <a:ext cx="2560320" cy="32004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Low Productivity</a:t>
            </a:r>
            <a:endParaRPr lang="en-US" sz="1100" dirty="0"/>
          </a:p>
        </p:txBody>
      </p:sp>
      <p:sp>
        <p:nvSpPr>
          <p:cNvPr id="7" name="Text 5"/>
          <p:cNvSpPr/>
          <p:nvPr/>
        </p:nvSpPr>
        <p:spPr>
          <a:xfrm>
            <a:off x="411480" y="1481328"/>
            <a:ext cx="2578608" cy="3200400"/>
          </a:xfrm>
          <a:prstGeom prst="rect">
            <a:avLst/>
          </a:prstGeom>
          <a:noFill/>
          <a:ln/>
        </p:spPr>
        <p:txBody>
          <a:bodyPr wrap="square" rtlCol="0" anchor="t"/>
          <a:lstStyle/>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~50% of GDP growth since 2000s from electronics alone; broader productivity gains are shallow.</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FDI firms (75% of exports) have weak linkages with local firms — limited technology spillover.</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27.5% of workers in low-productivity agriculture; SME sector underfunded.</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Vietnam risks the middle-income trap as labour cost advantages erode vs peers.</a:t>
            </a:r>
            <a:endParaRPr lang="en-US" sz="850" dirty="0"/>
          </a:p>
        </p:txBody>
      </p:sp>
      <p:sp>
        <p:nvSpPr>
          <p:cNvPr id="8" name="Shape 6"/>
          <p:cNvSpPr/>
          <p:nvPr/>
        </p:nvSpPr>
        <p:spPr>
          <a:xfrm>
            <a:off x="3182112" y="1078992"/>
            <a:ext cx="2788920" cy="3657600"/>
          </a:xfrm>
          <a:prstGeom prst="roundRect">
            <a:avLst>
              <a:gd name="adj" fmla="val 3279"/>
            </a:avLst>
          </a:prstGeom>
          <a:solidFill>
            <a:srgbClr val="FFF8E6"/>
          </a:solidFill>
          <a:ln/>
          <a:effectLst>
            <a:outerShdw blurRad="63500" dist="25400" dir="2700000" algn="bl" rotWithShape="0">
              <a:srgbClr val="000000">
                <a:alpha val="10000"/>
              </a:srgbClr>
            </a:outerShdw>
          </a:effectLst>
        </p:spPr>
      </p:sp>
      <p:sp>
        <p:nvSpPr>
          <p:cNvPr id="9" name="Text 7"/>
          <p:cNvSpPr/>
          <p:nvPr/>
        </p:nvSpPr>
        <p:spPr>
          <a:xfrm>
            <a:off x="3319272" y="1143000"/>
            <a:ext cx="2560320" cy="320040"/>
          </a:xfrm>
          <a:prstGeom prst="rect">
            <a:avLst/>
          </a:prstGeom>
          <a:noFill/>
          <a:ln/>
        </p:spPr>
        <p:txBody>
          <a:bodyPr wrap="square" rtlCol="0" anchor="ctr"/>
          <a:lstStyle/>
          <a:p>
            <a:pPr marL="0" indent="0">
              <a:buNone/>
            </a:pPr>
            <a:r>
              <a:rPr lang="en-US" sz="1100" b="1" dirty="0">
                <a:solidFill>
                  <a:srgbClr val="D4651A"/>
                </a:solidFill>
                <a:latin typeface="Calibri" pitchFamily="34" charset="0"/>
                <a:ea typeface="Calibri" pitchFamily="34" charset="-122"/>
                <a:cs typeface="Calibri" pitchFamily="34" charset="-120"/>
              </a:rPr>
              <a:t>Demographic Shift</a:t>
            </a:r>
            <a:endParaRPr lang="en-US" sz="1100" dirty="0"/>
          </a:p>
        </p:txBody>
      </p:sp>
      <p:sp>
        <p:nvSpPr>
          <p:cNvPr id="10" name="Text 8"/>
          <p:cNvSpPr/>
          <p:nvPr/>
        </p:nvSpPr>
        <p:spPr>
          <a:xfrm>
            <a:off x="3319272" y="1481328"/>
            <a:ext cx="2578608" cy="3200400"/>
          </a:xfrm>
          <a:prstGeom prst="rect">
            <a:avLst/>
          </a:prstGeom>
          <a:noFill/>
          <a:ln/>
        </p:spPr>
        <p:txBody>
          <a:bodyPr wrap="square" rtlCol="0" anchor="t"/>
          <a:lstStyle/>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Fertility rate declining below replacement; ageing population burden rising rapidly.</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Working-age population share will begin declining post-2040, shrinking the demographic dividend.</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Pension &amp; healthcare spending set to rise by 10–16% of GDP by 2060 (OECD).</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Labour migration to urban zones creates regional inequality and social strain.</a:t>
            </a:r>
            <a:endParaRPr lang="en-US" sz="850" dirty="0"/>
          </a:p>
        </p:txBody>
      </p:sp>
      <p:sp>
        <p:nvSpPr>
          <p:cNvPr id="11" name="Shape 9"/>
          <p:cNvSpPr/>
          <p:nvPr/>
        </p:nvSpPr>
        <p:spPr>
          <a:xfrm>
            <a:off x="6089904" y="1078992"/>
            <a:ext cx="2788920" cy="3657600"/>
          </a:xfrm>
          <a:prstGeom prst="roundRect">
            <a:avLst>
              <a:gd name="adj" fmla="val 3279"/>
            </a:avLst>
          </a:prstGeom>
          <a:solidFill>
            <a:srgbClr val="EAF7F0"/>
          </a:solidFill>
          <a:ln/>
          <a:effectLst>
            <a:outerShdw blurRad="63500" dist="25400" dir="2700000" algn="bl" rotWithShape="0">
              <a:srgbClr val="000000">
                <a:alpha val="10000"/>
              </a:srgbClr>
            </a:outerShdw>
          </a:effectLst>
        </p:spPr>
      </p:sp>
      <p:sp>
        <p:nvSpPr>
          <p:cNvPr id="12" name="Text 10"/>
          <p:cNvSpPr/>
          <p:nvPr/>
        </p:nvSpPr>
        <p:spPr>
          <a:xfrm>
            <a:off x="6227064" y="1143000"/>
            <a:ext cx="2560320" cy="320040"/>
          </a:xfrm>
          <a:prstGeom prst="rect">
            <a:avLst/>
          </a:prstGeom>
          <a:noFill/>
          <a:ln/>
        </p:spPr>
        <p:txBody>
          <a:bodyPr wrap="square"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Macro Implications</a:t>
            </a:r>
            <a:endParaRPr lang="en-US" sz="1100" dirty="0"/>
          </a:p>
        </p:txBody>
      </p:sp>
      <p:sp>
        <p:nvSpPr>
          <p:cNvPr id="13" name="Text 11"/>
          <p:cNvSpPr/>
          <p:nvPr/>
        </p:nvSpPr>
        <p:spPr>
          <a:xfrm>
            <a:off x="6227064" y="1481328"/>
            <a:ext cx="2578608" cy="3200400"/>
          </a:xfrm>
          <a:prstGeom prst="rect">
            <a:avLst/>
          </a:prstGeom>
          <a:noFill/>
          <a:ln/>
        </p:spPr>
        <p:txBody>
          <a:bodyPr wrap="square" rtlCol="0" anchor="t"/>
          <a:lstStyle/>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Slower productivity → structural GDP deceleration toward 5–6% post-2030.</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Ageing population will strain public finances and narrow fiscal space for counter-cyclical policy.</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Inability to move up value chain increases US tariff &amp; competitor manufacturing vulnerability.</a:t>
            </a:r>
            <a:endParaRPr lang="en-US" sz="850" dirty="0"/>
          </a:p>
          <a:p>
            <a:pPr marL="342900" indent="-342900">
              <a:spcAft>
                <a:spcPts val="700"/>
              </a:spcAft>
              <a:buSzPct val="100000"/>
              <a:buChar char="•"/>
            </a:pPr>
            <a:r>
              <a:rPr lang="en-US" sz="850" dirty="0">
                <a:solidFill>
                  <a:srgbClr val="222222"/>
                </a:solidFill>
                <a:latin typeface="Arial" pitchFamily="34" charset="0"/>
                <a:ea typeface="Arial" pitchFamily="34" charset="-122"/>
                <a:cs typeface="Arial" pitchFamily="34" charset="-120"/>
              </a:rPr>
              <a:t>Skills mismatch between workers and high-tech FDI demands widens income inequality.</a:t>
            </a:r>
            <a:endParaRPr lang="en-US" sz="850" dirty="0"/>
          </a:p>
        </p:txBody>
      </p:sp>
      <p:sp>
        <p:nvSpPr>
          <p:cNvPr id="14" name="Shape 12"/>
          <p:cNvSpPr/>
          <p:nvPr/>
        </p:nvSpPr>
        <p:spPr>
          <a:xfrm>
            <a:off x="0" y="4828032"/>
            <a:ext cx="9144000" cy="315468"/>
          </a:xfrm>
          <a:prstGeom prst="rect">
            <a:avLst/>
          </a:prstGeom>
          <a:solidFill>
            <a:srgbClr val="1B2A4A"/>
          </a:solidFill>
          <a:ln w="12700">
            <a:solidFill>
              <a:srgbClr val="1B2A4A"/>
            </a:solidFill>
            <a:prstDash val="solid"/>
          </a:ln>
        </p:spPr>
      </p:sp>
      <p:sp>
        <p:nvSpPr>
          <p:cNvPr id="15" name="Text 13"/>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OECD Economic Survey Vietnam 2025 – Productivity &amp; FDI (ch.2): oecd.org/economy/vietnam-economic-survey  |  World Bank – Vietnam Human Capital: worldbank.org/en/country/vietnam/overview  |  OECD – Vietnam Pension Outlook 2025: oecd.org/pensions/vietnam  |  ILO – Vietnam Labour Productivity: ilo.org/asia/countries/viet-nam  |  GSO Vietnam – Population Projections: gso.gov.vn/en/homepage.html</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04 — Remedy 1: Export Diversification &amp; Strategic Trade Reorientation</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Addressing: US Tariff Exposure &amp; Export Concentration · Mundell-Fleming Open Economy Framework</a:t>
            </a:r>
            <a:endParaRPr lang="en-US" sz="950" dirty="0"/>
          </a:p>
        </p:txBody>
      </p:sp>
      <p:sp>
        <p:nvSpPr>
          <p:cNvPr id="5" name="Shape 3"/>
          <p:cNvSpPr/>
          <p:nvPr/>
        </p:nvSpPr>
        <p:spPr>
          <a:xfrm>
            <a:off x="274320" y="1078992"/>
            <a:ext cx="4206240" cy="1207008"/>
          </a:xfrm>
          <a:prstGeom prst="roundRect">
            <a:avLst>
              <a:gd name="adj" fmla="val 7576"/>
            </a:avLst>
          </a:prstGeom>
          <a:solidFill>
            <a:srgbClr val="EAF0FB"/>
          </a:solidFill>
          <a:ln/>
          <a:effectLst>
            <a:outerShdw blurRad="63500" dist="25400" dir="2700000" algn="bl" rotWithShape="0">
              <a:srgbClr val="000000">
                <a:alpha val="10000"/>
              </a:srgbClr>
            </a:outerShdw>
          </a:effectLst>
        </p:spPr>
      </p:sp>
      <p:sp>
        <p:nvSpPr>
          <p:cNvPr id="6" name="Text 4"/>
          <p:cNvSpPr/>
          <p:nvPr/>
        </p:nvSpPr>
        <p:spPr>
          <a:xfrm>
            <a:off x="438912" y="1133856"/>
            <a:ext cx="3840480" cy="274320"/>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Macroeconomic Mechanism</a:t>
            </a:r>
            <a:endParaRPr lang="en-US" sz="1000" dirty="0"/>
          </a:p>
        </p:txBody>
      </p:sp>
      <p:sp>
        <p:nvSpPr>
          <p:cNvPr id="7" name="Text 5"/>
          <p:cNvSpPr/>
          <p:nvPr/>
        </p:nvSpPr>
        <p:spPr>
          <a:xfrm>
            <a:off x="438912" y="1389888"/>
            <a:ext cx="3840480" cy="822960"/>
          </a:xfrm>
          <a:prstGeom prst="rect">
            <a:avLst/>
          </a:prstGeom>
          <a:noFill/>
          <a:ln/>
        </p:spPr>
        <p:txBody>
          <a:bodyPr wrap="square" rtlCol="0" anchor="ctr"/>
          <a:lstStyle/>
          <a:p>
            <a:pPr marL="0" indent="0">
              <a:buNone/>
            </a:pPr>
            <a:r>
              <a:rPr lang="en-US" sz="850" dirty="0">
                <a:solidFill>
                  <a:srgbClr val="222222"/>
                </a:solidFill>
                <a:latin typeface="Arial" pitchFamily="34" charset="0"/>
                <a:ea typeface="Arial" pitchFamily="34" charset="-122"/>
                <a:cs typeface="Arial" pitchFamily="34" charset="-120"/>
              </a:rPr>
              <a:t>Under flexible exchange rate (Mundell-Fleming): fiscal &amp; trade policy to diversify exports → shifts NX composition → reduces BOP vulnerability. A diversified base lowers the external shock multiplier on domestic GDP.</a:t>
            </a:r>
            <a:endParaRPr lang="en-US" sz="850" dirty="0"/>
          </a:p>
        </p:txBody>
      </p:sp>
      <p:sp>
        <p:nvSpPr>
          <p:cNvPr id="8" name="Shape 6"/>
          <p:cNvSpPr/>
          <p:nvPr/>
        </p:nvSpPr>
        <p:spPr>
          <a:xfrm>
            <a:off x="4617720" y="1078992"/>
            <a:ext cx="4251960" cy="1207008"/>
          </a:xfrm>
          <a:prstGeom prst="roundRect">
            <a:avLst>
              <a:gd name="adj" fmla="val 7576"/>
            </a:avLst>
          </a:prstGeom>
          <a:solidFill>
            <a:srgbClr val="EAF7F0"/>
          </a:solidFill>
          <a:ln/>
          <a:effectLst>
            <a:outerShdw blurRad="63500" dist="25400" dir="2700000" algn="bl" rotWithShape="0">
              <a:srgbClr val="000000">
                <a:alpha val="10000"/>
              </a:srgbClr>
            </a:outerShdw>
          </a:effectLst>
        </p:spPr>
      </p:sp>
      <p:sp>
        <p:nvSpPr>
          <p:cNvPr id="9" name="Text 7"/>
          <p:cNvSpPr/>
          <p:nvPr/>
        </p:nvSpPr>
        <p:spPr>
          <a:xfrm>
            <a:off x="4773168" y="1133856"/>
            <a:ext cx="3931920" cy="274320"/>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Urgency &amp; Feasibility</a:t>
            </a:r>
            <a:endParaRPr lang="en-US" sz="1000" dirty="0"/>
          </a:p>
        </p:txBody>
      </p:sp>
      <p:sp>
        <p:nvSpPr>
          <p:cNvPr id="10" name="Text 8"/>
          <p:cNvSpPr/>
          <p:nvPr/>
        </p:nvSpPr>
        <p:spPr>
          <a:xfrm>
            <a:off x="4773168" y="1389888"/>
            <a:ext cx="3931920" cy="822960"/>
          </a:xfrm>
          <a:prstGeom prst="rect">
            <a:avLst/>
          </a:prstGeom>
          <a:noFill/>
          <a:ln/>
        </p:spPr>
        <p:txBody>
          <a:bodyPr wrap="square" rtlCol="0" anchor="ctr"/>
          <a:lstStyle/>
          <a:p>
            <a:pPr marL="0" indent="0">
              <a:buNone/>
            </a:pPr>
            <a:r>
              <a:rPr lang="en-US" sz="850" dirty="0">
                <a:solidFill>
                  <a:srgbClr val="222222"/>
                </a:solidFill>
                <a:latin typeface="Arial" pitchFamily="34" charset="0"/>
                <a:ea typeface="Arial" pitchFamily="34" charset="-122"/>
                <a:cs typeface="Arial" pitchFamily="34" charset="-120"/>
              </a:rPr>
              <a:t>Vietnam has 17 FTAs — CPTPP, RCEP, EU-VN FTA. EU and ASEAN markets are underpenetrated relative to US dependency. India and Middle East offer high-growth opportunities for textiles, seafood and electronics.</a:t>
            </a:r>
            <a:endParaRPr lang="en-US" sz="850" dirty="0"/>
          </a:p>
        </p:txBody>
      </p:sp>
      <p:sp>
        <p:nvSpPr>
          <p:cNvPr id="11" name="Shape 9"/>
          <p:cNvSpPr/>
          <p:nvPr/>
        </p:nvSpPr>
        <p:spPr>
          <a:xfrm>
            <a:off x="274320" y="2423160"/>
            <a:ext cx="2743200" cy="1133856"/>
          </a:xfrm>
          <a:prstGeom prst="roundRect">
            <a:avLst>
              <a:gd name="adj" fmla="val 8065"/>
            </a:avLst>
          </a:prstGeom>
          <a:solidFill>
            <a:srgbClr val="FFFFFF"/>
          </a:solidFill>
          <a:ln/>
          <a:effectLst>
            <a:outerShdw blurRad="63500" dist="25400" dir="2700000" algn="bl" rotWithShape="0">
              <a:srgbClr val="000000">
                <a:alpha val="10000"/>
              </a:srgbClr>
            </a:outerShdw>
          </a:effectLst>
        </p:spPr>
      </p:sp>
      <p:sp>
        <p:nvSpPr>
          <p:cNvPr id="12" name="Shape 10"/>
          <p:cNvSpPr/>
          <p:nvPr/>
        </p:nvSpPr>
        <p:spPr>
          <a:xfrm>
            <a:off x="365760" y="2514600"/>
            <a:ext cx="365760" cy="329184"/>
          </a:xfrm>
          <a:prstGeom prst="roundRect">
            <a:avLst>
              <a:gd name="adj" fmla="val 13889"/>
            </a:avLst>
          </a:prstGeom>
          <a:solidFill>
            <a:srgbClr val="1B2A4A"/>
          </a:solidFill>
          <a:ln/>
        </p:spPr>
      </p:sp>
      <p:sp>
        <p:nvSpPr>
          <p:cNvPr id="13" name="Text 11"/>
          <p:cNvSpPr/>
          <p:nvPr/>
        </p:nvSpPr>
        <p:spPr>
          <a:xfrm>
            <a:off x="365760" y="2514600"/>
            <a:ext cx="365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4" name="Text 12"/>
          <p:cNvSpPr/>
          <p:nvPr/>
        </p:nvSpPr>
        <p:spPr>
          <a:xfrm>
            <a:off x="804672" y="2514600"/>
            <a:ext cx="2148840" cy="292608"/>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Accelerate FTA Utilisation</a:t>
            </a:r>
            <a:endParaRPr lang="en-US" sz="900" dirty="0"/>
          </a:p>
        </p:txBody>
      </p:sp>
      <p:sp>
        <p:nvSpPr>
          <p:cNvPr id="15" name="Text 13"/>
          <p:cNvSpPr/>
          <p:nvPr/>
        </p:nvSpPr>
        <p:spPr>
          <a:xfrm>
            <a:off x="384048" y="2843784"/>
            <a:ext cx="2578608" cy="658368"/>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Intensify CPTPP and EU-VN FTA provisions. Target 5% EU share increase; dedicated FTA desks for SME exporters.</a:t>
            </a:r>
            <a:endParaRPr lang="en-US" sz="780" dirty="0"/>
          </a:p>
        </p:txBody>
      </p:sp>
      <p:sp>
        <p:nvSpPr>
          <p:cNvPr id="16" name="Shape 14"/>
          <p:cNvSpPr/>
          <p:nvPr/>
        </p:nvSpPr>
        <p:spPr>
          <a:xfrm>
            <a:off x="3182112" y="2423160"/>
            <a:ext cx="2743200" cy="1133856"/>
          </a:xfrm>
          <a:prstGeom prst="roundRect">
            <a:avLst>
              <a:gd name="adj" fmla="val 8065"/>
            </a:avLst>
          </a:prstGeom>
          <a:solidFill>
            <a:srgbClr val="FFFFFF"/>
          </a:solidFill>
          <a:ln/>
          <a:effectLst>
            <a:outerShdw blurRad="63500" dist="25400" dir="2700000" algn="bl" rotWithShape="0">
              <a:srgbClr val="000000">
                <a:alpha val="10000"/>
              </a:srgbClr>
            </a:outerShdw>
          </a:effectLst>
        </p:spPr>
      </p:sp>
      <p:sp>
        <p:nvSpPr>
          <p:cNvPr id="17" name="Shape 15"/>
          <p:cNvSpPr/>
          <p:nvPr/>
        </p:nvSpPr>
        <p:spPr>
          <a:xfrm>
            <a:off x="3273552" y="2514600"/>
            <a:ext cx="365760" cy="329184"/>
          </a:xfrm>
          <a:prstGeom prst="roundRect">
            <a:avLst>
              <a:gd name="adj" fmla="val 13889"/>
            </a:avLst>
          </a:prstGeom>
          <a:solidFill>
            <a:srgbClr val="0D7377"/>
          </a:solidFill>
          <a:ln/>
        </p:spPr>
      </p:sp>
      <p:sp>
        <p:nvSpPr>
          <p:cNvPr id="18" name="Text 16"/>
          <p:cNvSpPr/>
          <p:nvPr/>
        </p:nvSpPr>
        <p:spPr>
          <a:xfrm>
            <a:off x="3273552" y="2514600"/>
            <a:ext cx="365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9" name="Text 17"/>
          <p:cNvSpPr/>
          <p:nvPr/>
        </p:nvSpPr>
        <p:spPr>
          <a:xfrm>
            <a:off x="3712464" y="2514600"/>
            <a:ext cx="2148840" cy="292608"/>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Upgrade Value Chain Position</a:t>
            </a:r>
            <a:endParaRPr lang="en-US" sz="900" dirty="0"/>
          </a:p>
        </p:txBody>
      </p:sp>
      <p:sp>
        <p:nvSpPr>
          <p:cNvPr id="20" name="Text 18"/>
          <p:cNvSpPr/>
          <p:nvPr/>
        </p:nvSpPr>
        <p:spPr>
          <a:xfrm>
            <a:off x="3291840" y="2843784"/>
            <a:ext cx="2578608" cy="658368"/>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Incentivise R&amp;D co-investment between FDI firms and local suppliers. Move from assembly to design; target advanced electronics.</a:t>
            </a:r>
            <a:endParaRPr lang="en-US" sz="780" dirty="0"/>
          </a:p>
        </p:txBody>
      </p:sp>
      <p:sp>
        <p:nvSpPr>
          <p:cNvPr id="21" name="Shape 19"/>
          <p:cNvSpPr/>
          <p:nvPr/>
        </p:nvSpPr>
        <p:spPr>
          <a:xfrm>
            <a:off x="6089904" y="2423160"/>
            <a:ext cx="2743200" cy="1133856"/>
          </a:xfrm>
          <a:prstGeom prst="roundRect">
            <a:avLst>
              <a:gd name="adj" fmla="val 8065"/>
            </a:avLst>
          </a:prstGeom>
          <a:solidFill>
            <a:srgbClr val="FFFFFF"/>
          </a:solidFill>
          <a:ln/>
          <a:effectLst>
            <a:outerShdw blurRad="63500" dist="25400" dir="2700000" algn="bl" rotWithShape="0">
              <a:srgbClr val="000000">
                <a:alpha val="10000"/>
              </a:srgbClr>
            </a:outerShdw>
          </a:effectLst>
        </p:spPr>
      </p:sp>
      <p:sp>
        <p:nvSpPr>
          <p:cNvPr id="22" name="Shape 20"/>
          <p:cNvSpPr/>
          <p:nvPr/>
        </p:nvSpPr>
        <p:spPr>
          <a:xfrm>
            <a:off x="6181344" y="2514600"/>
            <a:ext cx="365760" cy="329184"/>
          </a:xfrm>
          <a:prstGeom prst="roundRect">
            <a:avLst>
              <a:gd name="adj" fmla="val 13889"/>
            </a:avLst>
          </a:prstGeom>
          <a:solidFill>
            <a:srgbClr val="1A7A4A"/>
          </a:solidFill>
          <a:ln/>
        </p:spPr>
      </p:sp>
      <p:sp>
        <p:nvSpPr>
          <p:cNvPr id="23" name="Text 21"/>
          <p:cNvSpPr/>
          <p:nvPr/>
        </p:nvSpPr>
        <p:spPr>
          <a:xfrm>
            <a:off x="6181344" y="2514600"/>
            <a:ext cx="365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4" name="Text 22"/>
          <p:cNvSpPr/>
          <p:nvPr/>
        </p:nvSpPr>
        <p:spPr>
          <a:xfrm>
            <a:off x="6620256" y="2514600"/>
            <a:ext cx="2148840" cy="292608"/>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Deepen ASEAN + India Links</a:t>
            </a:r>
            <a:endParaRPr lang="en-US" sz="900" dirty="0"/>
          </a:p>
        </p:txBody>
      </p:sp>
      <p:sp>
        <p:nvSpPr>
          <p:cNvPr id="25" name="Text 23"/>
          <p:cNvSpPr/>
          <p:nvPr/>
        </p:nvSpPr>
        <p:spPr>
          <a:xfrm>
            <a:off x="6199632" y="2843784"/>
            <a:ext cx="2578608" cy="658368"/>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Pursue bilateral manufacturing corridors with India. Use RCEP to create complementary supply chains reducing US dependency.</a:t>
            </a:r>
            <a:endParaRPr lang="en-US" sz="780" dirty="0"/>
          </a:p>
        </p:txBody>
      </p:sp>
      <p:sp>
        <p:nvSpPr>
          <p:cNvPr id="26" name="Shape 24"/>
          <p:cNvSpPr/>
          <p:nvPr/>
        </p:nvSpPr>
        <p:spPr>
          <a:xfrm>
            <a:off x="274320" y="3657600"/>
            <a:ext cx="2743200" cy="1133856"/>
          </a:xfrm>
          <a:prstGeom prst="roundRect">
            <a:avLst>
              <a:gd name="adj" fmla="val 8065"/>
            </a:avLst>
          </a:prstGeom>
          <a:solidFill>
            <a:srgbClr val="FFFFFF"/>
          </a:solidFill>
          <a:ln/>
          <a:effectLst>
            <a:outerShdw blurRad="63500" dist="25400" dir="2700000" algn="bl" rotWithShape="0">
              <a:srgbClr val="000000">
                <a:alpha val="10000"/>
              </a:srgbClr>
            </a:outerShdw>
          </a:effectLst>
        </p:spPr>
      </p:sp>
      <p:sp>
        <p:nvSpPr>
          <p:cNvPr id="27" name="Shape 25"/>
          <p:cNvSpPr/>
          <p:nvPr/>
        </p:nvSpPr>
        <p:spPr>
          <a:xfrm>
            <a:off x="365760" y="3749040"/>
            <a:ext cx="365760" cy="329184"/>
          </a:xfrm>
          <a:prstGeom prst="roundRect">
            <a:avLst>
              <a:gd name="adj" fmla="val 13889"/>
            </a:avLst>
          </a:prstGeom>
          <a:solidFill>
            <a:srgbClr val="D4651A"/>
          </a:solidFill>
          <a:ln/>
        </p:spPr>
      </p:sp>
      <p:sp>
        <p:nvSpPr>
          <p:cNvPr id="28" name="Text 26"/>
          <p:cNvSpPr/>
          <p:nvPr/>
        </p:nvSpPr>
        <p:spPr>
          <a:xfrm>
            <a:off x="365760" y="3749040"/>
            <a:ext cx="365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9" name="Text 27"/>
          <p:cNvSpPr/>
          <p:nvPr/>
        </p:nvSpPr>
        <p:spPr>
          <a:xfrm>
            <a:off x="804672" y="3749040"/>
            <a:ext cx="2148840" cy="292608"/>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Address Transshipment Risk</a:t>
            </a:r>
            <a:endParaRPr lang="en-US" sz="900" dirty="0"/>
          </a:p>
        </p:txBody>
      </p:sp>
      <p:sp>
        <p:nvSpPr>
          <p:cNvPr id="30" name="Text 28"/>
          <p:cNvSpPr/>
          <p:nvPr/>
        </p:nvSpPr>
        <p:spPr>
          <a:xfrm>
            <a:off x="384048" y="4078224"/>
            <a:ext cx="2578608" cy="658368"/>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Enforce rules-of-origin compliance rigorously to avoid 40% transshipment tariffs. Build domestic value-addition benchmarks.</a:t>
            </a:r>
            <a:endParaRPr lang="en-US" sz="780" dirty="0"/>
          </a:p>
        </p:txBody>
      </p:sp>
      <p:sp>
        <p:nvSpPr>
          <p:cNvPr id="31" name="Shape 29"/>
          <p:cNvSpPr/>
          <p:nvPr/>
        </p:nvSpPr>
        <p:spPr>
          <a:xfrm>
            <a:off x="3182112" y="3657600"/>
            <a:ext cx="2743200" cy="1133856"/>
          </a:xfrm>
          <a:prstGeom prst="roundRect">
            <a:avLst>
              <a:gd name="adj" fmla="val 8065"/>
            </a:avLst>
          </a:prstGeom>
          <a:solidFill>
            <a:srgbClr val="FFFFFF"/>
          </a:solidFill>
          <a:ln/>
          <a:effectLst>
            <a:outerShdw blurRad="63500" dist="25400" dir="2700000" algn="bl" rotWithShape="0">
              <a:srgbClr val="000000">
                <a:alpha val="10000"/>
              </a:srgbClr>
            </a:outerShdw>
          </a:effectLst>
        </p:spPr>
      </p:sp>
      <p:sp>
        <p:nvSpPr>
          <p:cNvPr id="32" name="Shape 30"/>
          <p:cNvSpPr/>
          <p:nvPr/>
        </p:nvSpPr>
        <p:spPr>
          <a:xfrm>
            <a:off x="3273552" y="3749040"/>
            <a:ext cx="365760" cy="329184"/>
          </a:xfrm>
          <a:prstGeom prst="roundRect">
            <a:avLst>
              <a:gd name="adj" fmla="val 13889"/>
            </a:avLst>
          </a:prstGeom>
          <a:solidFill>
            <a:srgbClr val="C0392B"/>
          </a:solidFill>
          <a:ln/>
        </p:spPr>
      </p:sp>
      <p:sp>
        <p:nvSpPr>
          <p:cNvPr id="33" name="Text 31"/>
          <p:cNvSpPr/>
          <p:nvPr/>
        </p:nvSpPr>
        <p:spPr>
          <a:xfrm>
            <a:off x="3273552" y="3749040"/>
            <a:ext cx="365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4" name="Text 32"/>
          <p:cNvSpPr/>
          <p:nvPr/>
        </p:nvSpPr>
        <p:spPr>
          <a:xfrm>
            <a:off x="3712464" y="3749040"/>
            <a:ext cx="2148840" cy="292608"/>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Expand Tourism &amp; Services</a:t>
            </a:r>
            <a:endParaRPr lang="en-US" sz="900" dirty="0"/>
          </a:p>
        </p:txBody>
      </p:sp>
      <p:sp>
        <p:nvSpPr>
          <p:cNvPr id="35" name="Text 33"/>
          <p:cNvSpPr/>
          <p:nvPr/>
        </p:nvSpPr>
        <p:spPr>
          <a:xfrm>
            <a:off x="3291840" y="4078224"/>
            <a:ext cx="2578608" cy="658368"/>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Diversify services exports. Target 25 Mn tourists/year by 2027 to reduce dependence on goods exports.</a:t>
            </a:r>
            <a:endParaRPr lang="en-US" sz="780" dirty="0"/>
          </a:p>
        </p:txBody>
      </p:sp>
      <p:sp>
        <p:nvSpPr>
          <p:cNvPr id="36" name="Shape 34"/>
          <p:cNvSpPr/>
          <p:nvPr/>
        </p:nvSpPr>
        <p:spPr>
          <a:xfrm>
            <a:off x="6089904" y="3657600"/>
            <a:ext cx="2743200" cy="1133856"/>
          </a:xfrm>
          <a:prstGeom prst="roundRect">
            <a:avLst>
              <a:gd name="adj" fmla="val 8065"/>
            </a:avLst>
          </a:prstGeom>
          <a:solidFill>
            <a:srgbClr val="FFFFFF"/>
          </a:solidFill>
          <a:ln/>
          <a:effectLst>
            <a:outerShdw blurRad="63500" dist="25400" dir="2700000" algn="bl" rotWithShape="0">
              <a:srgbClr val="000000">
                <a:alpha val="10000"/>
              </a:srgbClr>
            </a:outerShdw>
          </a:effectLst>
        </p:spPr>
      </p:sp>
      <p:sp>
        <p:nvSpPr>
          <p:cNvPr id="37" name="Shape 35"/>
          <p:cNvSpPr/>
          <p:nvPr/>
        </p:nvSpPr>
        <p:spPr>
          <a:xfrm>
            <a:off x="6181344" y="3749040"/>
            <a:ext cx="365760" cy="329184"/>
          </a:xfrm>
          <a:prstGeom prst="roundRect">
            <a:avLst>
              <a:gd name="adj" fmla="val 13889"/>
            </a:avLst>
          </a:prstGeom>
          <a:solidFill>
            <a:srgbClr val="D4A017"/>
          </a:solidFill>
          <a:ln/>
        </p:spPr>
      </p:sp>
      <p:sp>
        <p:nvSpPr>
          <p:cNvPr id="38" name="Text 36"/>
          <p:cNvSpPr/>
          <p:nvPr/>
        </p:nvSpPr>
        <p:spPr>
          <a:xfrm>
            <a:off x="6181344" y="3749040"/>
            <a:ext cx="36576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9" name="Text 37"/>
          <p:cNvSpPr/>
          <p:nvPr/>
        </p:nvSpPr>
        <p:spPr>
          <a:xfrm>
            <a:off x="6620256" y="3749040"/>
            <a:ext cx="2148840" cy="292608"/>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SBV Monetary Policy Support</a:t>
            </a:r>
            <a:endParaRPr lang="en-US" sz="900" dirty="0"/>
          </a:p>
        </p:txBody>
      </p:sp>
      <p:sp>
        <p:nvSpPr>
          <p:cNvPr id="40" name="Text 38"/>
          <p:cNvSpPr/>
          <p:nvPr/>
        </p:nvSpPr>
        <p:spPr>
          <a:xfrm>
            <a:off x="6199632" y="4078224"/>
            <a:ext cx="2578608" cy="658368"/>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Maintain accommodative stance; allow controlled VND depreciation to boost export competitiveness without inflation overshoot.</a:t>
            </a:r>
            <a:endParaRPr lang="en-US" sz="780" dirty="0"/>
          </a:p>
        </p:txBody>
      </p:sp>
      <p:sp>
        <p:nvSpPr>
          <p:cNvPr id="41" name="Shape 39"/>
          <p:cNvSpPr/>
          <p:nvPr/>
        </p:nvSpPr>
        <p:spPr>
          <a:xfrm>
            <a:off x="0" y="4828032"/>
            <a:ext cx="9144000" cy="315468"/>
          </a:xfrm>
          <a:prstGeom prst="rect">
            <a:avLst/>
          </a:prstGeom>
          <a:solidFill>
            <a:srgbClr val="1B2A4A"/>
          </a:solidFill>
          <a:ln w="12700">
            <a:solidFill>
              <a:srgbClr val="1B2A4A"/>
            </a:solidFill>
            <a:prstDash val="solid"/>
          </a:ln>
        </p:spPr>
      </p:sp>
      <p:sp>
        <p:nvSpPr>
          <p:cNvPr id="42" name="Text 40"/>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OECD 2025 – FTA &amp; Trade Recommendations (ch.3): oecd.org/economy/vietnam-economic-survey  |  IMF Article IV 2025 – External Sector Recommendations: elibrary.imf.org/view/journals/002/2025/283  |  WTO – Vietnam Trade Profile: wto.org/english/res_e/statis_e/daily_update_e/trade_profiles/VN_e.pdf  |  World Bank – Vietnam Trade Integration: worldbank.org/en/country/vietnam  |  ASEAN Secretariat – RCEP Implementation: asean.org/asean-economic-community/rcep</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04 — Remedy 2: Financial Sector Stabilisation &amp; Real Estate Recovery</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Addressing: Banking Fragility, NPL Crisis &amp; Real Estate Stress</a:t>
            </a:r>
            <a:endParaRPr lang="en-US" sz="950" dirty="0"/>
          </a:p>
        </p:txBody>
      </p:sp>
      <p:sp>
        <p:nvSpPr>
          <p:cNvPr id="5" name="Shape 3"/>
          <p:cNvSpPr/>
          <p:nvPr/>
        </p:nvSpPr>
        <p:spPr>
          <a:xfrm>
            <a:off x="274320" y="1078992"/>
            <a:ext cx="8595360" cy="960120"/>
          </a:xfrm>
          <a:prstGeom prst="roundRect">
            <a:avLst>
              <a:gd name="adj" fmla="val 9524"/>
            </a:avLst>
          </a:prstGeom>
          <a:solidFill>
            <a:srgbClr val="EAF0FB"/>
          </a:solidFill>
          <a:ln/>
          <a:effectLst>
            <a:outerShdw blurRad="63500" dist="25400" dir="2700000" algn="bl" rotWithShape="0">
              <a:srgbClr val="000000">
                <a:alpha val="10000"/>
              </a:srgbClr>
            </a:outerShdw>
          </a:effectLst>
        </p:spPr>
      </p:sp>
      <p:sp>
        <p:nvSpPr>
          <p:cNvPr id="6" name="Text 4"/>
          <p:cNvSpPr/>
          <p:nvPr/>
        </p:nvSpPr>
        <p:spPr>
          <a:xfrm>
            <a:off x="438912" y="1115568"/>
            <a:ext cx="4572000" cy="274320"/>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Policy Logic (Expansionary Fiscal + Monetary Mix)</a:t>
            </a:r>
            <a:endParaRPr lang="en-US" sz="1000" dirty="0"/>
          </a:p>
        </p:txBody>
      </p:sp>
      <p:sp>
        <p:nvSpPr>
          <p:cNvPr id="7" name="Text 5"/>
          <p:cNvSpPr/>
          <p:nvPr/>
        </p:nvSpPr>
        <p:spPr>
          <a:xfrm>
            <a:off x="438912" y="1371600"/>
            <a:ext cx="8138160" cy="594360"/>
          </a:xfrm>
          <a:prstGeom prst="rect">
            <a:avLst/>
          </a:prstGeom>
          <a:noFill/>
          <a:ln/>
        </p:spPr>
        <p:txBody>
          <a:bodyPr wrap="square" rtlCol="0" anchor="ctr"/>
          <a:lstStyle/>
          <a:p>
            <a:pPr marL="0" indent="0">
              <a:buNone/>
            </a:pPr>
            <a:r>
              <a:rPr lang="en-US" sz="850" dirty="0">
                <a:solidFill>
                  <a:srgbClr val="222222"/>
                </a:solidFill>
                <a:latin typeface="Arial" pitchFamily="34" charset="0"/>
                <a:ea typeface="Arial" pitchFamily="34" charset="-122"/>
                <a:cs typeface="Arial" pitchFamily="34" charset="-120"/>
              </a:rPr>
              <a:t>Bank recapitalisation → improved lending → higher credit supply → domestic demand recovery → GDP stabilisation. Macroprudential tightening in real estate prevents speculative excess. Structural reforms enable orderly recovery.</a:t>
            </a:r>
            <a:endParaRPr lang="en-US" sz="850" dirty="0"/>
          </a:p>
        </p:txBody>
      </p:sp>
      <p:sp>
        <p:nvSpPr>
          <p:cNvPr id="8" name="Shape 6"/>
          <p:cNvSpPr/>
          <p:nvPr/>
        </p:nvSpPr>
        <p:spPr>
          <a:xfrm>
            <a:off x="274320" y="2157984"/>
            <a:ext cx="1609344" cy="640080"/>
          </a:xfrm>
          <a:prstGeom prst="roundRect">
            <a:avLst>
              <a:gd name="adj" fmla="val 8571"/>
            </a:avLst>
          </a:prstGeom>
          <a:solidFill>
            <a:srgbClr val="1B2A4A"/>
          </a:solidFill>
          <a:ln/>
          <a:effectLst>
            <a:outerShdw blurRad="63500" dist="25400" dir="2700000" algn="bl" rotWithShape="0">
              <a:srgbClr val="000000">
                <a:alpha val="10000"/>
              </a:srgbClr>
            </a:outerShdw>
          </a:effectLst>
        </p:spPr>
      </p:sp>
      <p:sp>
        <p:nvSpPr>
          <p:cNvPr id="9" name="Text 7"/>
          <p:cNvSpPr/>
          <p:nvPr/>
        </p:nvSpPr>
        <p:spPr>
          <a:xfrm>
            <a:off x="329184" y="2212848"/>
            <a:ext cx="1499616" cy="548640"/>
          </a:xfrm>
          <a:prstGeom prst="rect">
            <a:avLst/>
          </a:prstGeom>
          <a:noFill/>
          <a:ln/>
        </p:spPr>
        <p:txBody>
          <a:bodyPr wrap="square"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Strengthen Bank</a:t>
            </a:r>
            <a:endParaRPr lang="en-US" sz="750" dirty="0"/>
          </a:p>
          <a:p>
            <a:pPr marL="0" indent="0" algn="ctr">
              <a:buNone/>
            </a:pPr>
            <a:r>
              <a:rPr lang="en-US" sz="750" dirty="0">
                <a:solidFill>
                  <a:srgbClr val="FFFFFF"/>
                </a:solidFill>
                <a:latin typeface="Arial" pitchFamily="34" charset="0"/>
                <a:ea typeface="Arial" pitchFamily="34" charset="-122"/>
                <a:cs typeface="Arial" pitchFamily="34" charset="-120"/>
              </a:rPr>
              <a:t>Resolution Framework</a:t>
            </a:r>
            <a:endParaRPr lang="en-US" sz="750" dirty="0"/>
          </a:p>
        </p:txBody>
      </p:sp>
      <p:sp>
        <p:nvSpPr>
          <p:cNvPr id="10" name="Shape 8"/>
          <p:cNvSpPr/>
          <p:nvPr/>
        </p:nvSpPr>
        <p:spPr>
          <a:xfrm>
            <a:off x="1993392" y="2157984"/>
            <a:ext cx="1609344" cy="640080"/>
          </a:xfrm>
          <a:prstGeom prst="roundRect">
            <a:avLst>
              <a:gd name="adj" fmla="val 8571"/>
            </a:avLst>
          </a:prstGeom>
          <a:solidFill>
            <a:srgbClr val="FFFFFF"/>
          </a:solidFill>
          <a:ln/>
          <a:effectLst>
            <a:outerShdw blurRad="63500" dist="25400" dir="2700000" algn="bl" rotWithShape="0">
              <a:srgbClr val="000000">
                <a:alpha val="10000"/>
              </a:srgbClr>
            </a:outerShdw>
          </a:effectLst>
        </p:spPr>
      </p:sp>
      <p:sp>
        <p:nvSpPr>
          <p:cNvPr id="11" name="Text 9"/>
          <p:cNvSpPr/>
          <p:nvPr/>
        </p:nvSpPr>
        <p:spPr>
          <a:xfrm>
            <a:off x="2048256" y="2212848"/>
            <a:ext cx="1499616" cy="548640"/>
          </a:xfrm>
          <a:prstGeom prst="rect">
            <a:avLst/>
          </a:prstGeom>
          <a:noFill/>
          <a:ln/>
        </p:spPr>
        <p:txBody>
          <a:bodyPr wrap="square" rtlCol="0" anchor="ctr"/>
          <a:lstStyle/>
          <a:p>
            <a:pPr marL="0" indent="0" algn="ctr">
              <a:buNone/>
            </a:pPr>
            <a:r>
              <a:rPr lang="en-US" sz="750" dirty="0">
                <a:solidFill>
                  <a:srgbClr val="0D7377"/>
                </a:solidFill>
                <a:latin typeface="Arial" pitchFamily="34" charset="0"/>
                <a:ea typeface="Arial" pitchFamily="34" charset="-122"/>
                <a:cs typeface="Arial" pitchFamily="34" charset="-120"/>
              </a:rPr>
              <a:t>→ Recapitalise</a:t>
            </a:r>
            <a:endParaRPr lang="en-US" sz="750" dirty="0"/>
          </a:p>
          <a:p>
            <a:pPr marL="0" indent="0" algn="ctr">
              <a:buNone/>
            </a:pPr>
            <a:r>
              <a:rPr lang="en-US" sz="750" dirty="0">
                <a:solidFill>
                  <a:srgbClr val="0D7377"/>
                </a:solidFill>
                <a:latin typeface="Arial" pitchFamily="34" charset="0"/>
                <a:ea typeface="Arial" pitchFamily="34" charset="-122"/>
                <a:cs typeface="Arial" pitchFamily="34" charset="-120"/>
              </a:rPr>
              <a:t>weak banks (SBV)</a:t>
            </a:r>
            <a:endParaRPr lang="en-US" sz="750" dirty="0"/>
          </a:p>
        </p:txBody>
      </p:sp>
      <p:sp>
        <p:nvSpPr>
          <p:cNvPr id="12" name="Shape 10"/>
          <p:cNvSpPr/>
          <p:nvPr/>
        </p:nvSpPr>
        <p:spPr>
          <a:xfrm>
            <a:off x="3712464" y="2157984"/>
            <a:ext cx="1609344" cy="640080"/>
          </a:xfrm>
          <a:prstGeom prst="roundRect">
            <a:avLst>
              <a:gd name="adj" fmla="val 8571"/>
            </a:avLst>
          </a:prstGeom>
          <a:solidFill>
            <a:srgbClr val="FFFFFF"/>
          </a:solidFill>
          <a:ln/>
          <a:effectLst>
            <a:outerShdw blurRad="63500" dist="25400" dir="2700000" algn="bl" rotWithShape="0">
              <a:srgbClr val="000000">
                <a:alpha val="10000"/>
              </a:srgbClr>
            </a:outerShdw>
          </a:effectLst>
        </p:spPr>
      </p:sp>
      <p:sp>
        <p:nvSpPr>
          <p:cNvPr id="13" name="Text 11"/>
          <p:cNvSpPr/>
          <p:nvPr/>
        </p:nvSpPr>
        <p:spPr>
          <a:xfrm>
            <a:off x="3767328" y="2212848"/>
            <a:ext cx="1499616" cy="548640"/>
          </a:xfrm>
          <a:prstGeom prst="rect">
            <a:avLst/>
          </a:prstGeom>
          <a:noFill/>
          <a:ln/>
        </p:spPr>
        <p:txBody>
          <a:bodyPr wrap="square" rtlCol="0" anchor="ctr"/>
          <a:lstStyle/>
          <a:p>
            <a:pPr marL="0" indent="0" algn="ctr">
              <a:buNone/>
            </a:pPr>
            <a:r>
              <a:rPr lang="en-US" sz="750" dirty="0">
                <a:solidFill>
                  <a:srgbClr val="0D7377"/>
                </a:solidFill>
                <a:latin typeface="Arial" pitchFamily="34" charset="0"/>
                <a:ea typeface="Arial" pitchFamily="34" charset="-122"/>
                <a:cs typeface="Arial" pitchFamily="34" charset="-120"/>
              </a:rPr>
              <a:t>→ Resolve NPLs</a:t>
            </a:r>
            <a:endParaRPr lang="en-US" sz="750" dirty="0"/>
          </a:p>
          <a:p>
            <a:pPr marL="0" indent="0" algn="ctr">
              <a:buNone/>
            </a:pPr>
            <a:r>
              <a:rPr lang="en-US" sz="750" dirty="0">
                <a:solidFill>
                  <a:srgbClr val="0D7377"/>
                </a:solidFill>
                <a:latin typeface="Arial" pitchFamily="34" charset="0"/>
                <a:ea typeface="Arial" pitchFamily="34" charset="-122"/>
                <a:cs typeface="Arial" pitchFamily="34" charset="-120"/>
              </a:rPr>
              <a:t>via Asset Recon. Co.</a:t>
            </a:r>
            <a:endParaRPr lang="en-US" sz="750" dirty="0"/>
          </a:p>
        </p:txBody>
      </p:sp>
      <p:sp>
        <p:nvSpPr>
          <p:cNvPr id="14" name="Shape 12"/>
          <p:cNvSpPr/>
          <p:nvPr/>
        </p:nvSpPr>
        <p:spPr>
          <a:xfrm>
            <a:off x="5431536" y="2157984"/>
            <a:ext cx="1609344" cy="640080"/>
          </a:xfrm>
          <a:prstGeom prst="roundRect">
            <a:avLst>
              <a:gd name="adj" fmla="val 8571"/>
            </a:avLst>
          </a:prstGeom>
          <a:solidFill>
            <a:srgbClr val="FFFFFF"/>
          </a:solidFill>
          <a:ln/>
          <a:effectLst>
            <a:outerShdw blurRad="63500" dist="25400" dir="2700000" algn="bl" rotWithShape="0">
              <a:srgbClr val="000000">
                <a:alpha val="10000"/>
              </a:srgbClr>
            </a:outerShdw>
          </a:effectLst>
        </p:spPr>
      </p:sp>
      <p:sp>
        <p:nvSpPr>
          <p:cNvPr id="15" name="Text 13"/>
          <p:cNvSpPr/>
          <p:nvPr/>
        </p:nvSpPr>
        <p:spPr>
          <a:xfrm>
            <a:off x="5486400" y="2212848"/>
            <a:ext cx="1499616" cy="548640"/>
          </a:xfrm>
          <a:prstGeom prst="rect">
            <a:avLst/>
          </a:prstGeom>
          <a:noFill/>
          <a:ln/>
        </p:spPr>
        <p:txBody>
          <a:bodyPr wrap="square" rtlCol="0" anchor="ctr"/>
          <a:lstStyle/>
          <a:p>
            <a:pPr marL="0" indent="0" algn="ctr">
              <a:buNone/>
            </a:pPr>
            <a:r>
              <a:rPr lang="en-US" sz="750" dirty="0">
                <a:solidFill>
                  <a:srgbClr val="1A7A4A"/>
                </a:solidFill>
                <a:latin typeface="Arial" pitchFamily="34" charset="0"/>
                <a:ea typeface="Arial" pitchFamily="34" charset="-122"/>
                <a:cs typeface="Arial" pitchFamily="34" charset="-120"/>
              </a:rPr>
              <a:t>→ Enforce new</a:t>
            </a:r>
            <a:endParaRPr lang="en-US" sz="750" dirty="0"/>
          </a:p>
          <a:p>
            <a:pPr marL="0" indent="0" algn="ctr">
              <a:buNone/>
            </a:pPr>
            <a:r>
              <a:rPr lang="en-US" sz="750" dirty="0">
                <a:solidFill>
                  <a:srgbClr val="1A7A4A"/>
                </a:solidFill>
                <a:latin typeface="Arial" pitchFamily="34" charset="0"/>
                <a:ea typeface="Arial" pitchFamily="34" charset="-122"/>
                <a:cs typeface="Arial" pitchFamily="34" charset="-120"/>
              </a:rPr>
              <a:t>Land Law 2024</a:t>
            </a:r>
            <a:endParaRPr lang="en-US" sz="750" dirty="0"/>
          </a:p>
        </p:txBody>
      </p:sp>
      <p:sp>
        <p:nvSpPr>
          <p:cNvPr id="16" name="Shape 14"/>
          <p:cNvSpPr/>
          <p:nvPr/>
        </p:nvSpPr>
        <p:spPr>
          <a:xfrm>
            <a:off x="7150608" y="2157984"/>
            <a:ext cx="1609344" cy="640080"/>
          </a:xfrm>
          <a:prstGeom prst="roundRect">
            <a:avLst>
              <a:gd name="adj" fmla="val 8571"/>
            </a:avLst>
          </a:prstGeom>
          <a:solidFill>
            <a:srgbClr val="FFFFFF"/>
          </a:solidFill>
          <a:ln/>
          <a:effectLst>
            <a:outerShdw blurRad="63500" dist="25400" dir="2700000" algn="bl" rotWithShape="0">
              <a:srgbClr val="000000">
                <a:alpha val="10000"/>
              </a:srgbClr>
            </a:outerShdw>
          </a:effectLst>
        </p:spPr>
      </p:sp>
      <p:sp>
        <p:nvSpPr>
          <p:cNvPr id="17" name="Text 15"/>
          <p:cNvSpPr/>
          <p:nvPr/>
        </p:nvSpPr>
        <p:spPr>
          <a:xfrm>
            <a:off x="7205472" y="2212848"/>
            <a:ext cx="1499616" cy="548640"/>
          </a:xfrm>
          <a:prstGeom prst="rect">
            <a:avLst/>
          </a:prstGeom>
          <a:noFill/>
          <a:ln/>
        </p:spPr>
        <p:txBody>
          <a:bodyPr wrap="square" rtlCol="0" anchor="ctr"/>
          <a:lstStyle/>
          <a:p>
            <a:pPr marL="0" indent="0" algn="ctr">
              <a:buNone/>
            </a:pPr>
            <a:r>
              <a:rPr lang="en-US" sz="750" dirty="0">
                <a:solidFill>
                  <a:srgbClr val="1A7A4A"/>
                </a:solidFill>
                <a:latin typeface="Arial" pitchFamily="34" charset="0"/>
                <a:ea typeface="Arial" pitchFamily="34" charset="-122"/>
                <a:cs typeface="Arial" pitchFamily="34" charset="-120"/>
              </a:rPr>
              <a:t>→ Credit flow</a:t>
            </a:r>
            <a:endParaRPr lang="en-US" sz="750" dirty="0"/>
          </a:p>
          <a:p>
            <a:pPr marL="0" indent="0" algn="ctr">
              <a:buNone/>
            </a:pPr>
            <a:r>
              <a:rPr lang="en-US" sz="750" dirty="0">
                <a:solidFill>
                  <a:srgbClr val="1A7A4A"/>
                </a:solidFill>
                <a:latin typeface="Arial" pitchFamily="34" charset="0"/>
                <a:ea typeface="Arial" pitchFamily="34" charset="-122"/>
                <a:cs typeface="Arial" pitchFamily="34" charset="-120"/>
              </a:rPr>
              <a:t>restored → Growth</a:t>
            </a:r>
            <a:endParaRPr lang="en-US" sz="750" dirty="0"/>
          </a:p>
        </p:txBody>
      </p:sp>
      <p:sp>
        <p:nvSpPr>
          <p:cNvPr id="18" name="Shape 16"/>
          <p:cNvSpPr/>
          <p:nvPr/>
        </p:nvSpPr>
        <p:spPr>
          <a:xfrm>
            <a:off x="274320" y="2935224"/>
            <a:ext cx="2743200" cy="932688"/>
          </a:xfrm>
          <a:prstGeom prst="roundRect">
            <a:avLst>
              <a:gd name="adj" fmla="val 9804"/>
            </a:avLst>
          </a:prstGeom>
          <a:solidFill>
            <a:srgbClr val="FFFFFF"/>
          </a:solidFill>
          <a:ln/>
          <a:effectLst>
            <a:outerShdw blurRad="63500" dist="25400" dir="2700000" algn="bl" rotWithShape="0">
              <a:srgbClr val="000000">
                <a:alpha val="10000"/>
              </a:srgbClr>
            </a:outerShdw>
          </a:effectLst>
        </p:spPr>
      </p:sp>
      <p:sp>
        <p:nvSpPr>
          <p:cNvPr id="19" name="Shape 17"/>
          <p:cNvSpPr/>
          <p:nvPr/>
        </p:nvSpPr>
        <p:spPr>
          <a:xfrm>
            <a:off x="365760" y="3026664"/>
            <a:ext cx="237744" cy="237744"/>
          </a:xfrm>
          <a:prstGeom prst="ellipse">
            <a:avLst/>
          </a:prstGeom>
          <a:solidFill>
            <a:srgbClr val="1B2A4A"/>
          </a:solidFill>
          <a:ln/>
        </p:spPr>
      </p:sp>
      <p:sp>
        <p:nvSpPr>
          <p:cNvPr id="20" name="Text 18"/>
          <p:cNvSpPr/>
          <p:nvPr/>
        </p:nvSpPr>
        <p:spPr>
          <a:xfrm>
            <a:off x="685800" y="3026664"/>
            <a:ext cx="2286000" cy="274320"/>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Bank Resolution Law</a:t>
            </a:r>
            <a:endParaRPr lang="en-US" sz="900" dirty="0"/>
          </a:p>
        </p:txBody>
      </p:sp>
      <p:sp>
        <p:nvSpPr>
          <p:cNvPr id="21" name="Text 19"/>
          <p:cNvSpPr/>
          <p:nvPr/>
        </p:nvSpPr>
        <p:spPr>
          <a:xfrm>
            <a:off x="384048" y="3319272"/>
            <a:ext cx="2578608" cy="502920"/>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Comprehensive resolution framework with clear triggers, bail-in provisions &amp; depositor protection fund to prevent future bank failure contagion.</a:t>
            </a:r>
            <a:endParaRPr lang="en-US" sz="780" dirty="0"/>
          </a:p>
        </p:txBody>
      </p:sp>
      <p:sp>
        <p:nvSpPr>
          <p:cNvPr id="22" name="Shape 20"/>
          <p:cNvSpPr/>
          <p:nvPr/>
        </p:nvSpPr>
        <p:spPr>
          <a:xfrm>
            <a:off x="3182112" y="2935224"/>
            <a:ext cx="2743200" cy="932688"/>
          </a:xfrm>
          <a:prstGeom prst="roundRect">
            <a:avLst>
              <a:gd name="adj" fmla="val 9804"/>
            </a:avLst>
          </a:prstGeom>
          <a:solidFill>
            <a:srgbClr val="FFFFFF"/>
          </a:solidFill>
          <a:ln/>
          <a:effectLst>
            <a:outerShdw blurRad="63500" dist="25400" dir="2700000" algn="bl" rotWithShape="0">
              <a:srgbClr val="000000">
                <a:alpha val="10000"/>
              </a:srgbClr>
            </a:outerShdw>
          </a:effectLst>
        </p:spPr>
      </p:sp>
      <p:sp>
        <p:nvSpPr>
          <p:cNvPr id="23" name="Shape 21"/>
          <p:cNvSpPr/>
          <p:nvPr/>
        </p:nvSpPr>
        <p:spPr>
          <a:xfrm>
            <a:off x="3273552" y="3026664"/>
            <a:ext cx="237744" cy="237744"/>
          </a:xfrm>
          <a:prstGeom prst="ellipse">
            <a:avLst/>
          </a:prstGeom>
          <a:solidFill>
            <a:srgbClr val="0D7377"/>
          </a:solidFill>
          <a:ln/>
        </p:spPr>
      </p:sp>
      <p:sp>
        <p:nvSpPr>
          <p:cNvPr id="24" name="Text 22"/>
          <p:cNvSpPr/>
          <p:nvPr/>
        </p:nvSpPr>
        <p:spPr>
          <a:xfrm>
            <a:off x="3593592" y="3026664"/>
            <a:ext cx="2286000" cy="274320"/>
          </a:xfrm>
          <a:prstGeom prst="rect">
            <a:avLst/>
          </a:prstGeom>
          <a:noFill/>
          <a:ln/>
        </p:spPr>
        <p:txBody>
          <a:bodyPr wrap="square" rtlCol="0" anchor="ctr"/>
          <a:lstStyle/>
          <a:p>
            <a:pPr marL="0" indent="0">
              <a:buNone/>
            </a:pPr>
            <a:r>
              <a:rPr lang="en-US" sz="900" b="1" dirty="0">
                <a:solidFill>
                  <a:srgbClr val="0D7377"/>
                </a:solidFill>
                <a:latin typeface="Calibri" pitchFamily="34" charset="0"/>
                <a:ea typeface="Calibri" pitchFamily="34" charset="-122"/>
                <a:cs typeface="Calibri" pitchFamily="34" charset="-120"/>
              </a:rPr>
              <a:t>NPL Resolution via ARC</a:t>
            </a:r>
            <a:endParaRPr lang="en-US" sz="900" dirty="0"/>
          </a:p>
        </p:txBody>
      </p:sp>
      <p:sp>
        <p:nvSpPr>
          <p:cNvPr id="25" name="Text 23"/>
          <p:cNvSpPr/>
          <p:nvPr/>
        </p:nvSpPr>
        <p:spPr>
          <a:xfrm>
            <a:off x="3291840" y="3319272"/>
            <a:ext cx="2578608" cy="502920"/>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Create/strengthen an Asset Reconstruction Company to absorb NPLs at discounted prices — cleaning bank balance sheets for fresh lending.</a:t>
            </a:r>
            <a:endParaRPr lang="en-US" sz="780" dirty="0"/>
          </a:p>
        </p:txBody>
      </p:sp>
      <p:sp>
        <p:nvSpPr>
          <p:cNvPr id="26" name="Shape 24"/>
          <p:cNvSpPr/>
          <p:nvPr/>
        </p:nvSpPr>
        <p:spPr>
          <a:xfrm>
            <a:off x="6089904" y="2935224"/>
            <a:ext cx="2743200" cy="932688"/>
          </a:xfrm>
          <a:prstGeom prst="roundRect">
            <a:avLst>
              <a:gd name="adj" fmla="val 9804"/>
            </a:avLst>
          </a:prstGeom>
          <a:solidFill>
            <a:srgbClr val="FFFFFF"/>
          </a:solidFill>
          <a:ln/>
          <a:effectLst>
            <a:outerShdw blurRad="63500" dist="25400" dir="2700000" algn="bl" rotWithShape="0">
              <a:srgbClr val="000000">
                <a:alpha val="10000"/>
              </a:srgbClr>
            </a:outerShdw>
          </a:effectLst>
        </p:spPr>
      </p:sp>
      <p:sp>
        <p:nvSpPr>
          <p:cNvPr id="27" name="Shape 25"/>
          <p:cNvSpPr/>
          <p:nvPr/>
        </p:nvSpPr>
        <p:spPr>
          <a:xfrm>
            <a:off x="6181344" y="3026664"/>
            <a:ext cx="237744" cy="237744"/>
          </a:xfrm>
          <a:prstGeom prst="ellipse">
            <a:avLst/>
          </a:prstGeom>
          <a:solidFill>
            <a:srgbClr val="1A7A4A"/>
          </a:solidFill>
          <a:ln/>
        </p:spPr>
      </p:sp>
      <p:sp>
        <p:nvSpPr>
          <p:cNvPr id="28" name="Text 26"/>
          <p:cNvSpPr/>
          <p:nvPr/>
        </p:nvSpPr>
        <p:spPr>
          <a:xfrm>
            <a:off x="6501384" y="3026664"/>
            <a:ext cx="2286000" cy="274320"/>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Real Estate Law Enforcement</a:t>
            </a:r>
            <a:endParaRPr lang="en-US" sz="900" dirty="0"/>
          </a:p>
        </p:txBody>
      </p:sp>
      <p:sp>
        <p:nvSpPr>
          <p:cNvPr id="29" name="Text 27"/>
          <p:cNvSpPr/>
          <p:nvPr/>
        </p:nvSpPr>
        <p:spPr>
          <a:xfrm>
            <a:off x="6199632" y="3319272"/>
            <a:ext cx="2578608" cy="502920"/>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Fully implement 2024 Land Law, Housing Law and Real Estate Business Law sub-regulations by Q1 2026 to remove project bottlenecks.</a:t>
            </a:r>
            <a:endParaRPr lang="en-US" sz="780" dirty="0"/>
          </a:p>
        </p:txBody>
      </p:sp>
      <p:sp>
        <p:nvSpPr>
          <p:cNvPr id="30" name="Shape 28"/>
          <p:cNvSpPr/>
          <p:nvPr/>
        </p:nvSpPr>
        <p:spPr>
          <a:xfrm>
            <a:off x="274320" y="3968496"/>
            <a:ext cx="2743200" cy="932688"/>
          </a:xfrm>
          <a:prstGeom prst="roundRect">
            <a:avLst>
              <a:gd name="adj" fmla="val 9804"/>
            </a:avLst>
          </a:prstGeom>
          <a:solidFill>
            <a:srgbClr val="FFFFFF"/>
          </a:solidFill>
          <a:ln/>
          <a:effectLst>
            <a:outerShdw blurRad="63500" dist="25400" dir="2700000" algn="bl" rotWithShape="0">
              <a:srgbClr val="000000">
                <a:alpha val="10000"/>
              </a:srgbClr>
            </a:outerShdw>
          </a:effectLst>
        </p:spPr>
      </p:sp>
      <p:sp>
        <p:nvSpPr>
          <p:cNvPr id="31" name="Shape 29"/>
          <p:cNvSpPr/>
          <p:nvPr/>
        </p:nvSpPr>
        <p:spPr>
          <a:xfrm>
            <a:off x="365760" y="4059936"/>
            <a:ext cx="237744" cy="237744"/>
          </a:xfrm>
          <a:prstGeom prst="ellipse">
            <a:avLst/>
          </a:prstGeom>
          <a:solidFill>
            <a:srgbClr val="D4651A"/>
          </a:solidFill>
          <a:ln/>
        </p:spPr>
      </p:sp>
      <p:sp>
        <p:nvSpPr>
          <p:cNvPr id="32" name="Text 30"/>
          <p:cNvSpPr/>
          <p:nvPr/>
        </p:nvSpPr>
        <p:spPr>
          <a:xfrm>
            <a:off x="685800" y="4059936"/>
            <a:ext cx="2286000" cy="274320"/>
          </a:xfrm>
          <a:prstGeom prst="rect">
            <a:avLst/>
          </a:prstGeom>
          <a:noFill/>
          <a:ln/>
        </p:spPr>
        <p:txBody>
          <a:bodyPr wrap="square" rtlCol="0" anchor="ctr"/>
          <a:lstStyle/>
          <a:p>
            <a:pPr marL="0" indent="0">
              <a:buNone/>
            </a:pPr>
            <a:r>
              <a:rPr lang="en-US" sz="900" b="1" dirty="0">
                <a:solidFill>
                  <a:srgbClr val="D4651A"/>
                </a:solidFill>
                <a:latin typeface="Calibri" pitchFamily="34" charset="0"/>
                <a:ea typeface="Calibri" pitchFamily="34" charset="-122"/>
                <a:cs typeface="Calibri" pitchFamily="34" charset="-120"/>
              </a:rPr>
              <a:t>Macroprudential Limits</a:t>
            </a:r>
            <a:endParaRPr lang="en-US" sz="900" dirty="0"/>
          </a:p>
        </p:txBody>
      </p:sp>
      <p:sp>
        <p:nvSpPr>
          <p:cNvPr id="33" name="Text 31"/>
          <p:cNvSpPr/>
          <p:nvPr/>
        </p:nvSpPr>
        <p:spPr>
          <a:xfrm>
            <a:off x="384048" y="4352544"/>
            <a:ext cx="2578608" cy="502920"/>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Implement LTV, DSTI and credit concentration caps on real estate lending to prevent future speculative excess.</a:t>
            </a:r>
            <a:endParaRPr lang="en-US" sz="780" dirty="0"/>
          </a:p>
        </p:txBody>
      </p:sp>
      <p:sp>
        <p:nvSpPr>
          <p:cNvPr id="34" name="Shape 32"/>
          <p:cNvSpPr/>
          <p:nvPr/>
        </p:nvSpPr>
        <p:spPr>
          <a:xfrm>
            <a:off x="3182112" y="3968496"/>
            <a:ext cx="2743200" cy="932688"/>
          </a:xfrm>
          <a:prstGeom prst="roundRect">
            <a:avLst>
              <a:gd name="adj" fmla="val 9804"/>
            </a:avLst>
          </a:prstGeom>
          <a:solidFill>
            <a:srgbClr val="FFFFFF"/>
          </a:solidFill>
          <a:ln/>
          <a:effectLst>
            <a:outerShdw blurRad="63500" dist="25400" dir="2700000" algn="bl" rotWithShape="0">
              <a:srgbClr val="000000">
                <a:alpha val="10000"/>
              </a:srgbClr>
            </a:outerShdw>
          </a:effectLst>
        </p:spPr>
      </p:sp>
      <p:sp>
        <p:nvSpPr>
          <p:cNvPr id="35" name="Shape 33"/>
          <p:cNvSpPr/>
          <p:nvPr/>
        </p:nvSpPr>
        <p:spPr>
          <a:xfrm>
            <a:off x="3273552" y="4059936"/>
            <a:ext cx="237744" cy="237744"/>
          </a:xfrm>
          <a:prstGeom prst="ellipse">
            <a:avLst/>
          </a:prstGeom>
          <a:solidFill>
            <a:srgbClr val="C0392B"/>
          </a:solidFill>
          <a:ln/>
        </p:spPr>
      </p:sp>
      <p:sp>
        <p:nvSpPr>
          <p:cNvPr id="36" name="Text 34"/>
          <p:cNvSpPr/>
          <p:nvPr/>
        </p:nvSpPr>
        <p:spPr>
          <a:xfrm>
            <a:off x="3593592" y="4059936"/>
            <a:ext cx="2286000" cy="27432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Basel III Capital Adequacy</a:t>
            </a:r>
            <a:endParaRPr lang="en-US" sz="900" dirty="0"/>
          </a:p>
        </p:txBody>
      </p:sp>
      <p:sp>
        <p:nvSpPr>
          <p:cNvPr id="37" name="Text 35"/>
          <p:cNvSpPr/>
          <p:nvPr/>
        </p:nvSpPr>
        <p:spPr>
          <a:xfrm>
            <a:off x="3291840" y="4352544"/>
            <a:ext cx="2578608" cy="502920"/>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Ensure all major banks comply with Basel III Tier-1 capital requirements; mandate adequate NPL provisioning buffers.</a:t>
            </a:r>
            <a:endParaRPr lang="en-US" sz="780" dirty="0"/>
          </a:p>
        </p:txBody>
      </p:sp>
      <p:sp>
        <p:nvSpPr>
          <p:cNvPr id="38" name="Shape 36"/>
          <p:cNvSpPr/>
          <p:nvPr/>
        </p:nvSpPr>
        <p:spPr>
          <a:xfrm>
            <a:off x="6089904" y="3968496"/>
            <a:ext cx="2743200" cy="932688"/>
          </a:xfrm>
          <a:prstGeom prst="roundRect">
            <a:avLst>
              <a:gd name="adj" fmla="val 9804"/>
            </a:avLst>
          </a:prstGeom>
          <a:solidFill>
            <a:srgbClr val="FFFFFF"/>
          </a:solidFill>
          <a:ln/>
          <a:effectLst>
            <a:outerShdw blurRad="63500" dist="25400" dir="2700000" algn="bl" rotWithShape="0">
              <a:srgbClr val="000000">
                <a:alpha val="10000"/>
              </a:srgbClr>
            </a:outerShdw>
          </a:effectLst>
        </p:spPr>
      </p:sp>
      <p:sp>
        <p:nvSpPr>
          <p:cNvPr id="39" name="Shape 37"/>
          <p:cNvSpPr/>
          <p:nvPr/>
        </p:nvSpPr>
        <p:spPr>
          <a:xfrm>
            <a:off x="6181344" y="4059936"/>
            <a:ext cx="237744" cy="237744"/>
          </a:xfrm>
          <a:prstGeom prst="ellipse">
            <a:avLst/>
          </a:prstGeom>
          <a:solidFill>
            <a:srgbClr val="D4A017"/>
          </a:solidFill>
          <a:ln/>
        </p:spPr>
      </p:sp>
      <p:sp>
        <p:nvSpPr>
          <p:cNvPr id="40" name="Text 38"/>
          <p:cNvSpPr/>
          <p:nvPr/>
        </p:nvSpPr>
        <p:spPr>
          <a:xfrm>
            <a:off x="6501384" y="4059936"/>
            <a:ext cx="2286000" cy="274320"/>
          </a:xfrm>
          <a:prstGeom prst="rect">
            <a:avLst/>
          </a:prstGeom>
          <a:noFill/>
          <a:ln/>
        </p:spPr>
        <p:txBody>
          <a:bodyPr wrap="square" rtlCol="0" anchor="ctr"/>
          <a:lstStyle/>
          <a:p>
            <a:pPr marL="0" indent="0">
              <a:buNone/>
            </a:pPr>
            <a:r>
              <a:rPr lang="en-US" sz="900" b="1" dirty="0">
                <a:solidFill>
                  <a:srgbClr val="D4A017"/>
                </a:solidFill>
                <a:latin typeface="Calibri" pitchFamily="34" charset="0"/>
                <a:ea typeface="Calibri" pitchFamily="34" charset="-122"/>
                <a:cs typeface="Calibri" pitchFamily="34" charset="-120"/>
              </a:rPr>
              <a:t>Bond Market Reforms</a:t>
            </a:r>
            <a:endParaRPr lang="en-US" sz="900" dirty="0"/>
          </a:p>
        </p:txBody>
      </p:sp>
      <p:sp>
        <p:nvSpPr>
          <p:cNvPr id="41" name="Text 39"/>
          <p:cNvSpPr/>
          <p:nvPr/>
        </p:nvSpPr>
        <p:spPr>
          <a:xfrm>
            <a:off x="6199632" y="4352544"/>
            <a:ext cx="2578608" cy="502920"/>
          </a:xfrm>
          <a:prstGeom prst="rect">
            <a:avLst/>
          </a:prstGeom>
          <a:noFill/>
          <a:ln/>
        </p:spPr>
        <p:txBody>
          <a:bodyPr wrap="square" rtlCol="0" anchor="t"/>
          <a:lstStyle/>
          <a:p>
            <a:pPr marL="0" indent="0">
              <a:buNone/>
            </a:pPr>
            <a:r>
              <a:rPr lang="en-US" sz="780" dirty="0">
                <a:solidFill>
                  <a:srgbClr val="333333"/>
                </a:solidFill>
                <a:latin typeface="Arial" pitchFamily="34" charset="0"/>
                <a:ea typeface="Arial" pitchFamily="34" charset="-122"/>
                <a:cs typeface="Arial" pitchFamily="34" charset="-120"/>
              </a:rPr>
              <a:t>Diversify the corporate bond investor base beyond financial institutions; improve transparency under new Securities Law amendments.</a:t>
            </a:r>
            <a:endParaRPr lang="en-US" sz="780" dirty="0"/>
          </a:p>
        </p:txBody>
      </p:sp>
      <p:sp>
        <p:nvSpPr>
          <p:cNvPr id="42" name="Shape 40"/>
          <p:cNvSpPr/>
          <p:nvPr/>
        </p:nvSpPr>
        <p:spPr>
          <a:xfrm>
            <a:off x="0" y="4828032"/>
            <a:ext cx="9144000" cy="315468"/>
          </a:xfrm>
          <a:prstGeom prst="rect">
            <a:avLst/>
          </a:prstGeom>
          <a:solidFill>
            <a:srgbClr val="1B2A4A"/>
          </a:solidFill>
          <a:ln w="12700">
            <a:solidFill>
              <a:srgbClr val="1B2A4A"/>
            </a:solidFill>
            <a:prstDash val="solid"/>
          </a:ln>
        </p:spPr>
      </p:sp>
      <p:sp>
        <p:nvSpPr>
          <p:cNvPr id="43" name="Text 41"/>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IMF Article IV 2025 – Financial Sector Rec.: elibrary.imf.org/view/journals/002/2025/283  |  AMRO Asia – Vietnam Banking Reforms Mar 2025: amro-asia.org/vietnam-targeted-macro-policies  |  OECD 2025 – Banking Reform (ch.4): oecd.org/economy/vietnam-economic-survey  |  World Bank Group BIS Capital Adequacy Data: bis.org/statistics/bankstats.htm  |  Krungsri – Vietnam Financial Sector 2025: krungsri.com/en/research/research-intelligence/vietnam-financial-2025</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04 — Remedy 3: Structural Reform — Productivity, Skills &amp; Demographic Policy</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Addressing: Middle-Income Trap, Ageing Population &amp; Low Value-Chain Position</a:t>
            </a:r>
            <a:endParaRPr lang="en-US" sz="950" dirty="0"/>
          </a:p>
        </p:txBody>
      </p:sp>
      <p:sp>
        <p:nvSpPr>
          <p:cNvPr id="5" name="Shape 3"/>
          <p:cNvSpPr/>
          <p:nvPr/>
        </p:nvSpPr>
        <p:spPr>
          <a:xfrm>
            <a:off x="274320" y="1078992"/>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6" name="Shape 4"/>
          <p:cNvSpPr/>
          <p:nvPr/>
        </p:nvSpPr>
        <p:spPr>
          <a:xfrm>
            <a:off x="365760" y="1161288"/>
            <a:ext cx="256032" cy="256032"/>
          </a:xfrm>
          <a:prstGeom prst="ellipse">
            <a:avLst/>
          </a:prstGeom>
          <a:solidFill>
            <a:srgbClr val="1B2A4A"/>
          </a:solidFill>
          <a:ln/>
        </p:spPr>
      </p:sp>
      <p:sp>
        <p:nvSpPr>
          <p:cNvPr id="7" name="Text 5"/>
          <p:cNvSpPr/>
          <p:nvPr/>
        </p:nvSpPr>
        <p:spPr>
          <a:xfrm>
            <a:off x="713232" y="1152144"/>
            <a:ext cx="3657600" cy="274320"/>
          </a:xfrm>
          <a:prstGeom prst="rect">
            <a:avLst/>
          </a:prstGeom>
          <a:noFill/>
          <a:ln/>
        </p:spPr>
        <p:txBody>
          <a:bodyPr wrap="square"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Skill Upgrading &amp; TVET Reform</a:t>
            </a:r>
            <a:endParaRPr lang="en-US" sz="950" dirty="0"/>
          </a:p>
        </p:txBody>
      </p:sp>
      <p:sp>
        <p:nvSpPr>
          <p:cNvPr id="8" name="Text 6"/>
          <p:cNvSpPr/>
          <p:nvPr/>
        </p:nvSpPr>
        <p:spPr>
          <a:xfrm>
            <a:off x="393192" y="1463040"/>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Align technical/vocational education with FDI firms' skill needs. Target 50% VET enrollment by 2027 (current ~30%).</a:t>
            </a:r>
            <a:endParaRPr lang="en-US" sz="820" dirty="0"/>
          </a:p>
        </p:txBody>
      </p:sp>
      <p:sp>
        <p:nvSpPr>
          <p:cNvPr id="9" name="Shape 7"/>
          <p:cNvSpPr/>
          <p:nvPr/>
        </p:nvSpPr>
        <p:spPr>
          <a:xfrm>
            <a:off x="274320" y="2029968"/>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10" name="Shape 8"/>
          <p:cNvSpPr/>
          <p:nvPr/>
        </p:nvSpPr>
        <p:spPr>
          <a:xfrm>
            <a:off x="365760" y="2112264"/>
            <a:ext cx="256032" cy="256032"/>
          </a:xfrm>
          <a:prstGeom prst="ellipse">
            <a:avLst/>
          </a:prstGeom>
          <a:solidFill>
            <a:srgbClr val="0D7377"/>
          </a:solidFill>
          <a:ln/>
        </p:spPr>
      </p:sp>
      <p:sp>
        <p:nvSpPr>
          <p:cNvPr id="11" name="Text 9"/>
          <p:cNvSpPr/>
          <p:nvPr/>
        </p:nvSpPr>
        <p:spPr>
          <a:xfrm>
            <a:off x="713232" y="2103120"/>
            <a:ext cx="3657600" cy="274320"/>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R&amp;D Tax Incentives</a:t>
            </a:r>
            <a:endParaRPr lang="en-US" sz="950" dirty="0"/>
          </a:p>
        </p:txBody>
      </p:sp>
      <p:sp>
        <p:nvSpPr>
          <p:cNvPr id="12" name="Text 10"/>
          <p:cNvSpPr/>
          <p:nvPr/>
        </p:nvSpPr>
        <p:spPr>
          <a:xfrm>
            <a:off x="393192" y="2414016"/>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Double R&amp;D tax credit for firms investing in domestic innovation. Target R&amp;D spend from 0.4% to 1% of GDP by 2030.</a:t>
            </a:r>
            <a:endParaRPr lang="en-US" sz="820" dirty="0"/>
          </a:p>
        </p:txBody>
      </p:sp>
      <p:sp>
        <p:nvSpPr>
          <p:cNvPr id="13" name="Shape 11"/>
          <p:cNvSpPr/>
          <p:nvPr/>
        </p:nvSpPr>
        <p:spPr>
          <a:xfrm>
            <a:off x="274320" y="2980944"/>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14" name="Shape 12"/>
          <p:cNvSpPr/>
          <p:nvPr/>
        </p:nvSpPr>
        <p:spPr>
          <a:xfrm>
            <a:off x="365760" y="3063240"/>
            <a:ext cx="256032" cy="256032"/>
          </a:xfrm>
          <a:prstGeom prst="ellipse">
            <a:avLst/>
          </a:prstGeom>
          <a:solidFill>
            <a:srgbClr val="1A7A4A"/>
          </a:solidFill>
          <a:ln/>
        </p:spPr>
      </p:sp>
      <p:sp>
        <p:nvSpPr>
          <p:cNvPr id="15" name="Text 13"/>
          <p:cNvSpPr/>
          <p:nvPr/>
        </p:nvSpPr>
        <p:spPr>
          <a:xfrm>
            <a:off x="713232" y="3054096"/>
            <a:ext cx="3657600" cy="274320"/>
          </a:xfrm>
          <a:prstGeom prst="rect">
            <a:avLst/>
          </a:prstGeom>
          <a:noFill/>
          <a:ln/>
        </p:spPr>
        <p:txBody>
          <a:bodyPr wrap="square" rtlCol="0" anchor="ctr"/>
          <a:lstStyle/>
          <a:p>
            <a:pPr marL="0" indent="0">
              <a:buNone/>
            </a:pPr>
            <a:r>
              <a:rPr lang="en-US" sz="950" b="1" dirty="0">
                <a:solidFill>
                  <a:srgbClr val="1A7A4A"/>
                </a:solidFill>
                <a:latin typeface="Calibri" pitchFamily="34" charset="0"/>
                <a:ea typeface="Calibri" pitchFamily="34" charset="-122"/>
                <a:cs typeface="Calibri" pitchFamily="34" charset="-120"/>
              </a:rPr>
              <a:t>Digital Economy Acceleration</a:t>
            </a:r>
            <a:endParaRPr lang="en-US" sz="950" dirty="0"/>
          </a:p>
        </p:txBody>
      </p:sp>
      <p:sp>
        <p:nvSpPr>
          <p:cNvPr id="16" name="Text 14"/>
          <p:cNvSpPr/>
          <p:nvPr/>
        </p:nvSpPr>
        <p:spPr>
          <a:xfrm>
            <a:off x="393192" y="3364992"/>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Fast-track e-government, digital payments and SME digitalisation. Target 50 Mn adults with bank accounts by 2027.</a:t>
            </a:r>
            <a:endParaRPr lang="en-US" sz="820" dirty="0"/>
          </a:p>
        </p:txBody>
      </p:sp>
      <p:sp>
        <p:nvSpPr>
          <p:cNvPr id="17" name="Shape 15"/>
          <p:cNvSpPr/>
          <p:nvPr/>
        </p:nvSpPr>
        <p:spPr>
          <a:xfrm>
            <a:off x="274320" y="3931920"/>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18" name="Shape 16"/>
          <p:cNvSpPr/>
          <p:nvPr/>
        </p:nvSpPr>
        <p:spPr>
          <a:xfrm>
            <a:off x="365760" y="4014216"/>
            <a:ext cx="256032" cy="256032"/>
          </a:xfrm>
          <a:prstGeom prst="ellipse">
            <a:avLst/>
          </a:prstGeom>
          <a:solidFill>
            <a:srgbClr val="D4651A"/>
          </a:solidFill>
          <a:ln/>
        </p:spPr>
      </p:sp>
      <p:sp>
        <p:nvSpPr>
          <p:cNvPr id="19" name="Text 17"/>
          <p:cNvSpPr/>
          <p:nvPr/>
        </p:nvSpPr>
        <p:spPr>
          <a:xfrm>
            <a:off x="713232" y="4005072"/>
            <a:ext cx="3657600" cy="274320"/>
          </a:xfrm>
          <a:prstGeom prst="rect">
            <a:avLst/>
          </a:prstGeom>
          <a:noFill/>
          <a:ln/>
        </p:spPr>
        <p:txBody>
          <a:bodyPr wrap="square" rtlCol="0" anchor="ctr"/>
          <a:lstStyle/>
          <a:p>
            <a:pPr marL="0" indent="0">
              <a:buNone/>
            </a:pPr>
            <a:r>
              <a:rPr lang="en-US" sz="950" b="1" dirty="0">
                <a:solidFill>
                  <a:srgbClr val="D4651A"/>
                </a:solidFill>
                <a:latin typeface="Calibri" pitchFamily="34" charset="0"/>
                <a:ea typeface="Calibri" pitchFamily="34" charset="-122"/>
                <a:cs typeface="Calibri" pitchFamily="34" charset="-120"/>
              </a:rPr>
              <a:t>FDI Linkage Programme</a:t>
            </a:r>
            <a:endParaRPr lang="en-US" sz="950" dirty="0"/>
          </a:p>
        </p:txBody>
      </p:sp>
      <p:sp>
        <p:nvSpPr>
          <p:cNvPr id="20" name="Text 18"/>
          <p:cNvSpPr/>
          <p:nvPr/>
        </p:nvSpPr>
        <p:spPr>
          <a:xfrm>
            <a:off x="393192" y="4315968"/>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Mandate technology transfer in FDI licences for strategic sectors. Support supplier development between Samsung, LG and local firms.</a:t>
            </a:r>
            <a:endParaRPr lang="en-US" sz="820" dirty="0"/>
          </a:p>
        </p:txBody>
      </p:sp>
      <p:sp>
        <p:nvSpPr>
          <p:cNvPr id="21" name="Shape 19"/>
          <p:cNvSpPr/>
          <p:nvPr/>
        </p:nvSpPr>
        <p:spPr>
          <a:xfrm>
            <a:off x="4709160" y="1078992"/>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22" name="Shape 20"/>
          <p:cNvSpPr/>
          <p:nvPr/>
        </p:nvSpPr>
        <p:spPr>
          <a:xfrm>
            <a:off x="4800600" y="1161288"/>
            <a:ext cx="256032" cy="256032"/>
          </a:xfrm>
          <a:prstGeom prst="ellipse">
            <a:avLst/>
          </a:prstGeom>
          <a:solidFill>
            <a:srgbClr val="C0392B"/>
          </a:solidFill>
          <a:ln/>
        </p:spPr>
      </p:sp>
      <p:sp>
        <p:nvSpPr>
          <p:cNvPr id="23" name="Text 21"/>
          <p:cNvSpPr/>
          <p:nvPr/>
        </p:nvSpPr>
        <p:spPr>
          <a:xfrm>
            <a:off x="5148072" y="1152144"/>
            <a:ext cx="3657600" cy="274320"/>
          </a:xfrm>
          <a:prstGeom prst="rect">
            <a:avLst/>
          </a:prstGeom>
          <a:noFill/>
          <a:ln/>
        </p:spPr>
        <p:txBody>
          <a:bodyPr wrap="square"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Pension Reform</a:t>
            </a:r>
            <a:endParaRPr lang="en-US" sz="950" dirty="0"/>
          </a:p>
        </p:txBody>
      </p:sp>
      <p:sp>
        <p:nvSpPr>
          <p:cNvPr id="24" name="Text 22"/>
          <p:cNvSpPr/>
          <p:nvPr/>
        </p:nvSpPr>
        <p:spPr>
          <a:xfrm>
            <a:off x="4828032" y="1463040"/>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Gradually raise retirement age (60M/55F → 62/60 by 2030). Diversify pension fund investments to reduce fiscal burden.</a:t>
            </a:r>
            <a:endParaRPr lang="en-US" sz="820" dirty="0"/>
          </a:p>
        </p:txBody>
      </p:sp>
      <p:sp>
        <p:nvSpPr>
          <p:cNvPr id="25" name="Shape 23"/>
          <p:cNvSpPr/>
          <p:nvPr/>
        </p:nvSpPr>
        <p:spPr>
          <a:xfrm>
            <a:off x="4709160" y="2029968"/>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26" name="Shape 24"/>
          <p:cNvSpPr/>
          <p:nvPr/>
        </p:nvSpPr>
        <p:spPr>
          <a:xfrm>
            <a:off x="4800600" y="2112264"/>
            <a:ext cx="256032" cy="256032"/>
          </a:xfrm>
          <a:prstGeom prst="ellipse">
            <a:avLst/>
          </a:prstGeom>
          <a:solidFill>
            <a:srgbClr val="D4A017"/>
          </a:solidFill>
          <a:ln/>
        </p:spPr>
      </p:sp>
      <p:sp>
        <p:nvSpPr>
          <p:cNvPr id="27" name="Text 25"/>
          <p:cNvSpPr/>
          <p:nvPr/>
        </p:nvSpPr>
        <p:spPr>
          <a:xfrm>
            <a:off x="5148072" y="2103120"/>
            <a:ext cx="3657600" cy="274320"/>
          </a:xfrm>
          <a:prstGeom prst="rect">
            <a:avLst/>
          </a:prstGeom>
          <a:noFill/>
          <a:ln/>
        </p:spPr>
        <p:txBody>
          <a:bodyPr wrap="square" rtlCol="0" anchor="ctr"/>
          <a:lstStyle/>
          <a:p>
            <a:pPr marL="0" indent="0">
              <a:buNone/>
            </a:pPr>
            <a:r>
              <a:rPr lang="en-US" sz="950" b="1" dirty="0">
                <a:solidFill>
                  <a:srgbClr val="D4A017"/>
                </a:solidFill>
                <a:latin typeface="Calibri" pitchFamily="34" charset="0"/>
                <a:ea typeface="Calibri" pitchFamily="34" charset="-122"/>
                <a:cs typeface="Calibri" pitchFamily="34" charset="-120"/>
              </a:rPr>
              <a:t>Pro-Natalist Policy</a:t>
            </a:r>
            <a:endParaRPr lang="en-US" sz="950" dirty="0"/>
          </a:p>
        </p:txBody>
      </p:sp>
      <p:sp>
        <p:nvSpPr>
          <p:cNvPr id="28" name="Text 26"/>
          <p:cNvSpPr/>
          <p:nvPr/>
        </p:nvSpPr>
        <p:spPr>
          <a:xfrm>
            <a:off x="4828032" y="2414016"/>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Expand childcare subsidies, maternity benefits and tax credits for families with ≥2 children to slow fertility decline.</a:t>
            </a:r>
            <a:endParaRPr lang="en-US" sz="820" dirty="0"/>
          </a:p>
        </p:txBody>
      </p:sp>
      <p:sp>
        <p:nvSpPr>
          <p:cNvPr id="29" name="Shape 27"/>
          <p:cNvSpPr/>
          <p:nvPr/>
        </p:nvSpPr>
        <p:spPr>
          <a:xfrm>
            <a:off x="4709160" y="2980944"/>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30" name="Shape 28"/>
          <p:cNvSpPr/>
          <p:nvPr/>
        </p:nvSpPr>
        <p:spPr>
          <a:xfrm>
            <a:off x="4800600" y="3063240"/>
            <a:ext cx="256032" cy="256032"/>
          </a:xfrm>
          <a:prstGeom prst="ellipse">
            <a:avLst/>
          </a:prstGeom>
          <a:solidFill>
            <a:srgbClr val="0D7377"/>
          </a:solidFill>
          <a:ln/>
        </p:spPr>
      </p:sp>
      <p:sp>
        <p:nvSpPr>
          <p:cNvPr id="31" name="Text 29"/>
          <p:cNvSpPr/>
          <p:nvPr/>
        </p:nvSpPr>
        <p:spPr>
          <a:xfrm>
            <a:off x="5148072" y="3054096"/>
            <a:ext cx="3657600" cy="274320"/>
          </a:xfrm>
          <a:prstGeom prst="rect">
            <a:avLst/>
          </a:prstGeom>
          <a:noFill/>
          <a:ln/>
        </p:spPr>
        <p:txBody>
          <a:bodyPr wrap="square"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Agricultural Productivity</a:t>
            </a:r>
            <a:endParaRPr lang="en-US" sz="950" dirty="0"/>
          </a:p>
        </p:txBody>
      </p:sp>
      <p:sp>
        <p:nvSpPr>
          <p:cNvPr id="32" name="Text 30"/>
          <p:cNvSpPr/>
          <p:nvPr/>
        </p:nvSpPr>
        <p:spPr>
          <a:xfrm>
            <a:off x="4828032" y="3364992"/>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Mechanise and digitalise agriculture to free up 5–10 Mn workers for higher-productivity sectors by 2030.</a:t>
            </a:r>
            <a:endParaRPr lang="en-US" sz="820" dirty="0"/>
          </a:p>
        </p:txBody>
      </p:sp>
      <p:sp>
        <p:nvSpPr>
          <p:cNvPr id="33" name="Shape 31"/>
          <p:cNvSpPr/>
          <p:nvPr/>
        </p:nvSpPr>
        <p:spPr>
          <a:xfrm>
            <a:off x="4709160" y="3931920"/>
            <a:ext cx="4206240" cy="859536"/>
          </a:xfrm>
          <a:prstGeom prst="roundRect">
            <a:avLst>
              <a:gd name="adj" fmla="val 10638"/>
            </a:avLst>
          </a:prstGeom>
          <a:solidFill>
            <a:srgbClr val="FFFFFF"/>
          </a:solidFill>
          <a:ln/>
          <a:effectLst>
            <a:outerShdw blurRad="63500" dist="25400" dir="2700000" algn="bl" rotWithShape="0">
              <a:srgbClr val="000000">
                <a:alpha val="10000"/>
              </a:srgbClr>
            </a:outerShdw>
          </a:effectLst>
        </p:spPr>
      </p:sp>
      <p:sp>
        <p:nvSpPr>
          <p:cNvPr id="34" name="Shape 32"/>
          <p:cNvSpPr/>
          <p:nvPr/>
        </p:nvSpPr>
        <p:spPr>
          <a:xfrm>
            <a:off x="4800600" y="4014216"/>
            <a:ext cx="256032" cy="256032"/>
          </a:xfrm>
          <a:prstGeom prst="ellipse">
            <a:avLst/>
          </a:prstGeom>
          <a:solidFill>
            <a:srgbClr val="1A7A4A"/>
          </a:solidFill>
          <a:ln/>
        </p:spPr>
      </p:sp>
      <p:sp>
        <p:nvSpPr>
          <p:cNvPr id="35" name="Text 33"/>
          <p:cNvSpPr/>
          <p:nvPr/>
        </p:nvSpPr>
        <p:spPr>
          <a:xfrm>
            <a:off x="5148072" y="4005072"/>
            <a:ext cx="3657600" cy="274320"/>
          </a:xfrm>
          <a:prstGeom prst="rect">
            <a:avLst/>
          </a:prstGeom>
          <a:noFill/>
          <a:ln/>
        </p:spPr>
        <p:txBody>
          <a:bodyPr wrap="square" rtlCol="0" anchor="ctr"/>
          <a:lstStyle/>
          <a:p>
            <a:pPr marL="0" indent="0">
              <a:buNone/>
            </a:pPr>
            <a:r>
              <a:rPr lang="en-US" sz="950" b="1" dirty="0">
                <a:solidFill>
                  <a:srgbClr val="1A7A4A"/>
                </a:solidFill>
                <a:latin typeface="Calibri" pitchFamily="34" charset="0"/>
                <a:ea typeface="Calibri" pitchFamily="34" charset="-122"/>
                <a:cs typeface="Calibri" pitchFamily="34" charset="-120"/>
              </a:rPr>
              <a:t>Inclusive Fiscal Policy</a:t>
            </a:r>
            <a:endParaRPr lang="en-US" sz="950" dirty="0"/>
          </a:p>
        </p:txBody>
      </p:sp>
      <p:sp>
        <p:nvSpPr>
          <p:cNvPr id="36" name="Text 34"/>
          <p:cNvSpPr/>
          <p:nvPr/>
        </p:nvSpPr>
        <p:spPr>
          <a:xfrm>
            <a:off x="4828032" y="4315968"/>
            <a:ext cx="4005072" cy="438912"/>
          </a:xfrm>
          <a:prstGeom prst="rect">
            <a:avLst/>
          </a:prstGeom>
          <a:noFill/>
          <a:ln/>
        </p:spPr>
        <p:txBody>
          <a:bodyPr wrap="square" rtlCol="0" anchor="t"/>
          <a:lstStyle/>
          <a:p>
            <a:pPr marL="0" indent="0">
              <a:buNone/>
            </a:pPr>
            <a:r>
              <a:rPr lang="en-US" sz="820" dirty="0">
                <a:solidFill>
                  <a:srgbClr val="333333"/>
                </a:solidFill>
                <a:latin typeface="Arial" pitchFamily="34" charset="0"/>
                <a:ea typeface="Arial" pitchFamily="34" charset="-122"/>
                <a:cs typeface="Arial" pitchFamily="34" charset="-120"/>
              </a:rPr>
              <a:t>Broaden tax base (15% GDP vs OECD 34%). Expand healthcare &amp; social protection for ageing costs sustainability.</a:t>
            </a:r>
            <a:endParaRPr lang="en-US" sz="820" dirty="0"/>
          </a:p>
        </p:txBody>
      </p:sp>
      <p:sp>
        <p:nvSpPr>
          <p:cNvPr id="37" name="Shape 35"/>
          <p:cNvSpPr/>
          <p:nvPr/>
        </p:nvSpPr>
        <p:spPr>
          <a:xfrm>
            <a:off x="0" y="4828032"/>
            <a:ext cx="9144000" cy="315468"/>
          </a:xfrm>
          <a:prstGeom prst="rect">
            <a:avLst/>
          </a:prstGeom>
          <a:solidFill>
            <a:srgbClr val="1B2A4A"/>
          </a:solidFill>
          <a:ln w="12700">
            <a:solidFill>
              <a:srgbClr val="1B2A4A"/>
            </a:solidFill>
            <a:prstDash val="solid"/>
          </a:ln>
        </p:spPr>
      </p:sp>
      <p:sp>
        <p:nvSpPr>
          <p:cNvPr id="38" name="Text 36"/>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OECD Economic Survey Vietnam 2025 – Structural Reform (ch.5–6): oecd.org/economy/vietnam-economic-survey  |  World Bank – Human Capital Index Vietnam: worldbank.org/en/publication/human-capital  |  OECD – Pensions Outlook / Vietnam Social Spending: oecd.org/pensions  |  GSO Vietnam – Population &amp; Labour Projections: gso.gov.vn/en/homepage.html  |  World Bank – Vietnam Digital Economy Strategy: worldbank.org/en/country/vietnam</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Text 1"/>
          <p:cNvSpPr/>
          <p:nvPr/>
        </p:nvSpPr>
        <p:spPr>
          <a:xfrm>
            <a:off x="320040" y="45720"/>
            <a:ext cx="8503920" cy="54864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Appendix — AI Prompts Used in this Project</a:t>
            </a:r>
            <a:endParaRPr lang="en-US" sz="2100" dirty="0"/>
          </a:p>
        </p:txBody>
      </p:sp>
      <p:sp>
        <p:nvSpPr>
          <p:cNvPr id="4" name="Text 2"/>
          <p:cNvSpPr/>
          <p:nvPr/>
        </p:nvSpPr>
        <p:spPr>
          <a:xfrm>
            <a:off x="320040" y="566928"/>
            <a:ext cx="8503920" cy="329184"/>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As required per project guidelines · AI Tool: Claude (Anthropic) · claude.ai</a:t>
            </a:r>
            <a:endParaRPr lang="en-US" sz="950" dirty="0"/>
          </a:p>
        </p:txBody>
      </p:sp>
      <p:sp>
        <p:nvSpPr>
          <p:cNvPr id="5" name="Shape 3"/>
          <p:cNvSpPr/>
          <p:nvPr/>
        </p:nvSpPr>
        <p:spPr>
          <a:xfrm>
            <a:off x="274320" y="1078992"/>
            <a:ext cx="8595360" cy="1143000"/>
          </a:xfrm>
          <a:prstGeom prst="roundRect">
            <a:avLst>
              <a:gd name="adj" fmla="val 8000"/>
            </a:avLst>
          </a:prstGeom>
          <a:solidFill>
            <a:srgbClr val="EAF0FB"/>
          </a:solidFill>
          <a:ln/>
          <a:effectLst>
            <a:outerShdw blurRad="63500" dist="25400" dir="2700000" algn="bl" rotWithShape="0">
              <a:srgbClr val="000000">
                <a:alpha val="10000"/>
              </a:srgbClr>
            </a:outerShdw>
          </a:effectLst>
        </p:spPr>
      </p:sp>
      <p:sp>
        <p:nvSpPr>
          <p:cNvPr id="6" name="Shape 4"/>
          <p:cNvSpPr/>
          <p:nvPr/>
        </p:nvSpPr>
        <p:spPr>
          <a:xfrm>
            <a:off x="347472" y="1170432"/>
            <a:ext cx="438912" cy="310896"/>
          </a:xfrm>
          <a:prstGeom prst="roundRect">
            <a:avLst>
              <a:gd name="adj" fmla="val 14706"/>
            </a:avLst>
          </a:prstGeom>
          <a:solidFill>
            <a:srgbClr val="1B2A4A"/>
          </a:solidFill>
          <a:ln/>
        </p:spPr>
      </p:sp>
      <p:sp>
        <p:nvSpPr>
          <p:cNvPr id="7" name="Text 5"/>
          <p:cNvSpPr/>
          <p:nvPr/>
        </p:nvSpPr>
        <p:spPr>
          <a:xfrm>
            <a:off x="347472" y="1170432"/>
            <a:ext cx="43891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P1</a:t>
            </a:r>
            <a:endParaRPr lang="en-US" sz="900" dirty="0"/>
          </a:p>
        </p:txBody>
      </p:sp>
      <p:sp>
        <p:nvSpPr>
          <p:cNvPr id="8" name="Text 6"/>
          <p:cNvSpPr/>
          <p:nvPr/>
        </p:nvSpPr>
        <p:spPr>
          <a:xfrm>
            <a:off x="859536" y="1170432"/>
            <a:ext cx="3657600" cy="29260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Country Data Extraction</a:t>
            </a:r>
            <a:endParaRPr lang="en-US" sz="1000" dirty="0"/>
          </a:p>
        </p:txBody>
      </p:sp>
      <p:sp>
        <p:nvSpPr>
          <p:cNvPr id="9" name="Text 7"/>
          <p:cNvSpPr/>
          <p:nvPr/>
        </p:nvSpPr>
        <p:spPr>
          <a:xfrm>
            <a:off x="347472" y="1481328"/>
            <a:ext cx="8229600" cy="274320"/>
          </a:xfrm>
          <a:prstGeom prst="rect">
            <a:avLst/>
          </a:prstGeom>
          <a:noFill/>
          <a:ln/>
        </p:spPr>
        <p:txBody>
          <a:bodyPr wrap="square" rtlCol="0" anchor="ctr"/>
          <a:lstStyle/>
          <a:p>
            <a:pPr marL="0" indent="0">
              <a:buNone/>
            </a:pPr>
            <a:r>
              <a:rPr lang="en-US" sz="750" b="1" dirty="0">
                <a:solidFill>
                  <a:srgbClr val="333333"/>
                </a:solidFill>
                <a:latin typeface="Arial" pitchFamily="34" charset="0"/>
                <a:ea typeface="Arial" pitchFamily="34" charset="-122"/>
                <a:cs typeface="Arial" pitchFamily="34" charset="-120"/>
              </a:rPr>
              <a:t>Prompt: </a:t>
            </a:r>
            <a:r>
              <a:rPr lang="en-US" sz="750" dirty="0">
                <a:solidFill>
                  <a:srgbClr val="333333"/>
                </a:solidFill>
                <a:latin typeface="Arial" pitchFamily="34" charset="0"/>
                <a:ea typeface="Arial" pitchFamily="34" charset="-122"/>
                <a:cs typeface="Arial" pitchFamily="34" charset="-120"/>
              </a:rPr>
              <a:t>"Extract Vietnam macroeconomic data for FY 2022–2025 including GDP growth, CPI inflation, unemployment rate, trade balance, fiscal deficit, current account balance, and industrial production index from IMF, World Bank, OECD and GSO Vietnam sources. Include 2026–2027 forecasts."</a:t>
            </a:r>
            <a:endParaRPr lang="en-US" sz="750" dirty="0"/>
          </a:p>
        </p:txBody>
      </p:sp>
      <p:sp>
        <p:nvSpPr>
          <p:cNvPr id="10" name="Text 8"/>
          <p:cNvSpPr/>
          <p:nvPr/>
        </p:nvSpPr>
        <p:spPr>
          <a:xfrm>
            <a:off x="347472" y="1792224"/>
            <a:ext cx="8229600" cy="347472"/>
          </a:xfrm>
          <a:prstGeom prst="rect">
            <a:avLst/>
          </a:prstGeom>
          <a:noFill/>
          <a:ln/>
        </p:spPr>
        <p:txBody>
          <a:bodyPr wrap="square" rtlCol="0" anchor="ctr"/>
          <a:lstStyle/>
          <a:p>
            <a:pPr marL="0" indent="0">
              <a:buNone/>
            </a:pPr>
            <a:r>
              <a:rPr lang="en-US" sz="750" b="1" dirty="0">
                <a:solidFill>
                  <a:srgbClr val="0D7377"/>
                </a:solidFill>
                <a:latin typeface="Arial" pitchFamily="34" charset="0"/>
                <a:ea typeface="Arial" pitchFamily="34" charset="-122"/>
                <a:cs typeface="Arial" pitchFamily="34" charset="-120"/>
              </a:rPr>
              <a:t>Used for: </a:t>
            </a:r>
            <a:r>
              <a:rPr lang="en-US" sz="750" dirty="0">
                <a:solidFill>
                  <a:srgbClr val="333333"/>
                </a:solidFill>
                <a:latin typeface="Arial" pitchFamily="34" charset="0"/>
                <a:ea typeface="Arial" pitchFamily="34" charset="-122"/>
                <a:cs typeface="Arial" pitchFamily="34" charset="-120"/>
              </a:rPr>
              <a:t>Generated the data foundation for all three macroeconomic performance slides (Slides 3–5).</a:t>
            </a:r>
            <a:r>
              <a:rPr lang="en-US" sz="750" b="1" dirty="0">
                <a:solidFill>
                  <a:srgbClr val="1A7A4A"/>
                </a:solidFill>
                <a:latin typeface="Arial" pitchFamily="34" charset="0"/>
                <a:ea typeface="Arial" pitchFamily="34" charset="-122"/>
                <a:cs typeface="Arial" pitchFamily="34" charset="-120"/>
              </a:rPr>
              <a:t>  |  Verified via: </a:t>
            </a:r>
            <a:r>
              <a:rPr lang="en-US" sz="750" dirty="0">
                <a:solidFill>
                  <a:srgbClr val="333333"/>
                </a:solidFill>
                <a:latin typeface="Arial" pitchFamily="34" charset="0"/>
                <a:ea typeface="Arial" pitchFamily="34" charset="-122"/>
                <a:cs typeface="Arial" pitchFamily="34" charset="-120"/>
              </a:rPr>
              <a:t>Cross-checked against OECD Economic Survey Vietnam 2025 (oecd.org), IMF Article IV 2025 (imf.org), World Bank Economic Update (worldbank.org), and GSO Vietnam press release (gso.gov.vn).</a:t>
            </a:r>
            <a:endParaRPr lang="en-US" sz="750" dirty="0"/>
          </a:p>
        </p:txBody>
      </p:sp>
      <p:sp>
        <p:nvSpPr>
          <p:cNvPr id="11" name="Shape 9"/>
          <p:cNvSpPr/>
          <p:nvPr/>
        </p:nvSpPr>
        <p:spPr>
          <a:xfrm>
            <a:off x="274320" y="2313432"/>
            <a:ext cx="8595360" cy="1143000"/>
          </a:xfrm>
          <a:prstGeom prst="roundRect">
            <a:avLst>
              <a:gd name="adj" fmla="val 8000"/>
            </a:avLst>
          </a:prstGeom>
          <a:solidFill>
            <a:srgbClr val="EAF7F0"/>
          </a:solidFill>
          <a:ln/>
          <a:effectLst>
            <a:outerShdw blurRad="63500" dist="25400" dir="2700000" algn="bl" rotWithShape="0">
              <a:srgbClr val="000000">
                <a:alpha val="10000"/>
              </a:srgbClr>
            </a:outerShdw>
          </a:effectLst>
        </p:spPr>
      </p:sp>
      <p:sp>
        <p:nvSpPr>
          <p:cNvPr id="12" name="Shape 10"/>
          <p:cNvSpPr/>
          <p:nvPr/>
        </p:nvSpPr>
        <p:spPr>
          <a:xfrm>
            <a:off x="347472" y="2404872"/>
            <a:ext cx="438912" cy="310896"/>
          </a:xfrm>
          <a:prstGeom prst="roundRect">
            <a:avLst>
              <a:gd name="adj" fmla="val 14706"/>
            </a:avLst>
          </a:prstGeom>
          <a:solidFill>
            <a:srgbClr val="1B2A4A"/>
          </a:solidFill>
          <a:ln/>
        </p:spPr>
      </p:sp>
      <p:sp>
        <p:nvSpPr>
          <p:cNvPr id="13" name="Text 11"/>
          <p:cNvSpPr/>
          <p:nvPr/>
        </p:nvSpPr>
        <p:spPr>
          <a:xfrm>
            <a:off x="347472" y="2404872"/>
            <a:ext cx="43891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P2</a:t>
            </a:r>
            <a:endParaRPr lang="en-US" sz="900" dirty="0"/>
          </a:p>
        </p:txBody>
      </p:sp>
      <p:sp>
        <p:nvSpPr>
          <p:cNvPr id="14" name="Text 12"/>
          <p:cNvSpPr/>
          <p:nvPr/>
        </p:nvSpPr>
        <p:spPr>
          <a:xfrm>
            <a:off x="859536" y="2404872"/>
            <a:ext cx="3657600" cy="29260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Problem Identification</a:t>
            </a:r>
            <a:endParaRPr lang="en-US" sz="1000" dirty="0"/>
          </a:p>
        </p:txBody>
      </p:sp>
      <p:sp>
        <p:nvSpPr>
          <p:cNvPr id="15" name="Text 13"/>
          <p:cNvSpPr/>
          <p:nvPr/>
        </p:nvSpPr>
        <p:spPr>
          <a:xfrm>
            <a:off x="347472" y="2715768"/>
            <a:ext cx="8229600" cy="274320"/>
          </a:xfrm>
          <a:prstGeom prst="rect">
            <a:avLst/>
          </a:prstGeom>
          <a:noFill/>
          <a:ln/>
        </p:spPr>
        <p:txBody>
          <a:bodyPr wrap="square" rtlCol="0" anchor="ctr"/>
          <a:lstStyle/>
          <a:p>
            <a:pPr marL="0" indent="0">
              <a:buNone/>
            </a:pPr>
            <a:r>
              <a:rPr lang="en-US" sz="750" b="1" dirty="0">
                <a:solidFill>
                  <a:srgbClr val="333333"/>
                </a:solidFill>
                <a:latin typeface="Arial" pitchFamily="34" charset="0"/>
                <a:ea typeface="Arial" pitchFamily="34" charset="-122"/>
                <a:cs typeface="Arial" pitchFamily="34" charset="-120"/>
              </a:rPr>
              <a:t>Prompt: </a:t>
            </a:r>
            <a:r>
              <a:rPr lang="en-US" sz="750" dirty="0">
                <a:solidFill>
                  <a:srgbClr val="333333"/>
                </a:solidFill>
                <a:latin typeface="Arial" pitchFamily="34" charset="0"/>
                <a:ea typeface="Arial" pitchFamily="34" charset="-122"/>
                <a:cs typeface="Arial" pitchFamily="34" charset="-120"/>
              </a:rPr>
              <a:t>"As a macroeconomics policy analyst, identify the 3 most distinct macroeconomic difficulties Vietnam faces. Of the three, 2 must be direct macroeconomic difficulties and 1 a broader structural problem with indirect macroeconomic implications. Use 2022–2025 data from credible international sources."</a:t>
            </a:r>
            <a:endParaRPr lang="en-US" sz="750" dirty="0"/>
          </a:p>
        </p:txBody>
      </p:sp>
      <p:sp>
        <p:nvSpPr>
          <p:cNvPr id="16" name="Text 14"/>
          <p:cNvSpPr/>
          <p:nvPr/>
        </p:nvSpPr>
        <p:spPr>
          <a:xfrm>
            <a:off x="347472" y="3026664"/>
            <a:ext cx="8229600" cy="347472"/>
          </a:xfrm>
          <a:prstGeom prst="rect">
            <a:avLst/>
          </a:prstGeom>
          <a:noFill/>
          <a:ln/>
        </p:spPr>
        <p:txBody>
          <a:bodyPr wrap="square" rtlCol="0" anchor="ctr"/>
          <a:lstStyle/>
          <a:p>
            <a:pPr marL="0" indent="0">
              <a:buNone/>
            </a:pPr>
            <a:r>
              <a:rPr lang="en-US" sz="750" b="1" dirty="0">
                <a:solidFill>
                  <a:srgbClr val="0D7377"/>
                </a:solidFill>
                <a:latin typeface="Arial" pitchFamily="34" charset="0"/>
                <a:ea typeface="Arial" pitchFamily="34" charset="-122"/>
                <a:cs typeface="Arial" pitchFamily="34" charset="-120"/>
              </a:rPr>
              <a:t>Used for: </a:t>
            </a:r>
            <a:r>
              <a:rPr lang="en-US" sz="750" dirty="0">
                <a:solidFill>
                  <a:srgbClr val="333333"/>
                </a:solidFill>
                <a:latin typeface="Arial" pitchFamily="34" charset="0"/>
                <a:ea typeface="Arial" pitchFamily="34" charset="-122"/>
                <a:cs typeface="Arial" pitchFamily="34" charset="-120"/>
              </a:rPr>
              <a:t>Structured the three-problem framework: (1) US tariff/export concentration, (2) banking &amp; real estate fragility, (3) productivity trap &amp; demographic transition.</a:t>
            </a:r>
            <a:r>
              <a:rPr lang="en-US" sz="750" b="1" dirty="0">
                <a:solidFill>
                  <a:srgbClr val="1A7A4A"/>
                </a:solidFill>
                <a:latin typeface="Arial" pitchFamily="34" charset="0"/>
                <a:ea typeface="Arial" pitchFamily="34" charset="-122"/>
                <a:cs typeface="Arial" pitchFamily="34" charset="-120"/>
              </a:rPr>
              <a:t>  |  Verified via: </a:t>
            </a:r>
            <a:r>
              <a:rPr lang="en-US" sz="750" dirty="0">
                <a:solidFill>
                  <a:srgbClr val="333333"/>
                </a:solidFill>
                <a:latin typeface="Arial" pitchFamily="34" charset="0"/>
                <a:ea typeface="Arial" pitchFamily="34" charset="-122"/>
                <a:cs typeface="Arial" pitchFamily="34" charset="-120"/>
              </a:rPr>
              <a:t>Validated against AMRO Asia Vietnam Assessment 2025 (amro-asia.org), OECD 2025 Survey priority areas, and IMF 2025 Article IV key risks (elibrary.imf.org).</a:t>
            </a:r>
            <a:endParaRPr lang="en-US" sz="750" dirty="0"/>
          </a:p>
        </p:txBody>
      </p:sp>
      <p:sp>
        <p:nvSpPr>
          <p:cNvPr id="17" name="Shape 15"/>
          <p:cNvSpPr/>
          <p:nvPr/>
        </p:nvSpPr>
        <p:spPr>
          <a:xfrm>
            <a:off x="274320" y="3547872"/>
            <a:ext cx="8595360" cy="1143000"/>
          </a:xfrm>
          <a:prstGeom prst="roundRect">
            <a:avLst>
              <a:gd name="adj" fmla="val 8000"/>
            </a:avLst>
          </a:prstGeom>
          <a:solidFill>
            <a:srgbClr val="EAF0FB"/>
          </a:solidFill>
          <a:ln/>
          <a:effectLst>
            <a:outerShdw blurRad="63500" dist="25400" dir="2700000" algn="bl" rotWithShape="0">
              <a:srgbClr val="000000">
                <a:alpha val="10000"/>
              </a:srgbClr>
            </a:outerShdw>
          </a:effectLst>
        </p:spPr>
      </p:sp>
      <p:sp>
        <p:nvSpPr>
          <p:cNvPr id="18" name="Shape 16"/>
          <p:cNvSpPr/>
          <p:nvPr/>
        </p:nvSpPr>
        <p:spPr>
          <a:xfrm>
            <a:off x="347472" y="3639312"/>
            <a:ext cx="438912" cy="310896"/>
          </a:xfrm>
          <a:prstGeom prst="roundRect">
            <a:avLst>
              <a:gd name="adj" fmla="val 14706"/>
            </a:avLst>
          </a:prstGeom>
          <a:solidFill>
            <a:srgbClr val="1B2A4A"/>
          </a:solidFill>
          <a:ln/>
        </p:spPr>
      </p:sp>
      <p:sp>
        <p:nvSpPr>
          <p:cNvPr id="19" name="Text 17"/>
          <p:cNvSpPr/>
          <p:nvPr/>
        </p:nvSpPr>
        <p:spPr>
          <a:xfrm>
            <a:off x="347472" y="3639312"/>
            <a:ext cx="438912" cy="31089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P3</a:t>
            </a:r>
            <a:endParaRPr lang="en-US" sz="900" dirty="0"/>
          </a:p>
        </p:txBody>
      </p:sp>
      <p:sp>
        <p:nvSpPr>
          <p:cNvPr id="20" name="Text 18"/>
          <p:cNvSpPr/>
          <p:nvPr/>
        </p:nvSpPr>
        <p:spPr>
          <a:xfrm>
            <a:off x="859536" y="3639312"/>
            <a:ext cx="3657600" cy="292608"/>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Policy Remedies with Theoretical Basis</a:t>
            </a:r>
            <a:endParaRPr lang="en-US" sz="1000" dirty="0"/>
          </a:p>
        </p:txBody>
      </p:sp>
      <p:sp>
        <p:nvSpPr>
          <p:cNvPr id="21" name="Text 19"/>
          <p:cNvSpPr/>
          <p:nvPr/>
        </p:nvSpPr>
        <p:spPr>
          <a:xfrm>
            <a:off x="347472" y="3950208"/>
            <a:ext cx="8229600" cy="274320"/>
          </a:xfrm>
          <a:prstGeom prst="rect">
            <a:avLst/>
          </a:prstGeom>
          <a:noFill/>
          <a:ln/>
        </p:spPr>
        <p:txBody>
          <a:bodyPr wrap="square" rtlCol="0" anchor="ctr"/>
          <a:lstStyle/>
          <a:p>
            <a:pPr marL="0" indent="0">
              <a:buNone/>
            </a:pPr>
            <a:r>
              <a:rPr lang="en-US" sz="750" b="1" dirty="0">
                <a:solidFill>
                  <a:srgbClr val="333333"/>
                </a:solidFill>
                <a:latin typeface="Arial" pitchFamily="34" charset="0"/>
                <a:ea typeface="Arial" pitchFamily="34" charset="-122"/>
                <a:cs typeface="Arial" pitchFamily="34" charset="-120"/>
              </a:rPr>
              <a:t>Prompt: </a:t>
            </a:r>
            <a:r>
              <a:rPr lang="en-US" sz="750" dirty="0">
                <a:solidFill>
                  <a:srgbClr val="333333"/>
                </a:solidFill>
                <a:latin typeface="Arial" pitchFamily="34" charset="0"/>
                <a:ea typeface="Arial" pitchFamily="34" charset="-122"/>
                <a:cs typeface="Arial" pitchFamily="34" charset="-120"/>
              </a:rPr>
              <a:t>"Suggest macroeconomic policy remedies for each problem for Vietnam. For direct problems, apply Mundell-Fleming, IS-LM, Keynesian aggregate demand frameworks. For the structural problem, apply supply-side and fiscal measures. Ensure remedies are specific, actionable and grounded in Vietnam's institutional context."</a:t>
            </a:r>
            <a:endParaRPr lang="en-US" sz="750" dirty="0"/>
          </a:p>
        </p:txBody>
      </p:sp>
      <p:sp>
        <p:nvSpPr>
          <p:cNvPr id="22" name="Text 20"/>
          <p:cNvSpPr/>
          <p:nvPr/>
        </p:nvSpPr>
        <p:spPr>
          <a:xfrm>
            <a:off x="347472" y="4261104"/>
            <a:ext cx="8229600" cy="347472"/>
          </a:xfrm>
          <a:prstGeom prst="rect">
            <a:avLst/>
          </a:prstGeom>
          <a:noFill/>
          <a:ln/>
        </p:spPr>
        <p:txBody>
          <a:bodyPr wrap="square" rtlCol="0" anchor="ctr"/>
          <a:lstStyle/>
          <a:p>
            <a:pPr marL="0" indent="0">
              <a:buNone/>
            </a:pPr>
            <a:r>
              <a:rPr lang="en-US" sz="750" b="1" dirty="0">
                <a:solidFill>
                  <a:srgbClr val="0D7377"/>
                </a:solidFill>
                <a:latin typeface="Arial" pitchFamily="34" charset="0"/>
                <a:ea typeface="Arial" pitchFamily="34" charset="-122"/>
                <a:cs typeface="Arial" pitchFamily="34" charset="-120"/>
              </a:rPr>
              <a:t>Used for: </a:t>
            </a:r>
            <a:r>
              <a:rPr lang="en-US" sz="750" dirty="0">
                <a:solidFill>
                  <a:srgbClr val="333333"/>
                </a:solidFill>
                <a:latin typeface="Arial" pitchFamily="34" charset="0"/>
                <a:ea typeface="Arial" pitchFamily="34" charset="-122"/>
                <a:cs typeface="Arial" pitchFamily="34" charset="-120"/>
              </a:rPr>
              <a:t>Generated the policy architecture for Slides 9–11 including Mundell-Fleming application and Basel III banking reference.</a:t>
            </a:r>
            <a:r>
              <a:rPr lang="en-US" sz="750" b="1" dirty="0">
                <a:solidFill>
                  <a:srgbClr val="1A7A4A"/>
                </a:solidFill>
                <a:latin typeface="Arial" pitchFamily="34" charset="0"/>
                <a:ea typeface="Arial" pitchFamily="34" charset="-122"/>
                <a:cs typeface="Arial" pitchFamily="34" charset="-120"/>
              </a:rPr>
              <a:t>  |  Verified via: </a:t>
            </a:r>
            <a:r>
              <a:rPr lang="en-US" sz="750" dirty="0">
                <a:solidFill>
                  <a:srgbClr val="333333"/>
                </a:solidFill>
                <a:latin typeface="Arial" pitchFamily="34" charset="0"/>
                <a:ea typeface="Arial" pitchFamily="34" charset="-122"/>
                <a:cs typeface="Arial" pitchFamily="34" charset="-120"/>
              </a:rPr>
              <a:t>Reviewed against IMF policy recommendations (Article IV 2025: imf.org), OECD structural reform suggestions (OECD 2025: oecd.org), and World Bank programme guidelines (worldbank.org).</a:t>
            </a:r>
            <a:endParaRPr lang="en-US" sz="750" dirty="0"/>
          </a:p>
        </p:txBody>
      </p:sp>
      <p:sp>
        <p:nvSpPr>
          <p:cNvPr id="23" name="Shape 21"/>
          <p:cNvSpPr/>
          <p:nvPr/>
        </p:nvSpPr>
        <p:spPr>
          <a:xfrm>
            <a:off x="0" y="4828032"/>
            <a:ext cx="9144000" cy="315468"/>
          </a:xfrm>
          <a:prstGeom prst="rect">
            <a:avLst/>
          </a:prstGeom>
          <a:solidFill>
            <a:srgbClr val="1B2A4A"/>
          </a:solidFill>
          <a:ln w="12700">
            <a:solidFill>
              <a:srgbClr val="1B2A4A"/>
            </a:solidFill>
            <a:prstDash val="solid"/>
          </a:ln>
        </p:spPr>
      </p:sp>
      <p:sp>
        <p:nvSpPr>
          <p:cNvPr id="24" name="Text 22"/>
          <p:cNvSpPr/>
          <p:nvPr/>
        </p:nvSpPr>
        <p:spPr>
          <a:xfrm>
            <a:off x="164592" y="4832604"/>
            <a:ext cx="8814816" cy="301752"/>
          </a:xfrm>
          <a:prstGeom prst="rect">
            <a:avLst/>
          </a:prstGeom>
          <a:noFill/>
          <a:ln/>
        </p:spPr>
        <p:txBody>
          <a:bodyPr wrap="square" rtlCol="0" anchor="ctr"/>
          <a:lstStyle/>
          <a:p>
            <a:pPr marL="0" indent="0">
              <a:buNone/>
            </a:pPr>
            <a:r>
              <a:rPr lang="en-US" sz="680" dirty="0">
                <a:solidFill>
                  <a:srgbClr val="CADCFC"/>
                </a:solidFill>
                <a:latin typeface="Arial" pitchFamily="34" charset="0"/>
                <a:ea typeface="Arial" pitchFamily="34" charset="-122"/>
                <a:cs typeface="Arial" pitchFamily="34" charset="-120"/>
              </a:rPr>
              <a:t>Sources: All data independently verified against: IMF (imf.org/en/countries/VNM)  |  OECD (oecd.org/economy/vietnam-economic-survey)  |  World Bank (worldbank.org/en/country/vietnam/overview)  |  GSO Vietnam (gso.gov.vn/en/homepage.html)  |  AMRO Asia (amro-asia.org)</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3165</Words>
  <Application>Microsoft Office PowerPoint</Application>
  <PresentationFormat>On-screen Show (16:9)</PresentationFormat>
  <Paragraphs>253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 – Macroeconomics Project</dc:title>
  <dc:subject>PptxGenJS Presentation</dc:subject>
  <dc:creator>PptxGenJS</dc:creator>
  <cp:lastModifiedBy>Naman Jain</cp:lastModifiedBy>
  <cp:revision>3</cp:revision>
  <dcterms:created xsi:type="dcterms:W3CDTF">2026-06-20T19:45:27Z</dcterms:created>
  <dcterms:modified xsi:type="dcterms:W3CDTF">2026-06-21T14:28:00Z</dcterms:modified>
</cp:coreProperties>
</file>