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1" r:id="rId4"/>
    <p:sldId id="259" r:id="rId5"/>
    <p:sldId id="260" r:id="rId6"/>
    <p:sldId id="272" r:id="rId7"/>
    <p:sldId id="273" r:id="rId8"/>
    <p:sldId id="263" r:id="rId9"/>
    <p:sldId id="264" r:id="rId10"/>
    <p:sldId id="265" r:id="rId11"/>
    <p:sldId id="274"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4610"/>
  </p:normalViewPr>
  <p:slideViewPr>
    <p:cSldViewPr snapToGrid="0" snapToObjects="1">
      <p:cViewPr>
        <p:scale>
          <a:sx n="107" d="100"/>
          <a:sy n="107" d="100"/>
        </p:scale>
        <p:origin x="1344"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New guests</c:v>
                </c:pt>
              </c:strCache>
            </c:strRef>
          </c:tx>
          <c:spPr>
            <a:solidFill>
              <a:srgbClr val="AD8892"/>
            </a:solidFill>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71100</c:v>
                </c:pt>
                <c:pt idx="1">
                  <c:v>70380</c:v>
                </c:pt>
                <c:pt idx="2">
                  <c:v>71640</c:v>
                </c:pt>
                <c:pt idx="3">
                  <c:v>70920</c:v>
                </c:pt>
                <c:pt idx="4">
                  <c:v>72090</c:v>
                </c:pt>
                <c:pt idx="5">
                  <c:v>71370</c:v>
                </c:pt>
                <c:pt idx="6">
                  <c:v>70650</c:v>
                </c:pt>
                <c:pt idx="7">
                  <c:v>71910</c:v>
                </c:pt>
                <c:pt idx="8">
                  <c:v>71100</c:v>
                </c:pt>
                <c:pt idx="9">
                  <c:v>70740</c:v>
                </c:pt>
                <c:pt idx="10">
                  <c:v>71460</c:v>
                </c:pt>
                <c:pt idx="11">
                  <c:v>71100</c:v>
                </c:pt>
              </c:numCache>
            </c:numRef>
          </c:val>
          <c:extLst>
            <c:ext xmlns:c16="http://schemas.microsoft.com/office/drawing/2014/chart" uri="{C3380CC4-5D6E-409C-BE32-E72D297353CC}">
              <c16:uniqueId val="{00000000-5E12-7548-9D53-B278BAE0F2A4}"/>
            </c:ext>
          </c:extLst>
        </c:ser>
        <c:ser>
          <c:idx val="1"/>
          <c:order val="1"/>
          <c:tx>
            <c:strRef>
              <c:f>Sheet1!$C$1</c:f>
              <c:strCache>
                <c:ptCount val="1"/>
                <c:pt idx="0">
                  <c:v>Returning guests</c:v>
                </c:pt>
              </c:strCache>
            </c:strRef>
          </c:tx>
          <c:spPr>
            <a:solidFill>
              <a:srgbClr val="6D2E46"/>
            </a:solidFill>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56700</c:v>
                </c:pt>
                <c:pt idx="1">
                  <c:v>54450</c:v>
                </c:pt>
                <c:pt idx="2">
                  <c:v>52380</c:v>
                </c:pt>
                <c:pt idx="3">
                  <c:v>49320</c:v>
                </c:pt>
                <c:pt idx="4">
                  <c:v>46890</c:v>
                </c:pt>
                <c:pt idx="5">
                  <c:v>43470</c:v>
                </c:pt>
                <c:pt idx="6">
                  <c:v>40680</c:v>
                </c:pt>
                <c:pt idx="7">
                  <c:v>37890</c:v>
                </c:pt>
                <c:pt idx="8">
                  <c:v>35190</c:v>
                </c:pt>
                <c:pt idx="9">
                  <c:v>32400</c:v>
                </c:pt>
                <c:pt idx="10">
                  <c:v>29790</c:v>
                </c:pt>
                <c:pt idx="11">
                  <c:v>27450</c:v>
                </c:pt>
              </c:numCache>
            </c:numRef>
          </c:val>
          <c:extLst>
            <c:ext xmlns:c16="http://schemas.microsoft.com/office/drawing/2014/chart" uri="{C3380CC4-5D6E-409C-BE32-E72D297353CC}">
              <c16:uniqueId val="{00000001-5E12-7548-9D53-B278BAE0F2A4}"/>
            </c:ext>
          </c:extLst>
        </c:ser>
        <c:dLbls>
          <c:showLegendKey val="0"/>
          <c:showVal val="0"/>
          <c:showCatName val="0"/>
          <c:showSerName val="0"/>
          <c:showPercent val="0"/>
          <c:showBubbleSize val="0"/>
        </c:dLbls>
        <c:gapWidth val="3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F5155"/>
                </a:solidFill>
                <a:latin typeface="Calibri"/>
              </a:defRPr>
            </a:pPr>
            <a:endParaRPr lang="en-US"/>
          </a:p>
        </c:txPr>
        <c:crossAx val="2094734552"/>
        <c:crosses val="autoZero"/>
        <c:auto val="1"/>
        <c:lblAlgn val="ctr"/>
        <c:lblOffset val="100"/>
        <c:noMultiLvlLbl val="1"/>
      </c:catAx>
      <c:valAx>
        <c:axId val="2094734552"/>
        <c:scaling>
          <c:orientation val="minMax"/>
          <c:max val="145000"/>
          <c:min val="0"/>
        </c:scaling>
        <c:delete val="0"/>
        <c:axPos val="l"/>
        <c:majorGridlines>
          <c:spPr>
            <a:ln w="12700" cap="flat">
              <a:solidFill>
                <a:srgbClr val="E3D8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F5155"/>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F5155"/>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20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no preamble. 'Our client has never been better reviewed. And it has never been emptier.' Hold two seconds. Then: over the next ten minutes we will show you why the best-rated year in this chain's history was also the year it quietly lost a third of its regulars — and why its own dashboard could not see it happening.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audience in a person, not a dataset. Ananya is the stakeholder every recommendation later in this deck is addressed to. Note the four tiles on the right: three of them look like a healthy business. Only the last one doesn't. That tension is the whole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0AA77-CE80-4DF7-610B-C0FBA3EB7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D1125-B03E-BC03-05EE-011CF2A49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FF530-C16B-B8A6-5485-D8DC415D18CB}"/>
              </a:ext>
            </a:extLst>
          </p:cNvPr>
          <p:cNvSpPr>
            <a:spLocks noGrp="1"/>
          </p:cNvSpPr>
          <p:nvPr>
            <p:ph type="body" idx="1"/>
          </p:nvPr>
        </p:nvSpPr>
        <p:spPr/>
        <p:txBody>
          <a:bodyPr/>
          <a:lstStyle/>
          <a:p>
            <a:r>
              <a:rPr lang="en-US" dirty="0"/>
              <a:t>Chart choice: bars for a volume measure, line for a rate measure, dual axis because the units are not comparable. The amber line is the only warm accent on the chart — the eye goes to the divergence, which is the point. If satisfaction genuinely drove return visits, these two series could not diverge for twelve consecutive months.</a:t>
            </a:r>
          </a:p>
        </p:txBody>
      </p:sp>
      <p:sp>
        <p:nvSpPr>
          <p:cNvPr id="4" name="Slide Number Placeholder 3">
            <a:extLst>
              <a:ext uri="{FF2B5EF4-FFF2-40B4-BE49-F238E27FC236}">
                <a16:creationId xmlns:a16="http://schemas.microsoft.com/office/drawing/2014/main" id="{20B70D64-BA34-9135-B4B5-03E9E8CB13D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273909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questions are the spine of the talk. Q1 and Q2 are elimination. Q3 is where the story turns. Q4 is the reveal. Say explicitly: we expected the answer to live in question two — it did not.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detective framing — it buys the audience's patience through two slides of elimination. Do not rush this slide; naming the obvious suspects out loud is what makes the audience trust the reveal later, because they will have thought of these themselves.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9F96A-01B6-5AB9-5427-1E60127A5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F41AB-A3E0-1A3F-5994-127E61B68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6D0093-CC10-C708-6C11-170C410BF123}"/>
              </a:ext>
            </a:extLst>
          </p:cNvPr>
          <p:cNvSpPr>
            <a:spLocks noGrp="1"/>
          </p:cNvSpPr>
          <p:nvPr>
            <p:ph type="body" idx="1"/>
          </p:nvPr>
        </p:nvSpPr>
        <p:spPr/>
        <p:txBody>
          <a:bodyPr/>
          <a:lstStyle/>
          <a:p>
            <a:r>
              <a:rPr lang="en-US" dirty="0"/>
              <a:t>Chart choice: bars for a volume measure, line for a rate measure, dual axis because the units are not comparable. The amber line is the only warm accent on the chart — the eye goes to the divergence, which is the point. If satisfaction genuinely drove return visits, these two series could not diverge for twelve consecutive months.</a:t>
            </a:r>
          </a:p>
        </p:txBody>
      </p:sp>
      <p:sp>
        <p:nvSpPr>
          <p:cNvPr id="4" name="Slide Number Placeholder 3">
            <a:extLst>
              <a:ext uri="{FF2B5EF4-FFF2-40B4-BE49-F238E27FC236}">
                <a16:creationId xmlns:a16="http://schemas.microsoft.com/office/drawing/2014/main" id="{685D6AEA-0D30-569A-258A-935FF90B98F3}"/>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044335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43905-5D6A-F3E6-174F-812153B8B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147D3-3726-33AC-0427-2E12902BFD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95131-BEDA-DE22-8096-88488D7122E2}"/>
              </a:ext>
            </a:extLst>
          </p:cNvPr>
          <p:cNvSpPr>
            <a:spLocks noGrp="1"/>
          </p:cNvSpPr>
          <p:nvPr>
            <p:ph type="body" idx="1"/>
          </p:nvPr>
        </p:nvSpPr>
        <p:spPr/>
        <p:txBody>
          <a:bodyPr/>
          <a:lstStyle/>
          <a:p>
            <a:r>
              <a:rPr lang="en-US" dirty="0"/>
              <a:t>Chart choice: bars for a volume measure, line for a rate measure, dual axis because the units are not comparable. The amber line is the only warm accent on the chart — the eye goes to the divergence, which is the point. If satisfaction genuinely drove return visits, these two series could not diverge for twelve consecutive months.</a:t>
            </a:r>
          </a:p>
        </p:txBody>
      </p:sp>
      <p:sp>
        <p:nvSpPr>
          <p:cNvPr id="4" name="Slide Number Placeholder 3">
            <a:extLst>
              <a:ext uri="{FF2B5EF4-FFF2-40B4-BE49-F238E27FC236}">
                <a16:creationId xmlns:a16="http://schemas.microsoft.com/office/drawing/2014/main" id="{C3758790-3FD4-50A0-6A8D-669C1BF718A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77934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This is the only slide with no data on it, and that is intentional — the audience needs one beat to reset before the reveal. Deliver the two sentences as a contrast pair, with a full pause between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charts, one argument: first-timers write nearly all the reviews AND they give the highest scores. The deep berry bar marks the dominant segment on both charts so the eye connects them without a legend. Loyal guests rate us 3.61. We have almost no record of it because they have stopped writing, and then they stop coming.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smoking gun. Stacked columns, deliberately: the total height is the number the board already knows, and splitting it shows the entire loss sits in one segment. The pale segment barely moves. In the live dashboard this chart filters by city and daypart — the pattern holds in all four cities.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5339-0B79-08EE-6BB9-13DF48FBBD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76EEB-732E-B0B3-CA23-8BFA09757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290773-00A1-58F1-F72E-4724B3337C0F}"/>
              </a:ext>
            </a:extLst>
          </p:cNvPr>
          <p:cNvSpPr>
            <a:spLocks noGrp="1"/>
          </p:cNvSpPr>
          <p:nvPr>
            <p:ph type="body" idx="1"/>
          </p:nvPr>
        </p:nvSpPr>
        <p:spPr/>
        <p:txBody>
          <a:bodyPr/>
          <a:lstStyle/>
          <a:p>
            <a:r>
              <a:rPr lang="en-US" dirty="0"/>
              <a:t>This is the smoking gun. Stacked columns, deliberately: the total height is the number the board already knows, and splitting it shows the entire loss sits in one segment. The pale segment barely moves. In the live dashboard this chart filters by city and daypart — the pattern holds in all four cities.</a:t>
            </a:r>
          </a:p>
        </p:txBody>
      </p:sp>
      <p:sp>
        <p:nvSpPr>
          <p:cNvPr id="4" name="Slide Number Placeholder 3">
            <a:extLst>
              <a:ext uri="{FF2B5EF4-FFF2-40B4-BE49-F238E27FC236}">
                <a16:creationId xmlns:a16="http://schemas.microsoft.com/office/drawing/2014/main" id="{5648A1CB-A357-D1C7-1CDF-8A2EDAA657E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31129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Wald analogy is the non-data storytelling layer the brief asks for. Keep it to twenty seconds — the audience gets it fast, and the panel on the right does the quantitative work. If asked in Q&amp;A: yes, this is survivorship bias, and it is structural, not a sampling error we can fix by collecting more reviews.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converts the analysis into money, which is what the stakeholder will act on. The final line is the bridge to the recommendation: the budget is about to be spent on the wrong door.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recommendation carries an owner, a measure, a timeline and a rupee figure — that is what turns an insight into a decision. Note the sequencing logic: recommendation 1 makes the problem visible, 2 recovers revenue this quarter, 3 fixes the underlying cause.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not on a summary. The two panels give the board a single before-and-after decision. Final line is the callback to the title — deliver it and stop talking. Then hand to Q&amp;A.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8732520" y="-1371600"/>
            <a:ext cx="5669280" cy="5669280"/>
          </a:xfrm>
          <a:prstGeom prst="ellipse">
            <a:avLst/>
          </a:prstGeom>
          <a:solidFill>
            <a:srgbClr val="4A1B2C"/>
          </a:solidFill>
          <a:ln w="12700">
            <a:solidFill>
              <a:srgbClr val="333333"/>
            </a:solidFill>
            <a:prstDash val="solid"/>
          </a:ln>
        </p:spPr>
      </p:sp>
      <p:sp>
        <p:nvSpPr>
          <p:cNvPr id="3" name="Shape 1"/>
          <p:cNvSpPr/>
          <p:nvPr/>
        </p:nvSpPr>
        <p:spPr>
          <a:xfrm>
            <a:off x="10058400" y="4206240"/>
            <a:ext cx="3291840" cy="3291840"/>
          </a:xfrm>
          <a:prstGeom prst="ellipse">
            <a:avLst/>
          </a:prstGeom>
          <a:solidFill>
            <a:srgbClr val="4A1B2C"/>
          </a:solidFill>
          <a:ln w="12700">
            <a:solidFill>
              <a:srgbClr val="333333"/>
            </a:solidFill>
            <a:prstDash val="solid"/>
          </a:ln>
        </p:spPr>
      </p:sp>
      <p:sp>
        <p:nvSpPr>
          <p:cNvPr id="4" name="Text 2"/>
          <p:cNvSpPr/>
          <p:nvPr/>
        </p:nvSpPr>
        <p:spPr>
          <a:xfrm>
            <a:off x="777240" y="960120"/>
            <a:ext cx="5486400" cy="411480"/>
          </a:xfrm>
          <a:prstGeom prst="rect">
            <a:avLst/>
          </a:prstGeom>
          <a:noFill/>
          <a:ln/>
        </p:spPr>
        <p:txBody>
          <a:bodyPr wrap="square" lIns="0" tIns="0" rIns="0" bIns="0" rtlCol="0" anchor="ctr"/>
          <a:lstStyle/>
          <a:p>
            <a:pPr marL="0" indent="0">
              <a:buNone/>
            </a:pPr>
            <a:r>
              <a:rPr lang="en-US" sz="2200" dirty="0">
                <a:solidFill>
                  <a:srgbClr val="F2CF6D"/>
                </a:solidFill>
                <a:latin typeface="Calibri" pitchFamily="34" charset="0"/>
                <a:ea typeface="Calibri" pitchFamily="34" charset="-122"/>
                <a:cs typeface="Calibri" pitchFamily="34" charset="-120"/>
              </a:rPr>
              <a:t>★ ★ ★ ★ ★</a:t>
            </a:r>
            <a:endParaRPr lang="en-US" sz="2200" dirty="0"/>
          </a:p>
        </p:txBody>
      </p:sp>
      <p:sp>
        <p:nvSpPr>
          <p:cNvPr id="5" name="Text 3"/>
          <p:cNvSpPr/>
          <p:nvPr/>
        </p:nvSpPr>
        <p:spPr>
          <a:xfrm>
            <a:off x="777240" y="1463040"/>
            <a:ext cx="7680960" cy="2651760"/>
          </a:xfrm>
          <a:prstGeom prst="rect">
            <a:avLst/>
          </a:prstGeom>
          <a:noFill/>
          <a:ln/>
        </p:spPr>
        <p:txBody>
          <a:bodyPr wrap="square" lIns="0" tIns="0" rIns="0" bIns="0" rtlCol="0" anchor="ctr"/>
          <a:lstStyle/>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The Restaurant with</a:t>
            </a:r>
            <a:endParaRPr lang="en-US" sz="4600" dirty="0"/>
          </a:p>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5-Star Reviews</a:t>
            </a:r>
            <a:endParaRPr lang="en-US" sz="4600" dirty="0"/>
          </a:p>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and Empty Tables</a:t>
            </a:r>
            <a:endParaRPr lang="en-US" sz="4600" dirty="0"/>
          </a:p>
        </p:txBody>
      </p:sp>
      <p:sp>
        <p:nvSpPr>
          <p:cNvPr id="6" name="Text 4"/>
          <p:cNvSpPr/>
          <p:nvPr/>
        </p:nvSpPr>
        <p:spPr>
          <a:xfrm>
            <a:off x="777240" y="4160520"/>
            <a:ext cx="7498080" cy="365760"/>
          </a:xfrm>
          <a:prstGeom prst="rect">
            <a:avLst/>
          </a:prstGeom>
          <a:noFill/>
          <a:ln/>
        </p:spPr>
        <p:txBody>
          <a:bodyPr wrap="square" lIns="0" tIns="0" rIns="0" bIns="0" rtlCol="0" anchor="ctr"/>
          <a:lstStyle/>
          <a:p>
            <a:pPr marL="0" indent="0">
              <a:buNone/>
            </a:pPr>
            <a:r>
              <a:rPr lang="en-US" sz="1700" i="1" dirty="0">
                <a:solidFill>
                  <a:srgbClr val="F2E7DE"/>
                </a:solidFill>
                <a:latin typeface="Calibri" pitchFamily="34" charset="0"/>
                <a:ea typeface="Calibri" pitchFamily="34" charset="-122"/>
                <a:cs typeface="Calibri" pitchFamily="34" charset="-120"/>
              </a:rPr>
              <a:t>A hospitality paradox — and what the ratings never told us</a:t>
            </a:r>
            <a:endParaRPr lang="en-US" sz="1700" dirty="0"/>
          </a:p>
        </p:txBody>
      </p:sp>
      <p:sp>
        <p:nvSpPr>
          <p:cNvPr id="7" name="Shape 5"/>
          <p:cNvSpPr/>
          <p:nvPr/>
        </p:nvSpPr>
        <p:spPr>
          <a:xfrm>
            <a:off x="777240" y="4892040"/>
            <a:ext cx="5120640" cy="566928"/>
          </a:xfrm>
          <a:prstGeom prst="roundRect">
            <a:avLst>
              <a:gd name="adj" fmla="val 48387"/>
            </a:avLst>
          </a:prstGeom>
          <a:solidFill>
            <a:srgbClr val="C9A227"/>
          </a:solidFill>
          <a:ln w="12700">
            <a:solidFill>
              <a:srgbClr val="333333"/>
            </a:solidFill>
            <a:prstDash val="solid"/>
          </a:ln>
        </p:spPr>
      </p:sp>
      <p:sp>
        <p:nvSpPr>
          <p:cNvPr id="8" name="Text 6"/>
          <p:cNvSpPr/>
          <p:nvPr/>
        </p:nvSpPr>
        <p:spPr>
          <a:xfrm>
            <a:off x="777240" y="4892040"/>
            <a:ext cx="5120640" cy="566928"/>
          </a:xfrm>
          <a:prstGeom prst="rect">
            <a:avLst/>
          </a:prstGeom>
          <a:noFill/>
          <a:ln/>
        </p:spPr>
        <p:txBody>
          <a:bodyPr wrap="square" lIns="0" tIns="0" rIns="0" bIns="0" rtlCol="0" anchor="ctr"/>
          <a:lstStyle/>
          <a:p>
            <a:pPr marL="0" indent="0" algn="ctr">
              <a:buNone/>
            </a:pPr>
            <a:r>
              <a:rPr lang="en-US" sz="1300" b="1" dirty="0">
                <a:solidFill>
                  <a:srgbClr val="4A1B2C"/>
                </a:solidFill>
                <a:latin typeface="Calibri" pitchFamily="34" charset="0"/>
                <a:ea typeface="Calibri" pitchFamily="34" charset="-122"/>
                <a:cs typeface="Calibri" pitchFamily="34" charset="-120"/>
              </a:rPr>
              <a:t>Saffron &amp; Sage  |  12 outlets  |  FY 2025</a:t>
            </a:r>
            <a:endParaRPr lang="en-US" sz="1300" dirty="0"/>
          </a:p>
        </p:txBody>
      </p:sp>
      <p:sp>
        <p:nvSpPr>
          <p:cNvPr id="9" name="Text 7"/>
          <p:cNvSpPr/>
          <p:nvPr/>
        </p:nvSpPr>
        <p:spPr>
          <a:xfrm>
            <a:off x="777240" y="5989320"/>
            <a:ext cx="7315200" cy="320040"/>
          </a:xfrm>
          <a:prstGeom prst="rect">
            <a:avLst/>
          </a:prstGeom>
          <a:noFill/>
          <a:ln/>
        </p:spPr>
        <p:txBody>
          <a:bodyPr wrap="square" lIns="0" tIns="0" rIns="0" bIns="0" rtlCol="0" anchor="ctr"/>
          <a:lstStyle/>
          <a:p>
            <a:pPr marL="0" indent="0">
              <a:buNone/>
            </a:pPr>
            <a:r>
              <a:rPr lang="en-US" sz="1100" dirty="0">
                <a:solidFill>
                  <a:srgbClr val="F2E7DE"/>
                </a:solidFill>
                <a:latin typeface="Calibri" pitchFamily="34" charset="0"/>
                <a:ea typeface="Calibri" pitchFamily="34" charset="-122"/>
                <a:cs typeface="Calibri" pitchFamily="34" charset="-120"/>
              </a:rPr>
              <a:t>Storytelling with Data  ·  Final Group Presentation  ·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ea typeface="Calibri" pitchFamily="34" charset="-122"/>
                <a:cs typeface="Calibri" pitchFamily="34" charset="-120"/>
              </a:rPr>
              <a:t>THE STAKEHOLDER</a:t>
            </a:r>
            <a:endParaRPr lang="en-US" sz="1150" dirty="0"/>
          </a:p>
        </p:txBody>
      </p:sp>
      <p:sp>
        <p:nvSpPr>
          <p:cNvPr id="3" name="Text 1"/>
          <p:cNvSpPr/>
          <p:nvPr/>
        </p:nvSpPr>
        <p:spPr>
          <a:xfrm>
            <a:off x="640080" y="411480"/>
            <a:ext cx="10881360" cy="68580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Meet Ananya Rao, COO of Saffron &amp; Sage</a:t>
            </a:r>
            <a:endParaRPr lang="en-US" sz="3400" dirty="0"/>
          </a:p>
        </p:txBody>
      </p:sp>
      <p:sp>
        <p:nvSpPr>
          <p:cNvPr id="4" name="Text 2"/>
          <p:cNvSpPr/>
          <p:nvPr/>
        </p:nvSpPr>
        <p:spPr>
          <a:xfrm>
            <a:off x="640080" y="1280160"/>
            <a:ext cx="6492240" cy="1371600"/>
          </a:xfrm>
          <a:prstGeom prst="rect">
            <a:avLst/>
          </a:prstGeom>
          <a:noFill/>
          <a:ln/>
        </p:spPr>
        <p:txBody>
          <a:bodyPr wrap="square" lIns="0" tIns="0" rIns="0" bIns="0" rtlCol="0" anchor="ctr"/>
          <a:lstStyle/>
          <a:p>
            <a:pPr marL="0" indent="0">
              <a:lnSpc>
                <a:spcPts val="2300"/>
              </a:lnSpc>
              <a:buNone/>
            </a:pPr>
            <a:r>
              <a:rPr lang="en-US" sz="1500" dirty="0">
                <a:solidFill>
                  <a:srgbClr val="241A1D"/>
                </a:solidFill>
                <a:latin typeface="Calibri" pitchFamily="34" charset="0"/>
                <a:ea typeface="Calibri" pitchFamily="34" charset="-122"/>
                <a:cs typeface="Calibri" pitchFamily="34" charset="-120"/>
              </a:rPr>
              <a:t>A 12-outlet casual-dining chain across Chennai, Bengaluru, Hyderabad and Kochi. In her January board review she will be asked one question she cannot currently answer: why is the best-rated year in company history also its worst year for footfall?</a:t>
            </a:r>
            <a:endParaRPr lang="en-US" sz="1500" dirty="0"/>
          </a:p>
        </p:txBody>
      </p:sp>
      <p:sp>
        <p:nvSpPr>
          <p:cNvPr id="5" name="Shape 3"/>
          <p:cNvSpPr/>
          <p:nvPr/>
        </p:nvSpPr>
        <p:spPr>
          <a:xfrm>
            <a:off x="640080" y="2880360"/>
            <a:ext cx="6492240" cy="1143000"/>
          </a:xfrm>
          <a:prstGeom prst="roundRect">
            <a:avLst>
              <a:gd name="adj" fmla="val 7200"/>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6" name="Text 4"/>
          <p:cNvSpPr/>
          <p:nvPr/>
        </p:nvSpPr>
        <p:spPr>
          <a:xfrm>
            <a:off x="914400" y="3063240"/>
            <a:ext cx="2743200" cy="228600"/>
          </a:xfrm>
          <a:prstGeom prst="rect">
            <a:avLst/>
          </a:prstGeom>
          <a:noFill/>
          <a:ln/>
        </p:spPr>
        <p:txBody>
          <a:bodyPr wrap="square" lIns="0" tIns="0" rIns="0" bIns="0" rtlCol="0" anchor="ctr"/>
          <a:lstStyle/>
          <a:p>
            <a:pPr marL="0" indent="0">
              <a:buNone/>
            </a:pPr>
            <a:r>
              <a:rPr lang="en-US" sz="1050" b="1" kern="0" spc="160" dirty="0">
                <a:solidFill>
                  <a:srgbClr val="9A4257"/>
                </a:solidFill>
                <a:latin typeface="Calibri" pitchFamily="34" charset="0"/>
                <a:ea typeface="Calibri" pitchFamily="34" charset="-122"/>
                <a:cs typeface="Calibri" pitchFamily="34" charset="-120"/>
              </a:rPr>
              <a:t>BUSINESS PROBLEM</a:t>
            </a:r>
            <a:endParaRPr lang="en-US" sz="1050" dirty="0"/>
          </a:p>
        </p:txBody>
      </p:sp>
      <p:sp>
        <p:nvSpPr>
          <p:cNvPr id="7" name="Text 5"/>
          <p:cNvSpPr/>
          <p:nvPr/>
        </p:nvSpPr>
        <p:spPr>
          <a:xfrm>
            <a:off x="914400" y="3310128"/>
            <a:ext cx="5943600" cy="640080"/>
          </a:xfrm>
          <a:prstGeom prst="rect">
            <a:avLst/>
          </a:prstGeom>
          <a:noFill/>
          <a:ln/>
        </p:spPr>
        <p:txBody>
          <a:bodyPr wrap="square" lIns="0" tIns="0" rIns="0" bIns="0" rtlCol="0" anchor="ctr"/>
          <a:lstStyle/>
          <a:p>
            <a:pPr marL="0" indent="0">
              <a:lnSpc>
                <a:spcPts val="1900"/>
              </a:lnSpc>
              <a:buNone/>
            </a:pPr>
            <a:r>
              <a:rPr lang="en-US" sz="1350" dirty="0">
                <a:solidFill>
                  <a:srgbClr val="241A1D"/>
                </a:solidFill>
                <a:latin typeface="Calibri" pitchFamily="34" charset="0"/>
                <a:ea typeface="Calibri" pitchFamily="34" charset="-122"/>
                <a:cs typeface="Calibri" pitchFamily="34" charset="-120"/>
              </a:rPr>
              <a:t>Footfall is falling 23% a year while satisfaction metrics improve. Ananya does not know which lever to pull — and every month of delay costs revenue she cannot win back.</a:t>
            </a:r>
            <a:endParaRPr lang="en-US" sz="1350" dirty="0"/>
          </a:p>
        </p:txBody>
      </p:sp>
      <p:sp>
        <p:nvSpPr>
          <p:cNvPr id="8" name="Text 6"/>
          <p:cNvSpPr/>
          <p:nvPr/>
        </p:nvSpPr>
        <p:spPr>
          <a:xfrm>
            <a:off x="640080" y="4279392"/>
            <a:ext cx="6492240" cy="365760"/>
          </a:xfrm>
          <a:prstGeom prst="rect">
            <a:avLst/>
          </a:prstGeom>
          <a:noFill/>
          <a:ln/>
        </p:spPr>
        <p:txBody>
          <a:bodyPr wrap="square" lIns="0" tIns="0" rIns="0" bIns="0" rtlCol="0" anchor="ctr"/>
          <a:lstStyle/>
          <a:p>
            <a:pPr marL="0" indent="0">
              <a:buNone/>
            </a:pPr>
            <a:r>
              <a:rPr lang="en-US" sz="1400" b="1" i="1" dirty="0">
                <a:solidFill>
                  <a:srgbClr val="6D2E46"/>
                </a:solidFill>
                <a:latin typeface="Calibri" pitchFamily="34" charset="0"/>
                <a:ea typeface="Calibri" pitchFamily="34" charset="-122"/>
                <a:cs typeface="Calibri" pitchFamily="34" charset="-120"/>
              </a:rPr>
              <a:t>Her decision by 31 January: where to commit a ₹1.2 crore turnaround budget.</a:t>
            </a:r>
            <a:endParaRPr lang="en-US" sz="1400" dirty="0"/>
          </a:p>
        </p:txBody>
      </p:sp>
      <p:sp>
        <p:nvSpPr>
          <p:cNvPr id="9" name="Shape 7"/>
          <p:cNvSpPr/>
          <p:nvPr/>
        </p:nvSpPr>
        <p:spPr>
          <a:xfrm>
            <a:off x="7635240" y="1234440"/>
            <a:ext cx="3886200" cy="1005840"/>
          </a:xfrm>
          <a:prstGeom prst="roundRect">
            <a:avLst>
              <a:gd name="adj" fmla="val 8182"/>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10" name="Shape 8"/>
          <p:cNvSpPr/>
          <p:nvPr/>
        </p:nvSpPr>
        <p:spPr>
          <a:xfrm>
            <a:off x="7891272" y="1490472"/>
            <a:ext cx="502920" cy="502920"/>
          </a:xfrm>
          <a:prstGeom prst="ellipse">
            <a:avLst/>
          </a:prstGeom>
          <a:solidFill>
            <a:srgbClr val="6D2E46"/>
          </a:solidFill>
          <a:ln w="12700">
            <a:solidFill>
              <a:srgbClr val="6D2E46"/>
            </a:solidFill>
            <a:prstDash val="solid"/>
          </a:ln>
        </p:spPr>
      </p:sp>
      <p:sp>
        <p:nvSpPr>
          <p:cNvPr id="11" name="Text 9"/>
          <p:cNvSpPr/>
          <p:nvPr/>
        </p:nvSpPr>
        <p:spPr>
          <a:xfrm>
            <a:off x="7891272" y="1490472"/>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2" name="Text 10"/>
          <p:cNvSpPr/>
          <p:nvPr/>
        </p:nvSpPr>
        <p:spPr>
          <a:xfrm>
            <a:off x="8549640" y="1380744"/>
            <a:ext cx="2834640" cy="438912"/>
          </a:xfrm>
          <a:prstGeom prst="rect">
            <a:avLst/>
          </a:prstGeom>
          <a:noFill/>
          <a:ln/>
        </p:spPr>
        <p:txBody>
          <a:bodyPr wrap="square" lIns="0" tIns="0" rIns="0" bIns="0" rtlCol="0" anchor="ctr"/>
          <a:lstStyle/>
          <a:p>
            <a:pPr marL="0" indent="0">
              <a:buNone/>
            </a:pPr>
            <a:r>
              <a:rPr lang="en-US" sz="2400" b="1" dirty="0">
                <a:solidFill>
                  <a:srgbClr val="6D2E46"/>
                </a:solidFill>
                <a:latin typeface="Cambria" pitchFamily="34" charset="0"/>
                <a:ea typeface="Cambria" pitchFamily="34" charset="-122"/>
                <a:cs typeface="Cambria" pitchFamily="34" charset="-120"/>
              </a:rPr>
              <a:t>12</a:t>
            </a:r>
            <a:endParaRPr lang="en-US" sz="2400" dirty="0"/>
          </a:p>
        </p:txBody>
      </p:sp>
      <p:sp>
        <p:nvSpPr>
          <p:cNvPr id="13" name="Text 11"/>
          <p:cNvSpPr/>
          <p:nvPr/>
        </p:nvSpPr>
        <p:spPr>
          <a:xfrm>
            <a:off x="8549640" y="1810512"/>
            <a:ext cx="2834640" cy="274320"/>
          </a:xfrm>
          <a:prstGeom prst="rect">
            <a:avLst/>
          </a:prstGeom>
          <a:noFill/>
          <a:ln/>
        </p:spPr>
        <p:txBody>
          <a:bodyPr wrap="square" lIns="0" tIns="0" rIns="0" bIns="0" rtlCol="0" anchor="ctr"/>
          <a:lstStyle/>
          <a:p>
            <a:pPr marL="0" indent="0">
              <a:buNone/>
            </a:pPr>
            <a:r>
              <a:rPr lang="en-US" sz="1150" dirty="0">
                <a:solidFill>
                  <a:srgbClr val="5F5155"/>
                </a:solidFill>
                <a:latin typeface="Calibri" pitchFamily="34" charset="0"/>
                <a:ea typeface="Calibri" pitchFamily="34" charset="-122"/>
                <a:cs typeface="Calibri" pitchFamily="34" charset="-120"/>
              </a:rPr>
              <a:t>Outlets</a:t>
            </a:r>
            <a:endParaRPr lang="en-US" sz="1150" dirty="0"/>
          </a:p>
        </p:txBody>
      </p:sp>
      <p:sp>
        <p:nvSpPr>
          <p:cNvPr id="14" name="Shape 12"/>
          <p:cNvSpPr/>
          <p:nvPr/>
        </p:nvSpPr>
        <p:spPr>
          <a:xfrm>
            <a:off x="7635240" y="2441448"/>
            <a:ext cx="3886200" cy="1005840"/>
          </a:xfrm>
          <a:prstGeom prst="roundRect">
            <a:avLst>
              <a:gd name="adj" fmla="val 8182"/>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15" name="Shape 13"/>
          <p:cNvSpPr/>
          <p:nvPr/>
        </p:nvSpPr>
        <p:spPr>
          <a:xfrm>
            <a:off x="7891272" y="2697480"/>
            <a:ext cx="502920" cy="502920"/>
          </a:xfrm>
          <a:prstGeom prst="ellipse">
            <a:avLst/>
          </a:prstGeom>
          <a:solidFill>
            <a:srgbClr val="6D2E46"/>
          </a:solidFill>
          <a:ln w="12700">
            <a:solidFill>
              <a:srgbClr val="6D2E46"/>
            </a:solidFill>
            <a:prstDash val="solid"/>
          </a:ln>
        </p:spPr>
      </p:sp>
      <p:sp>
        <p:nvSpPr>
          <p:cNvPr id="16" name="Text 14"/>
          <p:cNvSpPr/>
          <p:nvPr/>
        </p:nvSpPr>
        <p:spPr>
          <a:xfrm>
            <a:off x="7891272" y="269748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7" name="Text 15"/>
          <p:cNvSpPr/>
          <p:nvPr/>
        </p:nvSpPr>
        <p:spPr>
          <a:xfrm>
            <a:off x="8549640" y="2587752"/>
            <a:ext cx="2834640" cy="438912"/>
          </a:xfrm>
          <a:prstGeom prst="rect">
            <a:avLst/>
          </a:prstGeom>
          <a:noFill/>
          <a:ln/>
        </p:spPr>
        <p:txBody>
          <a:bodyPr wrap="square" lIns="0" tIns="0" rIns="0" bIns="0" rtlCol="0" anchor="ctr"/>
          <a:lstStyle/>
          <a:p>
            <a:pPr marL="0" indent="0">
              <a:buNone/>
            </a:pPr>
            <a:r>
              <a:rPr lang="en-US" sz="2400" b="1" dirty="0">
                <a:solidFill>
                  <a:srgbClr val="6D2E46"/>
                </a:solidFill>
                <a:latin typeface="Cambria" pitchFamily="34" charset="0"/>
                <a:ea typeface="Cambria" pitchFamily="34" charset="-122"/>
                <a:cs typeface="Cambria" pitchFamily="34" charset="-120"/>
              </a:rPr>
              <a:t>₹94 Cr</a:t>
            </a:r>
            <a:endParaRPr lang="en-US" sz="2400" dirty="0"/>
          </a:p>
        </p:txBody>
      </p:sp>
      <p:sp>
        <p:nvSpPr>
          <p:cNvPr id="18" name="Text 16"/>
          <p:cNvSpPr/>
          <p:nvPr/>
        </p:nvSpPr>
        <p:spPr>
          <a:xfrm>
            <a:off x="8549640" y="3017520"/>
            <a:ext cx="2834640" cy="274320"/>
          </a:xfrm>
          <a:prstGeom prst="rect">
            <a:avLst/>
          </a:prstGeom>
          <a:noFill/>
          <a:ln/>
        </p:spPr>
        <p:txBody>
          <a:bodyPr wrap="square" lIns="0" tIns="0" rIns="0" bIns="0" rtlCol="0" anchor="ctr"/>
          <a:lstStyle/>
          <a:p>
            <a:pPr marL="0" indent="0">
              <a:buNone/>
            </a:pPr>
            <a:r>
              <a:rPr lang="en-US" sz="1150" dirty="0">
                <a:solidFill>
                  <a:srgbClr val="5F5155"/>
                </a:solidFill>
                <a:latin typeface="Calibri" pitchFamily="34" charset="0"/>
                <a:ea typeface="Calibri" pitchFamily="34" charset="-122"/>
                <a:cs typeface="Calibri" pitchFamily="34" charset="-120"/>
              </a:rPr>
              <a:t>FY25 revenue</a:t>
            </a:r>
            <a:endParaRPr lang="en-US" sz="1150" dirty="0"/>
          </a:p>
        </p:txBody>
      </p:sp>
      <p:sp>
        <p:nvSpPr>
          <p:cNvPr id="19" name="Shape 17"/>
          <p:cNvSpPr/>
          <p:nvPr/>
        </p:nvSpPr>
        <p:spPr>
          <a:xfrm>
            <a:off x="7635240" y="3648456"/>
            <a:ext cx="3886200" cy="1005840"/>
          </a:xfrm>
          <a:prstGeom prst="roundRect">
            <a:avLst>
              <a:gd name="adj" fmla="val 8182"/>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20" name="Shape 18"/>
          <p:cNvSpPr/>
          <p:nvPr/>
        </p:nvSpPr>
        <p:spPr>
          <a:xfrm>
            <a:off x="7891272" y="3904488"/>
            <a:ext cx="502920" cy="502920"/>
          </a:xfrm>
          <a:prstGeom prst="ellipse">
            <a:avLst/>
          </a:prstGeom>
          <a:solidFill>
            <a:srgbClr val="6D2E46"/>
          </a:solidFill>
          <a:ln w="12700">
            <a:solidFill>
              <a:srgbClr val="6D2E46"/>
            </a:solidFill>
            <a:prstDash val="solid"/>
          </a:ln>
        </p:spPr>
      </p:sp>
      <p:sp>
        <p:nvSpPr>
          <p:cNvPr id="21" name="Text 19"/>
          <p:cNvSpPr/>
          <p:nvPr/>
        </p:nvSpPr>
        <p:spPr>
          <a:xfrm>
            <a:off x="7891272" y="39044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2" name="Text 20"/>
          <p:cNvSpPr/>
          <p:nvPr/>
        </p:nvSpPr>
        <p:spPr>
          <a:xfrm>
            <a:off x="8549640" y="3794760"/>
            <a:ext cx="2834640" cy="438912"/>
          </a:xfrm>
          <a:prstGeom prst="rect">
            <a:avLst/>
          </a:prstGeom>
          <a:noFill/>
          <a:ln/>
        </p:spPr>
        <p:txBody>
          <a:bodyPr wrap="square" lIns="0" tIns="0" rIns="0" bIns="0" rtlCol="0" anchor="ctr"/>
          <a:lstStyle/>
          <a:p>
            <a:pPr marL="0" indent="0">
              <a:buNone/>
            </a:pPr>
            <a:r>
              <a:rPr lang="en-US" sz="2400" b="1" dirty="0">
                <a:solidFill>
                  <a:srgbClr val="6D2E46"/>
                </a:solidFill>
                <a:latin typeface="Cambria" pitchFamily="34" charset="0"/>
                <a:ea typeface="Cambria" pitchFamily="34" charset="-122"/>
                <a:cs typeface="Cambria" pitchFamily="34" charset="-120"/>
              </a:rPr>
              <a:t>4.68★</a:t>
            </a:r>
            <a:endParaRPr lang="en-US" sz="2400" dirty="0"/>
          </a:p>
        </p:txBody>
      </p:sp>
      <p:sp>
        <p:nvSpPr>
          <p:cNvPr id="23" name="Text 21"/>
          <p:cNvSpPr/>
          <p:nvPr/>
        </p:nvSpPr>
        <p:spPr>
          <a:xfrm>
            <a:off x="8549640" y="4224528"/>
            <a:ext cx="2834640" cy="274320"/>
          </a:xfrm>
          <a:prstGeom prst="rect">
            <a:avLst/>
          </a:prstGeom>
          <a:noFill/>
          <a:ln/>
        </p:spPr>
        <p:txBody>
          <a:bodyPr wrap="square" lIns="0" tIns="0" rIns="0" bIns="0" rtlCol="0" anchor="ctr"/>
          <a:lstStyle/>
          <a:p>
            <a:pPr marL="0" indent="0">
              <a:buNone/>
            </a:pPr>
            <a:r>
              <a:rPr lang="en-US" sz="1150" dirty="0">
                <a:solidFill>
                  <a:srgbClr val="5F5155"/>
                </a:solidFill>
                <a:latin typeface="Calibri" pitchFamily="34" charset="0"/>
                <a:ea typeface="Calibri" pitchFamily="34" charset="-122"/>
                <a:cs typeface="Calibri" pitchFamily="34" charset="-120"/>
              </a:rPr>
              <a:t>Google rating</a:t>
            </a:r>
            <a:endParaRPr lang="en-US" sz="1150" dirty="0"/>
          </a:p>
        </p:txBody>
      </p:sp>
      <p:sp>
        <p:nvSpPr>
          <p:cNvPr id="24" name="Shape 22"/>
          <p:cNvSpPr/>
          <p:nvPr/>
        </p:nvSpPr>
        <p:spPr>
          <a:xfrm>
            <a:off x="7635240" y="4855464"/>
            <a:ext cx="3886200" cy="1005840"/>
          </a:xfrm>
          <a:prstGeom prst="roundRect">
            <a:avLst>
              <a:gd name="adj" fmla="val 8182"/>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25" name="Shape 23"/>
          <p:cNvSpPr/>
          <p:nvPr/>
        </p:nvSpPr>
        <p:spPr>
          <a:xfrm>
            <a:off x="7891272" y="5111496"/>
            <a:ext cx="502920" cy="502920"/>
          </a:xfrm>
          <a:prstGeom prst="ellipse">
            <a:avLst/>
          </a:prstGeom>
          <a:solidFill>
            <a:srgbClr val="B3382C"/>
          </a:solidFill>
          <a:ln w="12700">
            <a:solidFill>
              <a:srgbClr val="B3382C"/>
            </a:solidFill>
            <a:prstDash val="solid"/>
          </a:ln>
        </p:spPr>
      </p:sp>
      <p:sp>
        <p:nvSpPr>
          <p:cNvPr id="26" name="Text 24"/>
          <p:cNvSpPr/>
          <p:nvPr/>
        </p:nvSpPr>
        <p:spPr>
          <a:xfrm>
            <a:off x="7891272" y="5111496"/>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7" name="Text 25"/>
          <p:cNvSpPr/>
          <p:nvPr/>
        </p:nvSpPr>
        <p:spPr>
          <a:xfrm>
            <a:off x="8549640" y="5001768"/>
            <a:ext cx="2834640" cy="438912"/>
          </a:xfrm>
          <a:prstGeom prst="rect">
            <a:avLst/>
          </a:prstGeom>
          <a:noFill/>
          <a:ln/>
        </p:spPr>
        <p:txBody>
          <a:bodyPr wrap="square" lIns="0" tIns="0" rIns="0" bIns="0" rtlCol="0" anchor="ctr"/>
          <a:lstStyle/>
          <a:p>
            <a:pPr marL="0" indent="0">
              <a:buNone/>
            </a:pPr>
            <a:r>
              <a:rPr lang="en-US" sz="2400" b="1" dirty="0">
                <a:solidFill>
                  <a:srgbClr val="B3382C"/>
                </a:solidFill>
                <a:latin typeface="Cambria" pitchFamily="34" charset="0"/>
                <a:ea typeface="Cambria" pitchFamily="34" charset="-122"/>
                <a:cs typeface="Cambria" pitchFamily="34" charset="-120"/>
              </a:rPr>
              <a:t>-23%</a:t>
            </a:r>
            <a:endParaRPr lang="en-US" sz="2400" dirty="0"/>
          </a:p>
        </p:txBody>
      </p:sp>
      <p:sp>
        <p:nvSpPr>
          <p:cNvPr id="28" name="Text 26"/>
          <p:cNvSpPr/>
          <p:nvPr/>
        </p:nvSpPr>
        <p:spPr>
          <a:xfrm>
            <a:off x="8549640" y="5431536"/>
            <a:ext cx="2834640" cy="274320"/>
          </a:xfrm>
          <a:prstGeom prst="rect">
            <a:avLst/>
          </a:prstGeom>
          <a:noFill/>
          <a:ln/>
        </p:spPr>
        <p:txBody>
          <a:bodyPr wrap="square" lIns="0" tIns="0" rIns="0" bIns="0" rtlCol="0" anchor="ctr"/>
          <a:lstStyle/>
          <a:p>
            <a:pPr marL="0" indent="0">
              <a:buNone/>
            </a:pPr>
            <a:r>
              <a:rPr lang="en-US" sz="1150" dirty="0">
                <a:solidFill>
                  <a:srgbClr val="5F5155"/>
                </a:solidFill>
                <a:latin typeface="Calibri" pitchFamily="34" charset="0"/>
                <a:ea typeface="Calibri" pitchFamily="34" charset="-122"/>
                <a:cs typeface="Calibri" pitchFamily="34" charset="-120"/>
              </a:rPr>
              <a:t>Footfall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53254E-A396-12E2-AF55-D913BADB2E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EC1B6C-D6E5-FB11-2912-AB012D63D25C}"/>
              </a:ext>
            </a:extLst>
          </p:cNvPr>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ea typeface="Calibri" pitchFamily="34" charset="-122"/>
                <a:cs typeface="Calibri" pitchFamily="34" charset="-120"/>
              </a:rPr>
              <a:t>THE PARADOX</a:t>
            </a:r>
            <a:endParaRPr lang="en-US" sz="1150" dirty="0"/>
          </a:p>
        </p:txBody>
      </p:sp>
      <p:sp>
        <p:nvSpPr>
          <p:cNvPr id="3" name="Text 1">
            <a:extLst>
              <a:ext uri="{FF2B5EF4-FFF2-40B4-BE49-F238E27FC236}">
                <a16:creationId xmlns:a16="http://schemas.microsoft.com/office/drawing/2014/main" id="{B04532E7-DEFE-2553-2471-FD56C307CC0A}"/>
              </a:ext>
            </a:extLst>
          </p:cNvPr>
          <p:cNvSpPr/>
          <p:nvPr/>
        </p:nvSpPr>
        <p:spPr>
          <a:xfrm>
            <a:off x="640080" y="411480"/>
            <a:ext cx="10881360" cy="68580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The rating went up. The room emptied out.</a:t>
            </a:r>
            <a:endParaRPr lang="en-US" sz="3400" dirty="0"/>
          </a:p>
        </p:txBody>
      </p:sp>
      <p:sp>
        <p:nvSpPr>
          <p:cNvPr id="5" name="Shape 2">
            <a:extLst>
              <a:ext uri="{FF2B5EF4-FFF2-40B4-BE49-F238E27FC236}">
                <a16:creationId xmlns:a16="http://schemas.microsoft.com/office/drawing/2014/main" id="{078F0AB4-5AB5-7677-9892-C3A731BE4677}"/>
              </a:ext>
            </a:extLst>
          </p:cNvPr>
          <p:cNvSpPr/>
          <p:nvPr/>
        </p:nvSpPr>
        <p:spPr>
          <a:xfrm>
            <a:off x="8732520" y="1371600"/>
            <a:ext cx="2834640" cy="1691640"/>
          </a:xfrm>
          <a:prstGeom prst="roundRect">
            <a:avLst>
              <a:gd name="adj" fmla="val 4865"/>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6" name="Text 3">
            <a:extLst>
              <a:ext uri="{FF2B5EF4-FFF2-40B4-BE49-F238E27FC236}">
                <a16:creationId xmlns:a16="http://schemas.microsoft.com/office/drawing/2014/main" id="{E380F822-461E-7C84-71C0-B238AEDF777C}"/>
              </a:ext>
            </a:extLst>
          </p:cNvPr>
          <p:cNvSpPr/>
          <p:nvPr/>
        </p:nvSpPr>
        <p:spPr>
          <a:xfrm>
            <a:off x="8732520" y="1572768"/>
            <a:ext cx="2834640" cy="640080"/>
          </a:xfrm>
          <a:prstGeom prst="rect">
            <a:avLst/>
          </a:prstGeom>
          <a:noFill/>
          <a:ln/>
        </p:spPr>
        <p:txBody>
          <a:bodyPr wrap="square" lIns="0" tIns="0" rIns="0" bIns="0" rtlCol="0" anchor="ctr"/>
          <a:lstStyle/>
          <a:p>
            <a:pPr marL="0" indent="0" algn="ctr">
              <a:buNone/>
            </a:pPr>
            <a:r>
              <a:rPr lang="en-US" sz="4000" b="1" dirty="0">
                <a:solidFill>
                  <a:srgbClr val="B3382C"/>
                </a:solidFill>
                <a:latin typeface="Cambria" pitchFamily="34" charset="0"/>
                <a:ea typeface="Cambria" pitchFamily="34" charset="-122"/>
                <a:cs typeface="Cambria" pitchFamily="34" charset="-120"/>
              </a:rPr>
              <a:t>-23%</a:t>
            </a:r>
            <a:endParaRPr lang="en-US" sz="4000" dirty="0"/>
          </a:p>
        </p:txBody>
      </p:sp>
      <p:sp>
        <p:nvSpPr>
          <p:cNvPr id="7" name="Text 4">
            <a:extLst>
              <a:ext uri="{FF2B5EF4-FFF2-40B4-BE49-F238E27FC236}">
                <a16:creationId xmlns:a16="http://schemas.microsoft.com/office/drawing/2014/main" id="{8E70302F-A227-68F8-7ED5-534E1F2BA974}"/>
              </a:ext>
            </a:extLst>
          </p:cNvPr>
          <p:cNvSpPr/>
          <p:nvPr/>
        </p:nvSpPr>
        <p:spPr>
          <a:xfrm>
            <a:off x="8732520" y="2212848"/>
            <a:ext cx="2834640" cy="640080"/>
          </a:xfrm>
          <a:prstGeom prst="rect">
            <a:avLst/>
          </a:prstGeom>
          <a:noFill/>
          <a:ln/>
        </p:spPr>
        <p:txBody>
          <a:bodyPr wrap="square" lIns="0" tIns="0" rIns="0" bIns="0" rtlCol="0" anchor="ctr"/>
          <a:lstStyle/>
          <a:p>
            <a:pPr marL="0" indent="0" algn="ctr">
              <a:lnSpc>
                <a:spcPts val="1700"/>
              </a:lnSpc>
              <a:buNone/>
            </a:pPr>
            <a:r>
              <a:rPr lang="en-US" sz="1200" dirty="0">
                <a:solidFill>
                  <a:srgbClr val="5F5155"/>
                </a:solidFill>
                <a:latin typeface="Calibri" pitchFamily="34" charset="0"/>
                <a:ea typeface="Calibri" pitchFamily="34" charset="-122"/>
                <a:cs typeface="Calibri" pitchFamily="34" charset="-120"/>
              </a:rPr>
              <a:t>covers, Jan → Dec</a:t>
            </a:r>
            <a:endParaRPr lang="en-US" sz="1200" dirty="0"/>
          </a:p>
          <a:p>
            <a:pPr marL="0" indent="0" algn="ctr">
              <a:lnSpc>
                <a:spcPts val="1700"/>
              </a:lnSpc>
              <a:buNone/>
            </a:pPr>
            <a:r>
              <a:rPr lang="en-US" sz="1200" dirty="0">
                <a:solidFill>
                  <a:srgbClr val="5F5155"/>
                </a:solidFill>
                <a:latin typeface="Calibri" pitchFamily="34" charset="0"/>
                <a:ea typeface="Calibri" pitchFamily="34" charset="-122"/>
                <a:cs typeface="Calibri" pitchFamily="34" charset="-120"/>
              </a:rPr>
              <a:t>14,200 → 10,950</a:t>
            </a:r>
            <a:endParaRPr lang="en-US" sz="1200" dirty="0"/>
          </a:p>
        </p:txBody>
      </p:sp>
      <p:sp>
        <p:nvSpPr>
          <p:cNvPr id="8" name="Shape 5">
            <a:extLst>
              <a:ext uri="{FF2B5EF4-FFF2-40B4-BE49-F238E27FC236}">
                <a16:creationId xmlns:a16="http://schemas.microsoft.com/office/drawing/2014/main" id="{0CAD458A-ED61-F949-092C-98445C861034}"/>
              </a:ext>
            </a:extLst>
          </p:cNvPr>
          <p:cNvSpPr/>
          <p:nvPr/>
        </p:nvSpPr>
        <p:spPr>
          <a:xfrm>
            <a:off x="8732520" y="3291840"/>
            <a:ext cx="2834640" cy="1691640"/>
          </a:xfrm>
          <a:prstGeom prst="roundRect">
            <a:avLst>
              <a:gd name="adj" fmla="val 4865"/>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9" name="Text 6">
            <a:extLst>
              <a:ext uri="{FF2B5EF4-FFF2-40B4-BE49-F238E27FC236}">
                <a16:creationId xmlns:a16="http://schemas.microsoft.com/office/drawing/2014/main" id="{17D9A5E3-1970-540D-22DB-7C2E4A11087D}"/>
              </a:ext>
            </a:extLst>
          </p:cNvPr>
          <p:cNvSpPr/>
          <p:nvPr/>
        </p:nvSpPr>
        <p:spPr>
          <a:xfrm>
            <a:off x="8732520" y="3493008"/>
            <a:ext cx="2834640" cy="640080"/>
          </a:xfrm>
          <a:prstGeom prst="rect">
            <a:avLst/>
          </a:prstGeom>
          <a:noFill/>
          <a:ln/>
        </p:spPr>
        <p:txBody>
          <a:bodyPr wrap="square" lIns="0" tIns="0" rIns="0" bIns="0" rtlCol="0" anchor="ctr"/>
          <a:lstStyle/>
          <a:p>
            <a:pPr marL="0" indent="0" algn="ctr">
              <a:buNone/>
            </a:pPr>
            <a:r>
              <a:rPr lang="en-US" sz="4000" b="1" dirty="0">
                <a:solidFill>
                  <a:srgbClr val="8A6310"/>
                </a:solidFill>
                <a:latin typeface="Cambria" pitchFamily="34" charset="0"/>
                <a:ea typeface="Cambria" pitchFamily="34" charset="-122"/>
                <a:cs typeface="Cambria" pitchFamily="34" charset="-120"/>
              </a:rPr>
              <a:t>+0.16★</a:t>
            </a:r>
            <a:endParaRPr lang="en-US" sz="4000" dirty="0"/>
          </a:p>
        </p:txBody>
      </p:sp>
      <p:sp>
        <p:nvSpPr>
          <p:cNvPr id="10" name="Text 7">
            <a:extLst>
              <a:ext uri="{FF2B5EF4-FFF2-40B4-BE49-F238E27FC236}">
                <a16:creationId xmlns:a16="http://schemas.microsoft.com/office/drawing/2014/main" id="{667A240D-98D7-1461-5FC5-4E5F3E6889F7}"/>
              </a:ext>
            </a:extLst>
          </p:cNvPr>
          <p:cNvSpPr/>
          <p:nvPr/>
        </p:nvSpPr>
        <p:spPr>
          <a:xfrm>
            <a:off x="8732520" y="4133088"/>
            <a:ext cx="2834640" cy="640080"/>
          </a:xfrm>
          <a:prstGeom prst="rect">
            <a:avLst/>
          </a:prstGeom>
          <a:noFill/>
          <a:ln/>
        </p:spPr>
        <p:txBody>
          <a:bodyPr wrap="square" lIns="0" tIns="0" rIns="0" bIns="0" rtlCol="0" anchor="ctr"/>
          <a:lstStyle/>
          <a:p>
            <a:pPr marL="0" indent="0" algn="ctr">
              <a:lnSpc>
                <a:spcPts val="1700"/>
              </a:lnSpc>
              <a:buNone/>
            </a:pPr>
            <a:r>
              <a:rPr lang="en-US" sz="1200" dirty="0">
                <a:solidFill>
                  <a:srgbClr val="5F5155"/>
                </a:solidFill>
                <a:latin typeface="Calibri" pitchFamily="34" charset="0"/>
                <a:ea typeface="Calibri" pitchFamily="34" charset="-122"/>
                <a:cs typeface="Calibri" pitchFamily="34" charset="-120"/>
              </a:rPr>
              <a:t>rating, Jan → Dec</a:t>
            </a:r>
            <a:endParaRPr lang="en-US" sz="1200" dirty="0"/>
          </a:p>
          <a:p>
            <a:pPr marL="0" indent="0" algn="ctr">
              <a:lnSpc>
                <a:spcPts val="1700"/>
              </a:lnSpc>
              <a:buNone/>
            </a:pPr>
            <a:r>
              <a:rPr lang="en-US" sz="1200" dirty="0">
                <a:solidFill>
                  <a:srgbClr val="5F5155"/>
                </a:solidFill>
                <a:latin typeface="Calibri" pitchFamily="34" charset="0"/>
                <a:ea typeface="Calibri" pitchFamily="34" charset="-122"/>
                <a:cs typeface="Calibri" pitchFamily="34" charset="-120"/>
              </a:rPr>
              <a:t>4.52 → 4.68</a:t>
            </a:r>
            <a:endParaRPr lang="en-US" sz="1200" dirty="0"/>
          </a:p>
        </p:txBody>
      </p:sp>
      <p:sp>
        <p:nvSpPr>
          <p:cNvPr id="11" name="Text 8">
            <a:extLst>
              <a:ext uri="{FF2B5EF4-FFF2-40B4-BE49-F238E27FC236}">
                <a16:creationId xmlns:a16="http://schemas.microsoft.com/office/drawing/2014/main" id="{97263820-4CF4-AA60-A272-CE699A9FAA9B}"/>
              </a:ext>
            </a:extLst>
          </p:cNvPr>
          <p:cNvSpPr/>
          <p:nvPr/>
        </p:nvSpPr>
        <p:spPr>
          <a:xfrm>
            <a:off x="8732520" y="5166360"/>
            <a:ext cx="2834640" cy="822960"/>
          </a:xfrm>
          <a:prstGeom prst="rect">
            <a:avLst/>
          </a:prstGeom>
          <a:noFill/>
          <a:ln/>
        </p:spPr>
        <p:txBody>
          <a:bodyPr wrap="square" lIns="0" tIns="0" rIns="0" bIns="0" rtlCol="0" anchor="ctr"/>
          <a:lstStyle/>
          <a:p>
            <a:pPr marL="0" indent="0">
              <a:lnSpc>
                <a:spcPts val="1700"/>
              </a:lnSpc>
              <a:buNone/>
            </a:pPr>
            <a:r>
              <a:rPr lang="en-US" sz="1200" i="1" dirty="0">
                <a:solidFill>
                  <a:srgbClr val="6D2E46"/>
                </a:solidFill>
                <a:latin typeface="Calibri" pitchFamily="34" charset="0"/>
                <a:ea typeface="Calibri" pitchFamily="34" charset="-122"/>
                <a:cs typeface="Calibri" pitchFamily="34" charset="-120"/>
              </a:rPr>
              <a:t>Twelve months. Two lines. They should move together — they move apart.</a:t>
            </a:r>
            <a:endParaRPr lang="en-US" sz="1200" dirty="0"/>
          </a:p>
        </p:txBody>
      </p:sp>
      <p:pic>
        <p:nvPicPr>
          <p:cNvPr id="14" name="slide2" descr="Sheet 3">
            <a:extLst>
              <a:ext uri="{FF2B5EF4-FFF2-40B4-BE49-F238E27FC236}">
                <a16:creationId xmlns:a16="http://schemas.microsoft.com/office/drawing/2014/main" id="{BAFD3806-2495-E398-6913-3A821FF12FDF}"/>
              </a:ext>
            </a:extLst>
          </p:cNvPr>
          <p:cNvPicPr>
            <a:picLocks noChangeAspect="1"/>
          </p:cNvPicPr>
          <p:nvPr/>
        </p:nvPicPr>
        <p:blipFill>
          <a:blip r:embed="rId3">
            <a:extLst>
              <a:ext uri="{28A0092B-C50C-407E-A947-70E740481C1C}">
                <a14:useLocalDpi xmlns:a14="http://schemas.microsoft.com/office/drawing/2010/main" val="0"/>
              </a:ext>
            </a:extLst>
          </a:blip>
          <a:srcRect t="4016" b="15823"/>
          <a:stretch>
            <a:fillRect/>
          </a:stretch>
        </p:blipFill>
        <p:spPr>
          <a:xfrm>
            <a:off x="624840" y="1097280"/>
            <a:ext cx="6378924" cy="5497417"/>
          </a:xfrm>
          <a:prstGeom prst="rect">
            <a:avLst/>
          </a:prstGeom>
        </p:spPr>
      </p:pic>
    </p:spTree>
    <p:extLst>
      <p:ext uri="{BB962C8B-B14F-4D97-AF65-F5344CB8AC3E}">
        <p14:creationId xmlns:p14="http://schemas.microsoft.com/office/powerpoint/2010/main" val="1206927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D2E46"/>
        </a:solidFill>
        <a:effectLst/>
      </p:bgPr>
    </p:bg>
    <p:spTree>
      <p:nvGrpSpPr>
        <p:cNvPr id="1" name=""/>
        <p:cNvGrpSpPr/>
        <p:nvPr/>
      </p:nvGrpSpPr>
      <p:grpSpPr>
        <a:xfrm>
          <a:off x="0" y="0"/>
          <a:ext cx="0" cy="0"/>
          <a:chOff x="0" y="0"/>
          <a:chExt cx="0" cy="0"/>
        </a:xfrm>
      </p:grpSpPr>
      <p:sp>
        <p:nvSpPr>
          <p:cNvPr id="2" name="Text 0"/>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F2E7DE"/>
                </a:solidFill>
                <a:latin typeface="Calibri" pitchFamily="34" charset="0"/>
                <a:ea typeface="Calibri" pitchFamily="34" charset="-122"/>
                <a:cs typeface="Calibri" pitchFamily="34" charset="-120"/>
              </a:rPr>
              <a:t>HOW WE INTERROGATED IT</a:t>
            </a:r>
            <a:endParaRPr lang="en-US" sz="1150" dirty="0"/>
          </a:p>
        </p:txBody>
      </p:sp>
      <p:sp>
        <p:nvSpPr>
          <p:cNvPr id="3" name="Text 1"/>
          <p:cNvSpPr/>
          <p:nvPr/>
        </p:nvSpPr>
        <p:spPr>
          <a:xfrm>
            <a:off x="640080" y="411480"/>
            <a:ext cx="10881360" cy="68580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Four questions we put to the data</a:t>
            </a:r>
            <a:endParaRPr lang="en-US" sz="3400" dirty="0"/>
          </a:p>
        </p:txBody>
      </p:sp>
      <p:sp>
        <p:nvSpPr>
          <p:cNvPr id="4" name="Shape 2"/>
          <p:cNvSpPr/>
          <p:nvPr/>
        </p:nvSpPr>
        <p:spPr>
          <a:xfrm>
            <a:off x="640080" y="1417320"/>
            <a:ext cx="10881360" cy="969264"/>
          </a:xfrm>
          <a:prstGeom prst="roundRect">
            <a:avLst>
              <a:gd name="adj" fmla="val 7547"/>
            </a:avLst>
          </a:prstGeom>
          <a:solidFill>
            <a:srgbClr val="4A1B2C"/>
          </a:solidFill>
          <a:ln w="12700">
            <a:solidFill>
              <a:srgbClr val="333333"/>
            </a:solidFill>
            <a:prstDash val="solid"/>
          </a:ln>
        </p:spPr>
      </p:sp>
      <p:sp>
        <p:nvSpPr>
          <p:cNvPr id="5" name="Shape 3"/>
          <p:cNvSpPr/>
          <p:nvPr/>
        </p:nvSpPr>
        <p:spPr>
          <a:xfrm>
            <a:off x="896112" y="1645920"/>
            <a:ext cx="512064" cy="512064"/>
          </a:xfrm>
          <a:prstGeom prst="ellipse">
            <a:avLst/>
          </a:prstGeom>
          <a:solidFill>
            <a:srgbClr val="C9A227"/>
          </a:solidFill>
          <a:ln w="12700">
            <a:solidFill>
              <a:srgbClr val="C9A227"/>
            </a:solidFill>
            <a:prstDash val="solid"/>
          </a:ln>
        </p:spPr>
      </p:sp>
      <p:sp>
        <p:nvSpPr>
          <p:cNvPr id="6" name="Text 4"/>
          <p:cNvSpPr/>
          <p:nvPr/>
        </p:nvSpPr>
        <p:spPr>
          <a:xfrm>
            <a:off x="896112" y="1645920"/>
            <a:ext cx="512064" cy="512064"/>
          </a:xfrm>
          <a:prstGeom prst="rect">
            <a:avLst/>
          </a:prstGeom>
          <a:noFill/>
          <a:ln/>
        </p:spPr>
        <p:txBody>
          <a:bodyPr wrap="square" lIns="0" tIns="0" rIns="0" bIns="0" rtlCol="0" anchor="ctr"/>
          <a:lstStyle/>
          <a:p>
            <a:pPr marL="0" indent="0" algn="ctr">
              <a:buNone/>
            </a:pPr>
            <a:r>
              <a:rPr lang="en-US" sz="1700" b="1" dirty="0">
                <a:solidFill>
                  <a:srgbClr val="4A1B2C"/>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627632" y="1563624"/>
            <a:ext cx="96012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Is the decline real, or an artefact of how covers are counted?</a:t>
            </a:r>
            <a:endParaRPr lang="en-US" sz="1500" dirty="0"/>
          </a:p>
        </p:txBody>
      </p:sp>
      <p:sp>
        <p:nvSpPr>
          <p:cNvPr id="8" name="Text 6"/>
          <p:cNvSpPr/>
          <p:nvPr/>
        </p:nvSpPr>
        <p:spPr>
          <a:xfrm>
            <a:off x="1627632" y="1947672"/>
            <a:ext cx="9601200" cy="292608"/>
          </a:xfrm>
          <a:prstGeom prst="rect">
            <a:avLst/>
          </a:prstGeom>
          <a:noFill/>
          <a:ln/>
        </p:spPr>
        <p:txBody>
          <a:bodyPr wrap="square" lIns="0" tIns="0" rIns="0" bIns="0" rtlCol="0" anchor="ctr"/>
          <a:lstStyle/>
          <a:p>
            <a:pPr marL="0" indent="0">
              <a:buNone/>
            </a:pPr>
            <a:r>
              <a:rPr lang="en-US" sz="1200" dirty="0">
                <a:solidFill>
                  <a:srgbClr val="F2E7DE"/>
                </a:solidFill>
                <a:latin typeface="Calibri" pitchFamily="34" charset="0"/>
                <a:ea typeface="Calibri" pitchFamily="34" charset="-122"/>
                <a:cs typeface="Calibri" pitchFamily="34" charset="-120"/>
              </a:rPr>
              <a:t>Validated against POS bill counts, not door sensors.</a:t>
            </a:r>
            <a:endParaRPr lang="en-US" sz="1200" dirty="0"/>
          </a:p>
        </p:txBody>
      </p:sp>
      <p:sp>
        <p:nvSpPr>
          <p:cNvPr id="9" name="Shape 7"/>
          <p:cNvSpPr/>
          <p:nvPr/>
        </p:nvSpPr>
        <p:spPr>
          <a:xfrm>
            <a:off x="640080" y="2587752"/>
            <a:ext cx="10881360" cy="969264"/>
          </a:xfrm>
          <a:prstGeom prst="roundRect">
            <a:avLst>
              <a:gd name="adj" fmla="val 7547"/>
            </a:avLst>
          </a:prstGeom>
          <a:solidFill>
            <a:srgbClr val="4A1B2C"/>
          </a:solidFill>
          <a:ln w="12700">
            <a:solidFill>
              <a:srgbClr val="333333"/>
            </a:solidFill>
            <a:prstDash val="solid"/>
          </a:ln>
        </p:spPr>
      </p:sp>
      <p:sp>
        <p:nvSpPr>
          <p:cNvPr id="10" name="Shape 8"/>
          <p:cNvSpPr/>
          <p:nvPr/>
        </p:nvSpPr>
        <p:spPr>
          <a:xfrm>
            <a:off x="896112" y="2816352"/>
            <a:ext cx="512064" cy="512064"/>
          </a:xfrm>
          <a:prstGeom prst="ellipse">
            <a:avLst/>
          </a:prstGeom>
          <a:solidFill>
            <a:srgbClr val="C9A227"/>
          </a:solidFill>
          <a:ln w="12700">
            <a:solidFill>
              <a:srgbClr val="C9A227"/>
            </a:solidFill>
            <a:prstDash val="solid"/>
          </a:ln>
        </p:spPr>
      </p:sp>
      <p:sp>
        <p:nvSpPr>
          <p:cNvPr id="11" name="Text 9"/>
          <p:cNvSpPr/>
          <p:nvPr/>
        </p:nvSpPr>
        <p:spPr>
          <a:xfrm>
            <a:off x="896112" y="2816352"/>
            <a:ext cx="512064" cy="512064"/>
          </a:xfrm>
          <a:prstGeom prst="rect">
            <a:avLst/>
          </a:prstGeom>
          <a:noFill/>
          <a:ln/>
        </p:spPr>
        <p:txBody>
          <a:bodyPr wrap="square" lIns="0" tIns="0" rIns="0" bIns="0" rtlCol="0" anchor="ctr"/>
          <a:lstStyle/>
          <a:p>
            <a:pPr marL="0" indent="0" algn="ctr">
              <a:buNone/>
            </a:pPr>
            <a:r>
              <a:rPr lang="en-US" sz="1700" b="1" dirty="0">
                <a:solidFill>
                  <a:srgbClr val="4A1B2C"/>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627632" y="2734056"/>
            <a:ext cx="96012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Is it explained by any external factor?</a:t>
            </a:r>
            <a:endParaRPr lang="en-US" sz="1500" dirty="0"/>
          </a:p>
        </p:txBody>
      </p:sp>
      <p:sp>
        <p:nvSpPr>
          <p:cNvPr id="13" name="Text 11"/>
          <p:cNvSpPr/>
          <p:nvPr/>
        </p:nvSpPr>
        <p:spPr>
          <a:xfrm>
            <a:off x="1627632" y="3118104"/>
            <a:ext cx="9601200" cy="292608"/>
          </a:xfrm>
          <a:prstGeom prst="rect">
            <a:avLst/>
          </a:prstGeom>
          <a:noFill/>
          <a:ln/>
        </p:spPr>
        <p:txBody>
          <a:bodyPr wrap="square" lIns="0" tIns="0" rIns="0" bIns="0" rtlCol="0" anchor="ctr"/>
          <a:lstStyle/>
          <a:p>
            <a:pPr marL="0" indent="0">
              <a:buNone/>
            </a:pPr>
            <a:r>
              <a:rPr lang="en-US" sz="1200" dirty="0">
                <a:solidFill>
                  <a:srgbClr val="F2E7DE"/>
                </a:solidFill>
                <a:latin typeface="Calibri" pitchFamily="34" charset="0"/>
                <a:ea typeface="Calibri" pitchFamily="34" charset="-122"/>
                <a:cs typeface="Calibri" pitchFamily="34" charset="-120"/>
              </a:rPr>
              <a:t>Price, competition, location, seasonality — tested one by one.</a:t>
            </a:r>
            <a:endParaRPr lang="en-US" sz="1200" dirty="0"/>
          </a:p>
        </p:txBody>
      </p:sp>
      <p:sp>
        <p:nvSpPr>
          <p:cNvPr id="14" name="Shape 12"/>
          <p:cNvSpPr/>
          <p:nvPr/>
        </p:nvSpPr>
        <p:spPr>
          <a:xfrm>
            <a:off x="640080" y="3758184"/>
            <a:ext cx="10881360" cy="969264"/>
          </a:xfrm>
          <a:prstGeom prst="roundRect">
            <a:avLst>
              <a:gd name="adj" fmla="val 7547"/>
            </a:avLst>
          </a:prstGeom>
          <a:solidFill>
            <a:srgbClr val="4A1B2C"/>
          </a:solidFill>
          <a:ln w="12700">
            <a:solidFill>
              <a:srgbClr val="333333"/>
            </a:solidFill>
            <a:prstDash val="solid"/>
          </a:ln>
        </p:spPr>
      </p:sp>
      <p:sp>
        <p:nvSpPr>
          <p:cNvPr id="15" name="Shape 13"/>
          <p:cNvSpPr/>
          <p:nvPr/>
        </p:nvSpPr>
        <p:spPr>
          <a:xfrm>
            <a:off x="896112" y="3986784"/>
            <a:ext cx="512064" cy="512064"/>
          </a:xfrm>
          <a:prstGeom prst="ellipse">
            <a:avLst/>
          </a:prstGeom>
          <a:solidFill>
            <a:srgbClr val="C9A227"/>
          </a:solidFill>
          <a:ln w="12700">
            <a:solidFill>
              <a:srgbClr val="C9A227"/>
            </a:solidFill>
            <a:prstDash val="solid"/>
          </a:ln>
        </p:spPr>
      </p:sp>
      <p:sp>
        <p:nvSpPr>
          <p:cNvPr id="16" name="Text 14"/>
          <p:cNvSpPr/>
          <p:nvPr/>
        </p:nvSpPr>
        <p:spPr>
          <a:xfrm>
            <a:off x="896112" y="3986784"/>
            <a:ext cx="512064" cy="512064"/>
          </a:xfrm>
          <a:prstGeom prst="rect">
            <a:avLst/>
          </a:prstGeom>
          <a:noFill/>
          <a:ln/>
        </p:spPr>
        <p:txBody>
          <a:bodyPr wrap="square" lIns="0" tIns="0" rIns="0" bIns="0" rtlCol="0" anchor="ctr"/>
          <a:lstStyle/>
          <a:p>
            <a:pPr marL="0" indent="0" algn="ctr">
              <a:buNone/>
            </a:pPr>
            <a:r>
              <a:rPr lang="en-US" sz="1700" b="1" dirty="0">
                <a:solidFill>
                  <a:srgbClr val="4A1B2C"/>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627632" y="3904488"/>
            <a:ext cx="96012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Who exactly is missing — new guests or returning ones?</a:t>
            </a:r>
            <a:endParaRPr lang="en-US" sz="1500" dirty="0"/>
          </a:p>
        </p:txBody>
      </p:sp>
      <p:sp>
        <p:nvSpPr>
          <p:cNvPr id="18" name="Text 16"/>
          <p:cNvSpPr/>
          <p:nvPr/>
        </p:nvSpPr>
        <p:spPr>
          <a:xfrm>
            <a:off x="1627632" y="4288536"/>
            <a:ext cx="9601200" cy="292608"/>
          </a:xfrm>
          <a:prstGeom prst="rect">
            <a:avLst/>
          </a:prstGeom>
          <a:noFill/>
          <a:ln/>
        </p:spPr>
        <p:txBody>
          <a:bodyPr wrap="square" lIns="0" tIns="0" rIns="0" bIns="0" rtlCol="0" anchor="ctr"/>
          <a:lstStyle/>
          <a:p>
            <a:pPr marL="0" indent="0">
              <a:buNone/>
            </a:pPr>
            <a:r>
              <a:rPr lang="en-US" sz="1200" dirty="0">
                <a:solidFill>
                  <a:srgbClr val="F2E7DE"/>
                </a:solidFill>
                <a:latin typeface="Calibri" pitchFamily="34" charset="0"/>
                <a:ea typeface="Calibri" pitchFamily="34" charset="-122"/>
                <a:cs typeface="Calibri" pitchFamily="34" charset="-120"/>
              </a:rPr>
              <a:t>Decomposed every cover by guest visit history.</a:t>
            </a:r>
            <a:endParaRPr lang="en-US" sz="1200" dirty="0"/>
          </a:p>
        </p:txBody>
      </p:sp>
      <p:sp>
        <p:nvSpPr>
          <p:cNvPr id="19" name="Shape 17"/>
          <p:cNvSpPr/>
          <p:nvPr/>
        </p:nvSpPr>
        <p:spPr>
          <a:xfrm>
            <a:off x="640080" y="4928616"/>
            <a:ext cx="10881360" cy="969264"/>
          </a:xfrm>
          <a:prstGeom prst="roundRect">
            <a:avLst>
              <a:gd name="adj" fmla="val 7547"/>
            </a:avLst>
          </a:prstGeom>
          <a:solidFill>
            <a:srgbClr val="4A1B2C"/>
          </a:solidFill>
          <a:ln w="12700">
            <a:solidFill>
              <a:srgbClr val="333333"/>
            </a:solidFill>
            <a:prstDash val="solid"/>
          </a:ln>
        </p:spPr>
      </p:sp>
      <p:sp>
        <p:nvSpPr>
          <p:cNvPr id="20" name="Shape 18"/>
          <p:cNvSpPr/>
          <p:nvPr/>
        </p:nvSpPr>
        <p:spPr>
          <a:xfrm>
            <a:off x="896112" y="5157216"/>
            <a:ext cx="512064" cy="512064"/>
          </a:xfrm>
          <a:prstGeom prst="ellipse">
            <a:avLst/>
          </a:prstGeom>
          <a:solidFill>
            <a:srgbClr val="C9A227"/>
          </a:solidFill>
          <a:ln w="12700">
            <a:solidFill>
              <a:srgbClr val="C9A227"/>
            </a:solidFill>
            <a:prstDash val="solid"/>
          </a:ln>
        </p:spPr>
      </p:sp>
      <p:sp>
        <p:nvSpPr>
          <p:cNvPr id="21" name="Text 19"/>
          <p:cNvSpPr/>
          <p:nvPr/>
        </p:nvSpPr>
        <p:spPr>
          <a:xfrm>
            <a:off x="896112" y="5157216"/>
            <a:ext cx="512064" cy="512064"/>
          </a:xfrm>
          <a:prstGeom prst="rect">
            <a:avLst/>
          </a:prstGeom>
          <a:noFill/>
          <a:ln/>
        </p:spPr>
        <p:txBody>
          <a:bodyPr wrap="square" lIns="0" tIns="0" rIns="0" bIns="0" rtlCol="0" anchor="ctr"/>
          <a:lstStyle/>
          <a:p>
            <a:pPr marL="0" indent="0" algn="ctr">
              <a:buNone/>
            </a:pPr>
            <a:r>
              <a:rPr lang="en-US" sz="1700" b="1" dirty="0">
                <a:solidFill>
                  <a:srgbClr val="4A1B2C"/>
                </a:solidFill>
                <a:latin typeface="Cambria" pitchFamily="34" charset="0"/>
                <a:ea typeface="Cambria" pitchFamily="34" charset="-122"/>
                <a:cs typeface="Cambria" pitchFamily="34" charset="-120"/>
              </a:rPr>
              <a:t>4</a:t>
            </a:r>
            <a:endParaRPr lang="en-US" sz="1700" dirty="0"/>
          </a:p>
        </p:txBody>
      </p:sp>
      <p:sp>
        <p:nvSpPr>
          <p:cNvPr id="22" name="Text 20"/>
          <p:cNvSpPr/>
          <p:nvPr/>
        </p:nvSpPr>
        <p:spPr>
          <a:xfrm>
            <a:off x="1627632" y="5074920"/>
            <a:ext cx="96012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Does our satisfaction metric actually measure satisfaction?</a:t>
            </a:r>
            <a:endParaRPr lang="en-US" sz="1500" dirty="0"/>
          </a:p>
        </p:txBody>
      </p:sp>
      <p:sp>
        <p:nvSpPr>
          <p:cNvPr id="23" name="Text 21"/>
          <p:cNvSpPr/>
          <p:nvPr/>
        </p:nvSpPr>
        <p:spPr>
          <a:xfrm>
            <a:off x="1627632" y="5458968"/>
            <a:ext cx="9601200" cy="292608"/>
          </a:xfrm>
          <a:prstGeom prst="rect">
            <a:avLst/>
          </a:prstGeom>
          <a:noFill/>
          <a:ln/>
        </p:spPr>
        <p:txBody>
          <a:bodyPr wrap="square" lIns="0" tIns="0" rIns="0" bIns="0" rtlCol="0" anchor="ctr"/>
          <a:lstStyle/>
          <a:p>
            <a:pPr marL="0" indent="0">
              <a:buNone/>
            </a:pPr>
            <a:r>
              <a:rPr lang="en-US" sz="1200" dirty="0">
                <a:solidFill>
                  <a:srgbClr val="F2E7DE"/>
                </a:solidFill>
                <a:latin typeface="Calibri" pitchFamily="34" charset="0"/>
                <a:ea typeface="Calibri" pitchFamily="34" charset="-122"/>
                <a:cs typeface="Calibri" pitchFamily="34" charset="-120"/>
              </a:rPr>
              <a:t>Traced every review back to the visit that produced 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ea typeface="Calibri" pitchFamily="34" charset="-122"/>
                <a:cs typeface="Calibri" pitchFamily="34" charset="-120"/>
              </a:rPr>
              <a:t>EXPLORATION</a:t>
            </a:r>
            <a:endParaRPr lang="en-US" sz="1150" dirty="0"/>
          </a:p>
        </p:txBody>
      </p:sp>
      <p:sp>
        <p:nvSpPr>
          <p:cNvPr id="3" name="Text 1"/>
          <p:cNvSpPr/>
          <p:nvPr/>
        </p:nvSpPr>
        <p:spPr>
          <a:xfrm>
            <a:off x="640080" y="411480"/>
            <a:ext cx="10881360" cy="68580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Four suspects. All of them plausible.</a:t>
            </a:r>
            <a:endParaRPr lang="en-US" sz="3400" dirty="0"/>
          </a:p>
        </p:txBody>
      </p:sp>
      <p:sp>
        <p:nvSpPr>
          <p:cNvPr id="4" name="Text 2"/>
          <p:cNvSpPr/>
          <p:nvPr/>
        </p:nvSpPr>
        <p:spPr>
          <a:xfrm>
            <a:off x="640080" y="1207008"/>
            <a:ext cx="8686800" cy="548640"/>
          </a:xfrm>
          <a:prstGeom prst="rect">
            <a:avLst/>
          </a:prstGeom>
          <a:noFill/>
          <a:ln/>
        </p:spPr>
        <p:txBody>
          <a:bodyPr wrap="square" lIns="0" tIns="0" rIns="0" bIns="0" rtlCol="0" anchor="ctr"/>
          <a:lstStyle/>
          <a:p>
            <a:pPr marL="0" indent="0">
              <a:lnSpc>
                <a:spcPts val="2000"/>
              </a:lnSpc>
              <a:buNone/>
            </a:pPr>
            <a:r>
              <a:rPr lang="en-US" sz="1400" dirty="0">
                <a:solidFill>
                  <a:srgbClr val="5F5155"/>
                </a:solidFill>
                <a:latin typeface="Calibri" pitchFamily="34" charset="0"/>
                <a:ea typeface="Calibri" pitchFamily="34" charset="-122"/>
                <a:cs typeface="Calibri" pitchFamily="34" charset="-120"/>
              </a:rPr>
              <a:t>Every one of these is the answer a management consultant would reach for first. We tested each against the data before we allowed ourselves a new hypothesis.</a:t>
            </a:r>
            <a:endParaRPr lang="en-US" sz="1400" dirty="0"/>
          </a:p>
        </p:txBody>
      </p:sp>
      <p:sp>
        <p:nvSpPr>
          <p:cNvPr id="5" name="Shape 3"/>
          <p:cNvSpPr/>
          <p:nvPr/>
        </p:nvSpPr>
        <p:spPr>
          <a:xfrm>
            <a:off x="640080" y="2057400"/>
            <a:ext cx="2606040" cy="3063240"/>
          </a:xfrm>
          <a:prstGeom prst="roundRect">
            <a:avLst>
              <a:gd name="adj" fmla="val 3158"/>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6" name="Shape 4"/>
          <p:cNvSpPr/>
          <p:nvPr/>
        </p:nvSpPr>
        <p:spPr>
          <a:xfrm>
            <a:off x="1600200" y="2377440"/>
            <a:ext cx="685800" cy="685800"/>
          </a:xfrm>
          <a:prstGeom prst="ellipse">
            <a:avLst/>
          </a:prstGeom>
          <a:solidFill>
            <a:srgbClr val="6D2E46"/>
          </a:solidFill>
          <a:ln w="12700">
            <a:solidFill>
              <a:srgbClr val="6D2E46"/>
            </a:solidFill>
            <a:prstDash val="solid"/>
          </a:ln>
        </p:spPr>
      </p:sp>
      <p:sp>
        <p:nvSpPr>
          <p:cNvPr id="7" name="Text 5"/>
          <p:cNvSpPr/>
          <p:nvPr/>
        </p:nvSpPr>
        <p:spPr>
          <a:xfrm>
            <a:off x="1600200" y="2377440"/>
            <a:ext cx="685800" cy="68580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8" name="Text 6"/>
          <p:cNvSpPr/>
          <p:nvPr/>
        </p:nvSpPr>
        <p:spPr>
          <a:xfrm>
            <a:off x="868680" y="3246120"/>
            <a:ext cx="2148840" cy="228600"/>
          </a:xfrm>
          <a:prstGeom prst="rect">
            <a:avLst/>
          </a:prstGeom>
          <a:noFill/>
          <a:ln/>
        </p:spPr>
        <p:txBody>
          <a:bodyPr wrap="square" lIns="0" tIns="0" rIns="0" bIns="0" rtlCol="0" anchor="ctr"/>
          <a:lstStyle/>
          <a:p>
            <a:pPr marL="0" indent="0" algn="ctr">
              <a:buNone/>
            </a:pPr>
            <a:r>
              <a:rPr lang="en-US" sz="1000" b="1" kern="0" spc="150" dirty="0">
                <a:solidFill>
                  <a:srgbClr val="9A4257"/>
                </a:solidFill>
                <a:latin typeface="Calibri" pitchFamily="34" charset="0"/>
                <a:ea typeface="Calibri" pitchFamily="34" charset="-122"/>
                <a:cs typeface="Calibri" pitchFamily="34" charset="-120"/>
              </a:rPr>
              <a:t>SUSPECT 01</a:t>
            </a:r>
            <a:endParaRPr lang="en-US" sz="1000" dirty="0"/>
          </a:p>
        </p:txBody>
      </p:sp>
      <p:sp>
        <p:nvSpPr>
          <p:cNvPr id="9" name="Text 7"/>
          <p:cNvSpPr/>
          <p:nvPr/>
        </p:nvSpPr>
        <p:spPr>
          <a:xfrm>
            <a:off x="868680" y="3493008"/>
            <a:ext cx="2148840" cy="365760"/>
          </a:xfrm>
          <a:prstGeom prst="rect">
            <a:avLst/>
          </a:prstGeom>
          <a:noFill/>
          <a:ln/>
        </p:spPr>
        <p:txBody>
          <a:bodyPr wrap="square" lIns="0" tIns="0" rIns="0" bIns="0" rtlCol="0" anchor="ctr"/>
          <a:lstStyle/>
          <a:p>
            <a:pPr marL="0" indent="0" algn="ctr">
              <a:buNone/>
            </a:pPr>
            <a:r>
              <a:rPr lang="en-US" sz="2000" b="1" dirty="0">
                <a:solidFill>
                  <a:srgbClr val="6D2E46"/>
                </a:solidFill>
                <a:latin typeface="Cambria" pitchFamily="34" charset="0"/>
                <a:ea typeface="Cambria" pitchFamily="34" charset="-122"/>
                <a:cs typeface="Cambria" pitchFamily="34" charset="-120"/>
              </a:rPr>
              <a:t>Pricing</a:t>
            </a:r>
            <a:endParaRPr lang="en-US" sz="2000" dirty="0"/>
          </a:p>
        </p:txBody>
      </p:sp>
      <p:sp>
        <p:nvSpPr>
          <p:cNvPr id="10" name="Text 8"/>
          <p:cNvSpPr/>
          <p:nvPr/>
        </p:nvSpPr>
        <p:spPr>
          <a:xfrm>
            <a:off x="868680" y="3950208"/>
            <a:ext cx="2148840" cy="1005840"/>
          </a:xfrm>
          <a:prstGeom prst="rect">
            <a:avLst/>
          </a:prstGeom>
          <a:noFill/>
          <a:ln/>
        </p:spPr>
        <p:txBody>
          <a:bodyPr wrap="square" lIns="0" tIns="0" rIns="0" bIns="0" rtlCol="0" anchor="ctr"/>
          <a:lstStyle/>
          <a:p>
            <a:pPr marL="0" indent="0" algn="ctr">
              <a:lnSpc>
                <a:spcPts val="1800"/>
              </a:lnSpc>
              <a:buNone/>
            </a:pPr>
            <a:r>
              <a:rPr lang="en-US" sz="1250" dirty="0">
                <a:solidFill>
                  <a:srgbClr val="5F5155"/>
                </a:solidFill>
                <a:latin typeface="Calibri" pitchFamily="34" charset="0"/>
                <a:ea typeface="Calibri" pitchFamily="34" charset="-122"/>
                <a:cs typeface="Calibri" pitchFamily="34" charset="-120"/>
              </a:rPr>
              <a:t>We raised menu prices and priced ourselves out.</a:t>
            </a:r>
            <a:endParaRPr lang="en-US" sz="1250" dirty="0"/>
          </a:p>
        </p:txBody>
      </p:sp>
      <p:sp>
        <p:nvSpPr>
          <p:cNvPr id="11" name="Shape 9"/>
          <p:cNvSpPr/>
          <p:nvPr/>
        </p:nvSpPr>
        <p:spPr>
          <a:xfrm>
            <a:off x="3483864" y="2057400"/>
            <a:ext cx="2606040" cy="3063240"/>
          </a:xfrm>
          <a:prstGeom prst="roundRect">
            <a:avLst>
              <a:gd name="adj" fmla="val 3158"/>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12" name="Shape 10"/>
          <p:cNvSpPr/>
          <p:nvPr/>
        </p:nvSpPr>
        <p:spPr>
          <a:xfrm>
            <a:off x="4443984" y="2377440"/>
            <a:ext cx="685800" cy="685800"/>
          </a:xfrm>
          <a:prstGeom prst="ellipse">
            <a:avLst/>
          </a:prstGeom>
          <a:solidFill>
            <a:srgbClr val="6D2E46"/>
          </a:solidFill>
          <a:ln w="12700">
            <a:solidFill>
              <a:srgbClr val="6D2E46"/>
            </a:solidFill>
            <a:prstDash val="solid"/>
          </a:ln>
        </p:spPr>
      </p:sp>
      <p:sp>
        <p:nvSpPr>
          <p:cNvPr id="13" name="Text 11"/>
          <p:cNvSpPr/>
          <p:nvPr/>
        </p:nvSpPr>
        <p:spPr>
          <a:xfrm>
            <a:off x="4443984" y="2377440"/>
            <a:ext cx="685800" cy="68580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14" name="Text 12"/>
          <p:cNvSpPr/>
          <p:nvPr/>
        </p:nvSpPr>
        <p:spPr>
          <a:xfrm>
            <a:off x="3712464" y="3246120"/>
            <a:ext cx="2148840" cy="228600"/>
          </a:xfrm>
          <a:prstGeom prst="rect">
            <a:avLst/>
          </a:prstGeom>
          <a:noFill/>
          <a:ln/>
        </p:spPr>
        <p:txBody>
          <a:bodyPr wrap="square" lIns="0" tIns="0" rIns="0" bIns="0" rtlCol="0" anchor="ctr"/>
          <a:lstStyle/>
          <a:p>
            <a:pPr marL="0" indent="0" algn="ctr">
              <a:buNone/>
            </a:pPr>
            <a:r>
              <a:rPr lang="en-US" sz="1000" b="1" kern="0" spc="150" dirty="0">
                <a:solidFill>
                  <a:srgbClr val="9A4257"/>
                </a:solidFill>
                <a:latin typeface="Calibri" pitchFamily="34" charset="0"/>
                <a:ea typeface="Calibri" pitchFamily="34" charset="-122"/>
                <a:cs typeface="Calibri" pitchFamily="34" charset="-120"/>
              </a:rPr>
              <a:t>SUSPECT 02</a:t>
            </a:r>
            <a:endParaRPr lang="en-US" sz="1000" dirty="0"/>
          </a:p>
        </p:txBody>
      </p:sp>
      <p:sp>
        <p:nvSpPr>
          <p:cNvPr id="15" name="Text 13"/>
          <p:cNvSpPr/>
          <p:nvPr/>
        </p:nvSpPr>
        <p:spPr>
          <a:xfrm>
            <a:off x="3712464" y="3493008"/>
            <a:ext cx="2148840" cy="365760"/>
          </a:xfrm>
          <a:prstGeom prst="rect">
            <a:avLst/>
          </a:prstGeom>
          <a:noFill/>
          <a:ln/>
        </p:spPr>
        <p:txBody>
          <a:bodyPr wrap="square" lIns="0" tIns="0" rIns="0" bIns="0" rtlCol="0" anchor="ctr"/>
          <a:lstStyle/>
          <a:p>
            <a:pPr marL="0" indent="0" algn="ctr">
              <a:buNone/>
            </a:pPr>
            <a:r>
              <a:rPr lang="en-US" sz="2000" b="1" dirty="0">
                <a:solidFill>
                  <a:srgbClr val="6D2E46"/>
                </a:solidFill>
                <a:latin typeface="Cambria" pitchFamily="34" charset="0"/>
                <a:ea typeface="Cambria" pitchFamily="34" charset="-122"/>
                <a:cs typeface="Cambria" pitchFamily="34" charset="-120"/>
              </a:rPr>
              <a:t>Competition</a:t>
            </a:r>
            <a:endParaRPr lang="en-US" sz="2000" dirty="0"/>
          </a:p>
        </p:txBody>
      </p:sp>
      <p:sp>
        <p:nvSpPr>
          <p:cNvPr id="16" name="Text 14"/>
          <p:cNvSpPr/>
          <p:nvPr/>
        </p:nvSpPr>
        <p:spPr>
          <a:xfrm>
            <a:off x="3712464" y="3950208"/>
            <a:ext cx="2148840" cy="1005840"/>
          </a:xfrm>
          <a:prstGeom prst="rect">
            <a:avLst/>
          </a:prstGeom>
          <a:noFill/>
          <a:ln/>
        </p:spPr>
        <p:txBody>
          <a:bodyPr wrap="square" lIns="0" tIns="0" rIns="0" bIns="0" rtlCol="0" anchor="ctr"/>
          <a:lstStyle/>
          <a:p>
            <a:pPr marL="0" indent="0" algn="ctr">
              <a:lnSpc>
                <a:spcPts val="1800"/>
              </a:lnSpc>
              <a:buNone/>
            </a:pPr>
            <a:r>
              <a:rPr lang="en-US" sz="1250" dirty="0">
                <a:solidFill>
                  <a:srgbClr val="5F5155"/>
                </a:solidFill>
                <a:latin typeface="Calibri" pitchFamily="34" charset="0"/>
                <a:ea typeface="Calibri" pitchFamily="34" charset="-122"/>
                <a:cs typeface="Calibri" pitchFamily="34" charset="-120"/>
              </a:rPr>
              <a:t>New restaurants opened around our outlets.</a:t>
            </a:r>
            <a:endParaRPr lang="en-US" sz="1250" dirty="0"/>
          </a:p>
        </p:txBody>
      </p:sp>
      <p:sp>
        <p:nvSpPr>
          <p:cNvPr id="17" name="Shape 15"/>
          <p:cNvSpPr/>
          <p:nvPr/>
        </p:nvSpPr>
        <p:spPr>
          <a:xfrm>
            <a:off x="6327648" y="2057400"/>
            <a:ext cx="2606040" cy="3063240"/>
          </a:xfrm>
          <a:prstGeom prst="roundRect">
            <a:avLst>
              <a:gd name="adj" fmla="val 3158"/>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18" name="Shape 16"/>
          <p:cNvSpPr/>
          <p:nvPr/>
        </p:nvSpPr>
        <p:spPr>
          <a:xfrm>
            <a:off x="7287768" y="2377440"/>
            <a:ext cx="685800" cy="685800"/>
          </a:xfrm>
          <a:prstGeom prst="ellipse">
            <a:avLst/>
          </a:prstGeom>
          <a:solidFill>
            <a:srgbClr val="6D2E46"/>
          </a:solidFill>
          <a:ln w="12700">
            <a:solidFill>
              <a:srgbClr val="6D2E46"/>
            </a:solidFill>
            <a:prstDash val="solid"/>
          </a:ln>
        </p:spPr>
      </p:sp>
      <p:sp>
        <p:nvSpPr>
          <p:cNvPr id="19" name="Text 17"/>
          <p:cNvSpPr/>
          <p:nvPr/>
        </p:nvSpPr>
        <p:spPr>
          <a:xfrm>
            <a:off x="7287768" y="2377440"/>
            <a:ext cx="685800" cy="68580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0" name="Text 18"/>
          <p:cNvSpPr/>
          <p:nvPr/>
        </p:nvSpPr>
        <p:spPr>
          <a:xfrm>
            <a:off x="6556248" y="3246120"/>
            <a:ext cx="2148840" cy="228600"/>
          </a:xfrm>
          <a:prstGeom prst="rect">
            <a:avLst/>
          </a:prstGeom>
          <a:noFill/>
          <a:ln/>
        </p:spPr>
        <p:txBody>
          <a:bodyPr wrap="square" lIns="0" tIns="0" rIns="0" bIns="0" rtlCol="0" anchor="ctr"/>
          <a:lstStyle/>
          <a:p>
            <a:pPr marL="0" indent="0" algn="ctr">
              <a:buNone/>
            </a:pPr>
            <a:r>
              <a:rPr lang="en-US" sz="1000" b="1" kern="0" spc="150" dirty="0">
                <a:solidFill>
                  <a:srgbClr val="9A4257"/>
                </a:solidFill>
                <a:latin typeface="Calibri" pitchFamily="34" charset="0"/>
                <a:ea typeface="Calibri" pitchFamily="34" charset="-122"/>
                <a:cs typeface="Calibri" pitchFamily="34" charset="-120"/>
              </a:rPr>
              <a:t>SUSPECT 03</a:t>
            </a:r>
            <a:endParaRPr lang="en-US" sz="1000" dirty="0"/>
          </a:p>
        </p:txBody>
      </p:sp>
      <p:sp>
        <p:nvSpPr>
          <p:cNvPr id="21" name="Text 19"/>
          <p:cNvSpPr/>
          <p:nvPr/>
        </p:nvSpPr>
        <p:spPr>
          <a:xfrm>
            <a:off x="6556248" y="3493008"/>
            <a:ext cx="2148840" cy="365760"/>
          </a:xfrm>
          <a:prstGeom prst="rect">
            <a:avLst/>
          </a:prstGeom>
          <a:noFill/>
          <a:ln/>
        </p:spPr>
        <p:txBody>
          <a:bodyPr wrap="square" lIns="0" tIns="0" rIns="0" bIns="0" rtlCol="0" anchor="ctr"/>
          <a:lstStyle/>
          <a:p>
            <a:pPr marL="0" indent="0" algn="ctr">
              <a:buNone/>
            </a:pPr>
            <a:r>
              <a:rPr lang="en-US" sz="2000" b="1" dirty="0">
                <a:solidFill>
                  <a:srgbClr val="6D2E46"/>
                </a:solidFill>
                <a:latin typeface="Cambria" pitchFamily="34" charset="0"/>
                <a:ea typeface="Cambria" pitchFamily="34" charset="-122"/>
                <a:cs typeface="Cambria" pitchFamily="34" charset="-120"/>
              </a:rPr>
              <a:t>Location</a:t>
            </a:r>
            <a:endParaRPr lang="en-US" sz="2000" dirty="0"/>
          </a:p>
        </p:txBody>
      </p:sp>
      <p:sp>
        <p:nvSpPr>
          <p:cNvPr id="22" name="Text 20"/>
          <p:cNvSpPr/>
          <p:nvPr/>
        </p:nvSpPr>
        <p:spPr>
          <a:xfrm>
            <a:off x="6556248" y="3950208"/>
            <a:ext cx="2148840" cy="1005840"/>
          </a:xfrm>
          <a:prstGeom prst="rect">
            <a:avLst/>
          </a:prstGeom>
          <a:noFill/>
          <a:ln/>
        </p:spPr>
        <p:txBody>
          <a:bodyPr wrap="square" lIns="0" tIns="0" rIns="0" bIns="0" rtlCol="0" anchor="ctr"/>
          <a:lstStyle/>
          <a:p>
            <a:pPr marL="0" indent="0" algn="ctr">
              <a:lnSpc>
                <a:spcPts val="1800"/>
              </a:lnSpc>
              <a:buNone/>
            </a:pPr>
            <a:r>
              <a:rPr lang="en-US" sz="1250" dirty="0">
                <a:solidFill>
                  <a:srgbClr val="5F5155"/>
                </a:solidFill>
                <a:latin typeface="Calibri" pitchFamily="34" charset="0"/>
                <a:ea typeface="Calibri" pitchFamily="34" charset="-122"/>
                <a:cs typeface="Calibri" pitchFamily="34" charset="-120"/>
              </a:rPr>
              <a:t>A few weak outlets are dragging the chain down.</a:t>
            </a:r>
            <a:endParaRPr lang="en-US" sz="1250" dirty="0"/>
          </a:p>
        </p:txBody>
      </p:sp>
      <p:sp>
        <p:nvSpPr>
          <p:cNvPr id="23" name="Shape 21"/>
          <p:cNvSpPr/>
          <p:nvPr/>
        </p:nvSpPr>
        <p:spPr>
          <a:xfrm>
            <a:off x="9171432" y="2057400"/>
            <a:ext cx="2606040" cy="3063240"/>
          </a:xfrm>
          <a:prstGeom prst="roundRect">
            <a:avLst>
              <a:gd name="adj" fmla="val 3158"/>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24" name="Shape 22"/>
          <p:cNvSpPr/>
          <p:nvPr/>
        </p:nvSpPr>
        <p:spPr>
          <a:xfrm>
            <a:off x="10131552" y="2377440"/>
            <a:ext cx="685800" cy="685800"/>
          </a:xfrm>
          <a:prstGeom prst="ellipse">
            <a:avLst/>
          </a:prstGeom>
          <a:solidFill>
            <a:srgbClr val="6D2E46"/>
          </a:solidFill>
          <a:ln w="12700">
            <a:solidFill>
              <a:srgbClr val="6D2E46"/>
            </a:solidFill>
            <a:prstDash val="solid"/>
          </a:ln>
        </p:spPr>
      </p:sp>
      <p:sp>
        <p:nvSpPr>
          <p:cNvPr id="25" name="Text 23"/>
          <p:cNvSpPr/>
          <p:nvPr/>
        </p:nvSpPr>
        <p:spPr>
          <a:xfrm>
            <a:off x="10131552" y="2377440"/>
            <a:ext cx="685800" cy="68580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6" name="Text 24"/>
          <p:cNvSpPr/>
          <p:nvPr/>
        </p:nvSpPr>
        <p:spPr>
          <a:xfrm>
            <a:off x="9400032" y="3246120"/>
            <a:ext cx="2148840" cy="228600"/>
          </a:xfrm>
          <a:prstGeom prst="rect">
            <a:avLst/>
          </a:prstGeom>
          <a:noFill/>
          <a:ln/>
        </p:spPr>
        <p:txBody>
          <a:bodyPr wrap="square" lIns="0" tIns="0" rIns="0" bIns="0" rtlCol="0" anchor="ctr"/>
          <a:lstStyle/>
          <a:p>
            <a:pPr marL="0" indent="0" algn="ctr">
              <a:buNone/>
            </a:pPr>
            <a:r>
              <a:rPr lang="en-US" sz="1000" b="1" kern="0" spc="150" dirty="0">
                <a:solidFill>
                  <a:srgbClr val="9A4257"/>
                </a:solidFill>
                <a:latin typeface="Calibri" pitchFamily="34" charset="0"/>
                <a:ea typeface="Calibri" pitchFamily="34" charset="-122"/>
                <a:cs typeface="Calibri" pitchFamily="34" charset="-120"/>
              </a:rPr>
              <a:t>SUSPECT 04</a:t>
            </a:r>
            <a:endParaRPr lang="en-US" sz="1000" dirty="0"/>
          </a:p>
        </p:txBody>
      </p:sp>
      <p:sp>
        <p:nvSpPr>
          <p:cNvPr id="27" name="Text 25"/>
          <p:cNvSpPr/>
          <p:nvPr/>
        </p:nvSpPr>
        <p:spPr>
          <a:xfrm>
            <a:off x="9400032" y="3493008"/>
            <a:ext cx="2148840" cy="365760"/>
          </a:xfrm>
          <a:prstGeom prst="rect">
            <a:avLst/>
          </a:prstGeom>
          <a:noFill/>
          <a:ln/>
        </p:spPr>
        <p:txBody>
          <a:bodyPr wrap="square" lIns="0" tIns="0" rIns="0" bIns="0" rtlCol="0" anchor="ctr"/>
          <a:lstStyle/>
          <a:p>
            <a:pPr marL="0" indent="0" algn="ctr">
              <a:buNone/>
            </a:pPr>
            <a:r>
              <a:rPr lang="en-US" sz="2000" b="1" dirty="0">
                <a:solidFill>
                  <a:srgbClr val="6D2E46"/>
                </a:solidFill>
                <a:latin typeface="Cambria" pitchFamily="34" charset="0"/>
                <a:ea typeface="Cambria" pitchFamily="34" charset="-122"/>
                <a:cs typeface="Cambria" pitchFamily="34" charset="-120"/>
              </a:rPr>
              <a:t>Seasonality</a:t>
            </a:r>
            <a:endParaRPr lang="en-US" sz="2000" dirty="0"/>
          </a:p>
        </p:txBody>
      </p:sp>
      <p:sp>
        <p:nvSpPr>
          <p:cNvPr id="28" name="Text 26"/>
          <p:cNvSpPr/>
          <p:nvPr/>
        </p:nvSpPr>
        <p:spPr>
          <a:xfrm>
            <a:off x="9400032" y="3950208"/>
            <a:ext cx="2148840" cy="1005840"/>
          </a:xfrm>
          <a:prstGeom prst="rect">
            <a:avLst/>
          </a:prstGeom>
          <a:noFill/>
          <a:ln/>
        </p:spPr>
        <p:txBody>
          <a:bodyPr wrap="square" lIns="0" tIns="0" rIns="0" bIns="0" rtlCol="0" anchor="ctr"/>
          <a:lstStyle/>
          <a:p>
            <a:pPr marL="0" indent="0" algn="ctr">
              <a:lnSpc>
                <a:spcPts val="1800"/>
              </a:lnSpc>
              <a:buNone/>
            </a:pPr>
            <a:r>
              <a:rPr lang="en-US" sz="1250" dirty="0">
                <a:solidFill>
                  <a:srgbClr val="5F5155"/>
                </a:solidFill>
                <a:latin typeface="Calibri" pitchFamily="34" charset="0"/>
                <a:ea typeface="Calibri" pitchFamily="34" charset="-122"/>
                <a:cs typeface="Calibri" pitchFamily="34" charset="-120"/>
              </a:rPr>
              <a:t>This is a normal annual cycle, not a decline.</a:t>
            </a:r>
            <a:endParaRPr lang="en-US" sz="1250" dirty="0"/>
          </a:p>
        </p:txBody>
      </p:sp>
      <p:sp>
        <p:nvSpPr>
          <p:cNvPr id="29" name="Text 27"/>
          <p:cNvSpPr/>
          <p:nvPr/>
        </p:nvSpPr>
        <p:spPr>
          <a:xfrm>
            <a:off x="640080" y="5394960"/>
            <a:ext cx="10881360" cy="411480"/>
          </a:xfrm>
          <a:prstGeom prst="rect">
            <a:avLst/>
          </a:prstGeom>
          <a:noFill/>
          <a:ln/>
        </p:spPr>
        <p:txBody>
          <a:bodyPr wrap="square" lIns="0" tIns="0" rIns="0" bIns="0" rtlCol="0" anchor="ctr"/>
          <a:lstStyle/>
          <a:p>
            <a:pPr marL="0" indent="0">
              <a:buNone/>
            </a:pPr>
            <a:r>
              <a:rPr lang="en-US" sz="1900" b="1" i="1" dirty="0">
                <a:solidFill>
                  <a:srgbClr val="B3382C"/>
                </a:solidFill>
                <a:latin typeface="Cambria" pitchFamily="34" charset="0"/>
                <a:ea typeface="Cambria" pitchFamily="34" charset="-122"/>
                <a:cs typeface="Cambria" pitchFamily="34" charset="-120"/>
              </a:rPr>
              <a:t>Spoiler: all four are innocent.</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34CB8-7467-7C79-5C86-A6816347DDD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C3F74D-3239-E7BD-0CD4-C06E68E5C5E6}"/>
              </a:ext>
            </a:extLst>
          </p:cNvPr>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cs typeface="Calibri" pitchFamily="34" charset="-120"/>
              </a:rPr>
              <a:t>ELIMINATION 1 AND 2 </a:t>
            </a:r>
            <a:endParaRPr lang="en-US" sz="1150" dirty="0"/>
          </a:p>
        </p:txBody>
      </p:sp>
      <p:sp>
        <p:nvSpPr>
          <p:cNvPr id="3" name="Text 1">
            <a:extLst>
              <a:ext uri="{FF2B5EF4-FFF2-40B4-BE49-F238E27FC236}">
                <a16:creationId xmlns:a16="http://schemas.microsoft.com/office/drawing/2014/main" id="{83836A3C-1C4C-F0E0-6B74-8A3BDE671E7F}"/>
              </a:ext>
            </a:extLst>
          </p:cNvPr>
          <p:cNvSpPr/>
          <p:nvPr/>
        </p:nvSpPr>
        <p:spPr>
          <a:xfrm>
            <a:off x="640080" y="411480"/>
            <a:ext cx="10881360" cy="68580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Not price. Not competition.</a:t>
            </a:r>
            <a:endParaRPr lang="en-US" sz="3400" dirty="0"/>
          </a:p>
        </p:txBody>
      </p:sp>
      <p:sp>
        <p:nvSpPr>
          <p:cNvPr id="4" name="Shape 4">
            <a:extLst>
              <a:ext uri="{FF2B5EF4-FFF2-40B4-BE49-F238E27FC236}">
                <a16:creationId xmlns:a16="http://schemas.microsoft.com/office/drawing/2014/main" id="{6BAB9F74-161F-8EC6-F058-0614FE2374F3}"/>
              </a:ext>
            </a:extLst>
          </p:cNvPr>
          <p:cNvSpPr/>
          <p:nvPr/>
        </p:nvSpPr>
        <p:spPr>
          <a:xfrm>
            <a:off x="1228931" y="5669280"/>
            <a:ext cx="9942174" cy="640080"/>
          </a:xfrm>
          <a:prstGeom prst="roundRect">
            <a:avLst>
              <a:gd name="adj" fmla="val 7407"/>
            </a:avLst>
          </a:prstGeom>
          <a:solidFill>
            <a:srgbClr val="6D2E46"/>
          </a:solidFill>
          <a:ln w="12700">
            <a:solidFill>
              <a:srgbClr val="333333"/>
            </a:solidFill>
            <a:prstDash val="solid"/>
          </a:ln>
        </p:spPr>
        <p:txBody>
          <a:bodyPr/>
          <a:lstStyle/>
          <a:p>
            <a:endParaRPr lang="en-US" dirty="0"/>
          </a:p>
        </p:txBody>
      </p:sp>
      <p:sp>
        <p:nvSpPr>
          <p:cNvPr id="12" name="TextBox 11">
            <a:extLst>
              <a:ext uri="{FF2B5EF4-FFF2-40B4-BE49-F238E27FC236}">
                <a16:creationId xmlns:a16="http://schemas.microsoft.com/office/drawing/2014/main" id="{93345B59-0959-5130-2339-73BAACEBF7F3}"/>
              </a:ext>
            </a:extLst>
          </p:cNvPr>
          <p:cNvSpPr txBox="1"/>
          <p:nvPr/>
        </p:nvSpPr>
        <p:spPr>
          <a:xfrm>
            <a:off x="1228931" y="5804654"/>
            <a:ext cx="9734137" cy="307777"/>
          </a:xfrm>
          <a:prstGeom prst="rect">
            <a:avLst/>
          </a:prstGeom>
          <a:noFill/>
        </p:spPr>
        <p:txBody>
          <a:bodyPr wrap="square" rtlCol="0">
            <a:spAutoFit/>
          </a:bodyPr>
          <a:lstStyle/>
          <a:p>
            <a:r>
              <a:rPr lang="en-US" sz="1400" dirty="0">
                <a:solidFill>
                  <a:schemeClr val="bg1"/>
                </a:solidFill>
                <a:latin typeface="+mj-lt"/>
              </a:rPr>
              <a:t>Both suspects released. The decline is happening everywhere, to everyone, regardless of price or rivals</a:t>
            </a:r>
          </a:p>
        </p:txBody>
      </p:sp>
      <p:sp>
        <p:nvSpPr>
          <p:cNvPr id="15" name="TextBox 14">
            <a:extLst>
              <a:ext uri="{FF2B5EF4-FFF2-40B4-BE49-F238E27FC236}">
                <a16:creationId xmlns:a16="http://schemas.microsoft.com/office/drawing/2014/main" id="{F16899BC-187C-5EE1-2B9F-923ABBD779DF}"/>
              </a:ext>
            </a:extLst>
          </p:cNvPr>
          <p:cNvSpPr txBox="1"/>
          <p:nvPr/>
        </p:nvSpPr>
        <p:spPr>
          <a:xfrm>
            <a:off x="1228931" y="4979624"/>
            <a:ext cx="4576958" cy="584775"/>
          </a:xfrm>
          <a:prstGeom prst="rect">
            <a:avLst/>
          </a:prstGeom>
          <a:noFill/>
        </p:spPr>
        <p:txBody>
          <a:bodyPr wrap="square" rtlCol="0">
            <a:spAutoFit/>
          </a:bodyPr>
          <a:lstStyle/>
          <a:p>
            <a:r>
              <a:rPr lang="en-US" sz="1600" dirty="0"/>
              <a:t>We raised prices 4.1% while the market rise by 6.8%. IN real terms, Saffron and Sage got cheaper.</a:t>
            </a:r>
          </a:p>
        </p:txBody>
      </p:sp>
      <p:sp>
        <p:nvSpPr>
          <p:cNvPr id="16" name="TextBox 15">
            <a:extLst>
              <a:ext uri="{FF2B5EF4-FFF2-40B4-BE49-F238E27FC236}">
                <a16:creationId xmlns:a16="http://schemas.microsoft.com/office/drawing/2014/main" id="{B1842708-FCE9-7650-73A4-757C22AE0891}"/>
              </a:ext>
            </a:extLst>
          </p:cNvPr>
          <p:cNvSpPr txBox="1"/>
          <p:nvPr/>
        </p:nvSpPr>
        <p:spPr>
          <a:xfrm>
            <a:off x="6386110" y="4992624"/>
            <a:ext cx="5622276" cy="584775"/>
          </a:xfrm>
          <a:prstGeom prst="rect">
            <a:avLst/>
          </a:prstGeom>
          <a:noFill/>
        </p:spPr>
        <p:txBody>
          <a:bodyPr wrap="square" rtlCol="0">
            <a:spAutoFit/>
          </a:bodyPr>
          <a:lstStyle/>
          <a:p>
            <a:r>
              <a:rPr lang="en-US" sz="1600" dirty="0"/>
              <a:t>Outlets with a new rival next door declines 24.1%. Outlets with no rivals declined 22%. A 2-point gap explains almost nothing.</a:t>
            </a:r>
          </a:p>
        </p:txBody>
      </p:sp>
      <p:sp>
        <p:nvSpPr>
          <p:cNvPr id="18" name="Text 0">
            <a:extLst>
              <a:ext uri="{FF2B5EF4-FFF2-40B4-BE49-F238E27FC236}">
                <a16:creationId xmlns:a16="http://schemas.microsoft.com/office/drawing/2014/main" id="{DAE3CE83-1705-BA7E-FD83-4CE0D5E26A48}"/>
              </a:ext>
            </a:extLst>
          </p:cNvPr>
          <p:cNvSpPr/>
          <p:nvPr/>
        </p:nvSpPr>
        <p:spPr>
          <a:xfrm>
            <a:off x="640080" y="1443761"/>
            <a:ext cx="2027104"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cs typeface="Calibri" pitchFamily="34" charset="-120"/>
              </a:rPr>
              <a:t>SUSPECT 01 - PRICING</a:t>
            </a:r>
            <a:endParaRPr lang="en-US" sz="1150" dirty="0"/>
          </a:p>
        </p:txBody>
      </p:sp>
      <p:sp>
        <p:nvSpPr>
          <p:cNvPr id="19" name="Text 0">
            <a:extLst>
              <a:ext uri="{FF2B5EF4-FFF2-40B4-BE49-F238E27FC236}">
                <a16:creationId xmlns:a16="http://schemas.microsoft.com/office/drawing/2014/main" id="{AEB1C979-4713-A7E4-1A5C-A581F8916814}"/>
              </a:ext>
            </a:extLst>
          </p:cNvPr>
          <p:cNvSpPr/>
          <p:nvPr/>
        </p:nvSpPr>
        <p:spPr>
          <a:xfrm>
            <a:off x="6386110" y="1443761"/>
            <a:ext cx="258162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cs typeface="Calibri" pitchFamily="34" charset="-120"/>
              </a:rPr>
              <a:t>SUSPECT 02 - COMPETITION</a:t>
            </a:r>
            <a:endParaRPr lang="en-US" sz="1150" dirty="0"/>
          </a:p>
        </p:txBody>
      </p:sp>
      <p:pic>
        <p:nvPicPr>
          <p:cNvPr id="20" name="slide2" descr="Sheet 1">
            <a:extLst>
              <a:ext uri="{FF2B5EF4-FFF2-40B4-BE49-F238E27FC236}">
                <a16:creationId xmlns:a16="http://schemas.microsoft.com/office/drawing/2014/main" id="{281A009C-4DFF-2D4F-1CC8-9D2BD9F2CB0C}"/>
              </a:ext>
            </a:extLst>
          </p:cNvPr>
          <p:cNvPicPr>
            <a:picLocks noChangeAspect="1"/>
          </p:cNvPicPr>
          <p:nvPr/>
        </p:nvPicPr>
        <p:blipFill>
          <a:blip r:embed="rId3">
            <a:extLst>
              <a:ext uri="{28A0092B-C50C-407E-A947-70E740481C1C}">
                <a14:useLocalDpi xmlns:a14="http://schemas.microsoft.com/office/drawing/2010/main" val="0"/>
              </a:ext>
            </a:extLst>
          </a:blip>
          <a:srcRect t="8328" r="22380" b="6606"/>
          <a:stretch>
            <a:fillRect/>
          </a:stretch>
        </p:blipFill>
        <p:spPr>
          <a:xfrm>
            <a:off x="557883" y="1718081"/>
            <a:ext cx="5248006" cy="3126169"/>
          </a:xfrm>
          <a:prstGeom prst="rect">
            <a:avLst/>
          </a:prstGeom>
        </p:spPr>
      </p:pic>
      <p:pic>
        <p:nvPicPr>
          <p:cNvPr id="21" name="slide2" descr="Slide 6 R competition">
            <a:extLst>
              <a:ext uri="{FF2B5EF4-FFF2-40B4-BE49-F238E27FC236}">
                <a16:creationId xmlns:a16="http://schemas.microsoft.com/office/drawing/2014/main" id="{3D74DCB0-019F-D695-D679-F2FCE4B17FA8}"/>
              </a:ext>
            </a:extLst>
          </p:cNvPr>
          <p:cNvPicPr>
            <a:picLocks noChangeAspect="1"/>
          </p:cNvPicPr>
          <p:nvPr/>
        </p:nvPicPr>
        <p:blipFill>
          <a:blip r:embed="rId4">
            <a:extLst>
              <a:ext uri="{28A0092B-C50C-407E-A947-70E740481C1C}">
                <a14:useLocalDpi xmlns:a14="http://schemas.microsoft.com/office/drawing/2010/main" val="0"/>
              </a:ext>
            </a:extLst>
          </a:blip>
          <a:srcRect l="3342" t="11693" b="17063"/>
          <a:stretch>
            <a:fillRect/>
          </a:stretch>
        </p:blipFill>
        <p:spPr>
          <a:xfrm>
            <a:off x="6127764" y="1759766"/>
            <a:ext cx="5622276" cy="2891653"/>
          </a:xfrm>
          <a:prstGeom prst="rect">
            <a:avLst/>
          </a:prstGeom>
          <a:solidFill>
            <a:schemeClr val="bg2">
              <a:lumMod val="75000"/>
            </a:schemeClr>
          </a:solidFill>
        </p:spPr>
      </p:pic>
    </p:spTree>
    <p:extLst>
      <p:ext uri="{BB962C8B-B14F-4D97-AF65-F5344CB8AC3E}">
        <p14:creationId xmlns:p14="http://schemas.microsoft.com/office/powerpoint/2010/main" val="3785336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1589D-BEC7-9613-7367-DD84BBDC22C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F03990-7842-530A-3374-3D6422FC89AD}"/>
              </a:ext>
            </a:extLst>
          </p:cNvPr>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cs typeface="Calibri" pitchFamily="34" charset="-120"/>
              </a:rPr>
              <a:t>ELIMINATION 3 AND 4 </a:t>
            </a:r>
            <a:endParaRPr lang="en-US" sz="1150" dirty="0"/>
          </a:p>
        </p:txBody>
      </p:sp>
      <p:sp>
        <p:nvSpPr>
          <p:cNvPr id="3" name="Text 1">
            <a:extLst>
              <a:ext uri="{FF2B5EF4-FFF2-40B4-BE49-F238E27FC236}">
                <a16:creationId xmlns:a16="http://schemas.microsoft.com/office/drawing/2014/main" id="{45BA1777-8E9C-29D3-25D5-19BFC228CB28}"/>
              </a:ext>
            </a:extLst>
          </p:cNvPr>
          <p:cNvSpPr/>
          <p:nvPr/>
        </p:nvSpPr>
        <p:spPr>
          <a:xfrm>
            <a:off x="640080" y="411480"/>
            <a:ext cx="10881360" cy="68580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Not location. Not the season.</a:t>
            </a:r>
            <a:endParaRPr lang="en-US" sz="3400" dirty="0"/>
          </a:p>
        </p:txBody>
      </p:sp>
      <p:sp>
        <p:nvSpPr>
          <p:cNvPr id="4" name="Shape 4">
            <a:extLst>
              <a:ext uri="{FF2B5EF4-FFF2-40B4-BE49-F238E27FC236}">
                <a16:creationId xmlns:a16="http://schemas.microsoft.com/office/drawing/2014/main" id="{65EFAC20-3196-8A8A-1851-6294397575DA}"/>
              </a:ext>
            </a:extLst>
          </p:cNvPr>
          <p:cNvSpPr/>
          <p:nvPr/>
        </p:nvSpPr>
        <p:spPr>
          <a:xfrm>
            <a:off x="640080" y="5669280"/>
            <a:ext cx="11109960" cy="640080"/>
          </a:xfrm>
          <a:prstGeom prst="roundRect">
            <a:avLst>
              <a:gd name="adj" fmla="val 7407"/>
            </a:avLst>
          </a:prstGeom>
          <a:solidFill>
            <a:srgbClr val="6D2E46"/>
          </a:solidFill>
          <a:ln w="12700">
            <a:solidFill>
              <a:srgbClr val="333333"/>
            </a:solidFill>
            <a:prstDash val="solid"/>
          </a:ln>
        </p:spPr>
        <p:txBody>
          <a:bodyPr/>
          <a:lstStyle/>
          <a:p>
            <a:endParaRPr lang="en-US" dirty="0"/>
          </a:p>
        </p:txBody>
      </p:sp>
      <p:sp>
        <p:nvSpPr>
          <p:cNvPr id="12" name="TextBox 11">
            <a:extLst>
              <a:ext uri="{FF2B5EF4-FFF2-40B4-BE49-F238E27FC236}">
                <a16:creationId xmlns:a16="http://schemas.microsoft.com/office/drawing/2014/main" id="{F98B5992-C8E8-AB68-438A-70FB5368F138}"/>
              </a:ext>
            </a:extLst>
          </p:cNvPr>
          <p:cNvSpPr txBox="1"/>
          <p:nvPr/>
        </p:nvSpPr>
        <p:spPr>
          <a:xfrm>
            <a:off x="1817783" y="5804654"/>
            <a:ext cx="7821976" cy="369332"/>
          </a:xfrm>
          <a:prstGeom prst="rect">
            <a:avLst/>
          </a:prstGeom>
          <a:noFill/>
        </p:spPr>
        <p:txBody>
          <a:bodyPr wrap="square" rtlCol="0">
            <a:spAutoFit/>
          </a:bodyPr>
          <a:lstStyle/>
          <a:p>
            <a:r>
              <a:rPr lang="en-US" dirty="0">
                <a:solidFill>
                  <a:schemeClr val="bg1"/>
                </a:solidFill>
              </a:rPr>
              <a:t>Four suspects. Four alibis. Which means we had been asking the wrong question</a:t>
            </a:r>
          </a:p>
        </p:txBody>
      </p:sp>
      <p:sp>
        <p:nvSpPr>
          <p:cNvPr id="5" name="TextBox 4">
            <a:extLst>
              <a:ext uri="{FF2B5EF4-FFF2-40B4-BE49-F238E27FC236}">
                <a16:creationId xmlns:a16="http://schemas.microsoft.com/office/drawing/2014/main" id="{763B4942-137C-2066-4AB4-4EEF26C81164}"/>
              </a:ext>
            </a:extLst>
          </p:cNvPr>
          <p:cNvSpPr txBox="1"/>
          <p:nvPr/>
        </p:nvSpPr>
        <p:spPr>
          <a:xfrm>
            <a:off x="1228931" y="4979624"/>
            <a:ext cx="4576958" cy="584775"/>
          </a:xfrm>
          <a:prstGeom prst="rect">
            <a:avLst/>
          </a:prstGeom>
          <a:noFill/>
        </p:spPr>
        <p:txBody>
          <a:bodyPr wrap="square" rtlCol="0">
            <a:spAutoFit/>
          </a:bodyPr>
          <a:lstStyle/>
          <a:p>
            <a:r>
              <a:rPr lang="en-US" sz="1600" dirty="0"/>
              <a:t>All 12 outlets fell, in a tight band from -18% to -27% there is no weak outlet story here, this is systemic</a:t>
            </a:r>
          </a:p>
        </p:txBody>
      </p:sp>
      <p:sp>
        <p:nvSpPr>
          <p:cNvPr id="6" name="TextBox 5">
            <a:extLst>
              <a:ext uri="{FF2B5EF4-FFF2-40B4-BE49-F238E27FC236}">
                <a16:creationId xmlns:a16="http://schemas.microsoft.com/office/drawing/2014/main" id="{CE71761D-ABDE-F5A5-60CD-95EEEB5D9535}"/>
              </a:ext>
            </a:extLst>
          </p:cNvPr>
          <p:cNvSpPr txBox="1"/>
          <p:nvPr/>
        </p:nvSpPr>
        <p:spPr>
          <a:xfrm>
            <a:off x="6386110" y="4992624"/>
            <a:ext cx="5622276" cy="584775"/>
          </a:xfrm>
          <a:prstGeom prst="rect">
            <a:avLst/>
          </a:prstGeom>
          <a:noFill/>
        </p:spPr>
        <p:txBody>
          <a:bodyPr wrap="square" rtlCol="0">
            <a:spAutoFit/>
          </a:bodyPr>
          <a:lstStyle/>
          <a:p>
            <a:r>
              <a:rPr lang="en-US" sz="1600" dirty="0"/>
              <a:t>Same months, same festivals, same monsoon. 2024 held flat. 2025 slides away from it every single month.</a:t>
            </a:r>
          </a:p>
        </p:txBody>
      </p:sp>
      <p:sp>
        <p:nvSpPr>
          <p:cNvPr id="7" name="Text 0">
            <a:extLst>
              <a:ext uri="{FF2B5EF4-FFF2-40B4-BE49-F238E27FC236}">
                <a16:creationId xmlns:a16="http://schemas.microsoft.com/office/drawing/2014/main" id="{2B6976E4-7CF1-0115-0B11-2097E0BF23A9}"/>
              </a:ext>
            </a:extLst>
          </p:cNvPr>
          <p:cNvSpPr/>
          <p:nvPr/>
        </p:nvSpPr>
        <p:spPr>
          <a:xfrm>
            <a:off x="640080" y="1443761"/>
            <a:ext cx="231244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cs typeface="Calibri" pitchFamily="34" charset="-120"/>
              </a:rPr>
              <a:t>SUSPECT 03 - LOCATION</a:t>
            </a:r>
            <a:endParaRPr lang="en-US" sz="1150" dirty="0"/>
          </a:p>
        </p:txBody>
      </p:sp>
      <p:sp>
        <p:nvSpPr>
          <p:cNvPr id="8" name="Text 0">
            <a:extLst>
              <a:ext uri="{FF2B5EF4-FFF2-40B4-BE49-F238E27FC236}">
                <a16:creationId xmlns:a16="http://schemas.microsoft.com/office/drawing/2014/main" id="{3DA53A13-B158-469B-93D7-91D40276A8D2}"/>
              </a:ext>
            </a:extLst>
          </p:cNvPr>
          <p:cNvSpPr/>
          <p:nvPr/>
        </p:nvSpPr>
        <p:spPr>
          <a:xfrm>
            <a:off x="6615628" y="1443761"/>
            <a:ext cx="258162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cs typeface="Calibri" pitchFamily="34" charset="-120"/>
              </a:rPr>
              <a:t>SUSPECT 04 - SEASONALITY</a:t>
            </a:r>
            <a:endParaRPr lang="en-US" sz="1150" dirty="0"/>
          </a:p>
        </p:txBody>
      </p:sp>
      <p:pic>
        <p:nvPicPr>
          <p:cNvPr id="9" name="slide2" descr="Chart 4">
            <a:extLst>
              <a:ext uri="{FF2B5EF4-FFF2-40B4-BE49-F238E27FC236}">
                <a16:creationId xmlns:a16="http://schemas.microsoft.com/office/drawing/2014/main" id="{DBC15A02-F213-587B-1F6C-2E63B9DE3174}"/>
              </a:ext>
            </a:extLst>
          </p:cNvPr>
          <p:cNvPicPr>
            <a:picLocks noChangeAspect="1"/>
          </p:cNvPicPr>
          <p:nvPr/>
        </p:nvPicPr>
        <p:blipFill>
          <a:blip r:embed="rId3">
            <a:extLst>
              <a:ext uri="{28A0092B-C50C-407E-A947-70E740481C1C}">
                <a14:useLocalDpi xmlns:a14="http://schemas.microsoft.com/office/drawing/2010/main" val="0"/>
              </a:ext>
            </a:extLst>
          </a:blip>
          <a:srcRect l="24496" t="7284" b="15728"/>
          <a:stretch>
            <a:fillRect/>
          </a:stretch>
        </p:blipFill>
        <p:spPr>
          <a:xfrm>
            <a:off x="640079" y="1809963"/>
            <a:ext cx="5165810" cy="3034288"/>
          </a:xfrm>
          <a:prstGeom prst="rect">
            <a:avLst/>
          </a:prstGeom>
        </p:spPr>
      </p:pic>
      <p:pic>
        <p:nvPicPr>
          <p:cNvPr id="10" name="slide2" descr="Chart 5">
            <a:extLst>
              <a:ext uri="{FF2B5EF4-FFF2-40B4-BE49-F238E27FC236}">
                <a16:creationId xmlns:a16="http://schemas.microsoft.com/office/drawing/2014/main" id="{91CC0EAF-575F-496A-A560-AB40FCDE57DC}"/>
              </a:ext>
            </a:extLst>
          </p:cNvPr>
          <p:cNvPicPr>
            <a:picLocks noChangeAspect="1"/>
          </p:cNvPicPr>
          <p:nvPr/>
        </p:nvPicPr>
        <p:blipFill>
          <a:blip r:embed="rId4">
            <a:extLst>
              <a:ext uri="{28A0092B-C50C-407E-A947-70E740481C1C}">
                <a14:useLocalDpi xmlns:a14="http://schemas.microsoft.com/office/drawing/2010/main" val="0"/>
              </a:ext>
            </a:extLst>
          </a:blip>
          <a:srcRect t="5916" r="10475" b="4058"/>
          <a:stretch>
            <a:fillRect/>
          </a:stretch>
        </p:blipFill>
        <p:spPr>
          <a:xfrm>
            <a:off x="6343113" y="1773064"/>
            <a:ext cx="5406927" cy="3108085"/>
          </a:xfrm>
          <a:prstGeom prst="rect">
            <a:avLst/>
          </a:prstGeom>
        </p:spPr>
      </p:pic>
    </p:spTree>
    <p:extLst>
      <p:ext uri="{BB962C8B-B14F-4D97-AF65-F5344CB8AC3E}">
        <p14:creationId xmlns:p14="http://schemas.microsoft.com/office/powerpoint/2010/main" val="2377037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752926" y="-1475709"/>
            <a:ext cx="7024827" cy="6893529"/>
          </a:xfrm>
          <a:prstGeom prst="ellipse">
            <a:avLst/>
          </a:prstGeom>
          <a:solidFill>
            <a:srgbClr val="4A1B2C"/>
          </a:solidFill>
          <a:ln w="12700">
            <a:solidFill>
              <a:srgbClr val="333333"/>
            </a:solidFill>
            <a:prstDash val="solid"/>
          </a:ln>
        </p:spPr>
      </p:sp>
      <p:sp>
        <p:nvSpPr>
          <p:cNvPr id="3" name="Text 1"/>
          <p:cNvSpPr/>
          <p:nvPr/>
        </p:nvSpPr>
        <p:spPr>
          <a:xfrm>
            <a:off x="1005840" y="1143000"/>
            <a:ext cx="5486400" cy="274320"/>
          </a:xfrm>
          <a:prstGeom prst="rect">
            <a:avLst/>
          </a:prstGeom>
          <a:noFill/>
          <a:ln/>
        </p:spPr>
        <p:txBody>
          <a:bodyPr wrap="square" lIns="0" tIns="0" rIns="0" bIns="0" rtlCol="0" anchor="ctr"/>
          <a:lstStyle/>
          <a:p>
            <a:pPr marL="0" indent="0">
              <a:buNone/>
            </a:pPr>
            <a:r>
              <a:rPr lang="en-US" sz="1150" b="1" kern="0" spc="220" dirty="0">
                <a:solidFill>
                  <a:srgbClr val="F2CF6D"/>
                </a:solidFill>
                <a:latin typeface="Calibri" pitchFamily="34" charset="0"/>
                <a:ea typeface="Calibri" pitchFamily="34" charset="-122"/>
                <a:cs typeface="Calibri" pitchFamily="34" charset="-120"/>
              </a:rPr>
              <a:t>THE TURN</a:t>
            </a:r>
            <a:endParaRPr lang="en-US" sz="1150" dirty="0"/>
          </a:p>
        </p:txBody>
      </p:sp>
      <p:sp>
        <p:nvSpPr>
          <p:cNvPr id="4" name="Text 2"/>
          <p:cNvSpPr/>
          <p:nvPr/>
        </p:nvSpPr>
        <p:spPr>
          <a:xfrm>
            <a:off x="1005840" y="1691640"/>
            <a:ext cx="9601200" cy="1371600"/>
          </a:xfrm>
          <a:prstGeom prst="rect">
            <a:avLst/>
          </a:prstGeom>
          <a:noFill/>
          <a:ln/>
        </p:spPr>
        <p:txBody>
          <a:bodyPr wrap="square" lIns="0" tIns="0" rIns="0" bIns="0" rtlCol="0" anchor="ctr"/>
          <a:lstStyle/>
          <a:p>
            <a:pPr marL="0" indent="0">
              <a:lnSpc>
                <a:spcPts val="4400"/>
              </a:lnSpc>
              <a:buNone/>
            </a:pPr>
            <a:r>
              <a:rPr lang="en-US" sz="3300" dirty="0">
                <a:solidFill>
                  <a:srgbClr val="F2E7DE"/>
                </a:solidFill>
                <a:latin typeface="Cambria" pitchFamily="34" charset="0"/>
                <a:ea typeface="Cambria" pitchFamily="34" charset="-122"/>
                <a:cs typeface="Cambria" pitchFamily="34" charset="-120"/>
              </a:rPr>
              <a:t>We kept asking</a:t>
            </a:r>
            <a:endParaRPr lang="en-US" sz="3300" dirty="0"/>
          </a:p>
          <a:p>
            <a:pPr marL="0" indent="0">
              <a:lnSpc>
                <a:spcPts val="4400"/>
              </a:lnSpc>
              <a:buNone/>
            </a:pPr>
            <a:r>
              <a:rPr lang="en-US" sz="3300" dirty="0">
                <a:solidFill>
                  <a:srgbClr val="F2E7DE"/>
                </a:solidFill>
                <a:latin typeface="Cambria" pitchFamily="34" charset="0"/>
                <a:ea typeface="Cambria" pitchFamily="34" charset="-122"/>
                <a:cs typeface="Cambria" pitchFamily="34" charset="-120"/>
              </a:rPr>
              <a:t>why people stopped coming.</a:t>
            </a:r>
            <a:endParaRPr lang="en-US" sz="3300" dirty="0"/>
          </a:p>
        </p:txBody>
      </p:sp>
      <p:sp>
        <p:nvSpPr>
          <p:cNvPr id="5" name="Text 3"/>
          <p:cNvSpPr/>
          <p:nvPr/>
        </p:nvSpPr>
        <p:spPr>
          <a:xfrm>
            <a:off x="1005840" y="3200400"/>
            <a:ext cx="9601200" cy="1463040"/>
          </a:xfrm>
          <a:prstGeom prst="rect">
            <a:avLst/>
          </a:prstGeom>
          <a:noFill/>
          <a:ln/>
        </p:spPr>
        <p:txBody>
          <a:bodyPr wrap="square" lIns="0" tIns="0" rIns="0" bIns="0" rtlCol="0" anchor="ctr"/>
          <a:lstStyle/>
          <a:p>
            <a:pPr marL="0" indent="0">
              <a:lnSpc>
                <a:spcPts val="4800"/>
              </a:lnSpc>
              <a:buNone/>
            </a:pPr>
            <a:r>
              <a:rPr lang="en-US" sz="3700" b="1" dirty="0">
                <a:solidFill>
                  <a:srgbClr val="FFFFFF"/>
                </a:solidFill>
                <a:latin typeface="Cambria" pitchFamily="34" charset="0"/>
                <a:ea typeface="Cambria" pitchFamily="34" charset="-122"/>
                <a:cs typeface="Cambria" pitchFamily="34" charset="-120"/>
              </a:rPr>
              <a:t>We should have asked</a:t>
            </a:r>
            <a:endParaRPr lang="en-US" sz="3700" dirty="0"/>
          </a:p>
          <a:p>
            <a:pPr marL="0" indent="0">
              <a:lnSpc>
                <a:spcPts val="4800"/>
              </a:lnSpc>
              <a:buNone/>
            </a:pPr>
            <a:r>
              <a:rPr lang="en-US" sz="3700" b="1" dirty="0">
                <a:solidFill>
                  <a:srgbClr val="FFFFFF"/>
                </a:solidFill>
                <a:latin typeface="Cambria" pitchFamily="34" charset="0"/>
                <a:ea typeface="Cambria" pitchFamily="34" charset="-122"/>
                <a:cs typeface="Cambria" pitchFamily="34" charset="-120"/>
              </a:rPr>
              <a:t>who was still there to leave a review.</a:t>
            </a:r>
            <a:endParaRPr lang="en-US" sz="3700" dirty="0"/>
          </a:p>
        </p:txBody>
      </p:sp>
      <p:sp>
        <p:nvSpPr>
          <p:cNvPr id="6" name="Shape 4"/>
          <p:cNvSpPr/>
          <p:nvPr/>
        </p:nvSpPr>
        <p:spPr>
          <a:xfrm>
            <a:off x="1005840" y="5029200"/>
            <a:ext cx="9601200" cy="777240"/>
          </a:xfrm>
          <a:prstGeom prst="roundRect">
            <a:avLst>
              <a:gd name="adj" fmla="val 11765"/>
            </a:avLst>
          </a:prstGeom>
          <a:solidFill>
            <a:srgbClr val="C9A227"/>
          </a:solidFill>
          <a:ln w="12700">
            <a:solidFill>
              <a:srgbClr val="333333"/>
            </a:solidFill>
            <a:prstDash val="solid"/>
          </a:ln>
        </p:spPr>
      </p:sp>
      <p:sp>
        <p:nvSpPr>
          <p:cNvPr id="7" name="Text 5"/>
          <p:cNvSpPr/>
          <p:nvPr/>
        </p:nvSpPr>
        <p:spPr>
          <a:xfrm>
            <a:off x="1005840" y="5029200"/>
            <a:ext cx="9601200" cy="777240"/>
          </a:xfrm>
          <a:prstGeom prst="rect">
            <a:avLst/>
          </a:prstGeom>
          <a:noFill/>
          <a:ln/>
        </p:spPr>
        <p:txBody>
          <a:bodyPr wrap="square" lIns="0" tIns="0" rIns="0" bIns="0" rtlCol="0" anchor="ctr"/>
          <a:lstStyle/>
          <a:p>
            <a:pPr marL="0" indent="0" algn="ctr">
              <a:buNone/>
            </a:pPr>
            <a:r>
              <a:rPr lang="en-US" sz="1600" b="1" dirty="0">
                <a:solidFill>
                  <a:srgbClr val="4A1B2C"/>
                </a:solidFill>
                <a:latin typeface="Calibri" pitchFamily="34" charset="0"/>
                <a:ea typeface="Calibri" pitchFamily="34" charset="-122"/>
                <a:cs typeface="Calibri" pitchFamily="34" charset="-120"/>
              </a:rPr>
              <a:t>So we stopped analysing covers, and started analysing reviewers.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ea typeface="Calibri" pitchFamily="34" charset="-122"/>
                <a:cs typeface="Calibri" pitchFamily="34" charset="-120"/>
              </a:rPr>
              <a:t>REVEAL · 1 OF 3</a:t>
            </a:r>
            <a:endParaRPr lang="en-US" sz="1150" dirty="0"/>
          </a:p>
        </p:txBody>
      </p:sp>
      <p:sp>
        <p:nvSpPr>
          <p:cNvPr id="3" name="Text 1"/>
          <p:cNvSpPr/>
          <p:nvPr/>
        </p:nvSpPr>
        <p:spPr>
          <a:xfrm>
            <a:off x="640080" y="657385"/>
            <a:ext cx="11356450" cy="68580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86% of our five-star reviews come from first-time guests</a:t>
            </a:r>
            <a:endParaRPr lang="en-US" sz="3400" dirty="0"/>
          </a:p>
        </p:txBody>
      </p:sp>
      <p:sp>
        <p:nvSpPr>
          <p:cNvPr id="5" name="Text 2"/>
          <p:cNvSpPr/>
          <p:nvPr/>
        </p:nvSpPr>
        <p:spPr>
          <a:xfrm>
            <a:off x="640080" y="4846317"/>
            <a:ext cx="5303520" cy="274320"/>
          </a:xfrm>
          <a:prstGeom prst="rect">
            <a:avLst/>
          </a:prstGeom>
          <a:noFill/>
          <a:ln/>
        </p:spPr>
        <p:txBody>
          <a:bodyPr wrap="square" lIns="0" tIns="0" rIns="0" bIns="0" rtlCol="0" anchor="ctr"/>
          <a:lstStyle/>
          <a:p>
            <a:pPr marL="0" indent="0">
              <a:buNone/>
            </a:pPr>
            <a:r>
              <a:rPr lang="en-US" sz="1100" i="1" dirty="0">
                <a:solidFill>
                  <a:srgbClr val="5F5155"/>
                </a:solidFill>
                <a:latin typeface="Calibri" pitchFamily="34" charset="0"/>
                <a:ea typeface="Calibri" pitchFamily="34" charset="-122"/>
                <a:cs typeface="Calibri" pitchFamily="34" charset="-120"/>
              </a:rPr>
              <a:t>Share of reviews, by which visit produced them</a:t>
            </a:r>
            <a:endParaRPr lang="en-US" sz="1100" dirty="0"/>
          </a:p>
        </p:txBody>
      </p:sp>
      <p:sp>
        <p:nvSpPr>
          <p:cNvPr id="7" name="Text 3"/>
          <p:cNvSpPr/>
          <p:nvPr/>
        </p:nvSpPr>
        <p:spPr>
          <a:xfrm>
            <a:off x="6400800" y="4846317"/>
            <a:ext cx="5303520" cy="274320"/>
          </a:xfrm>
          <a:prstGeom prst="rect">
            <a:avLst/>
          </a:prstGeom>
          <a:noFill/>
          <a:ln/>
        </p:spPr>
        <p:txBody>
          <a:bodyPr wrap="square" lIns="0" tIns="0" rIns="0" bIns="0" rtlCol="0" anchor="ctr"/>
          <a:lstStyle/>
          <a:p>
            <a:pPr marL="0" indent="0">
              <a:buNone/>
            </a:pPr>
            <a:r>
              <a:rPr lang="en-US" sz="1100" i="1" dirty="0">
                <a:solidFill>
                  <a:srgbClr val="5F5155"/>
                </a:solidFill>
                <a:latin typeface="Calibri" pitchFamily="34" charset="0"/>
                <a:ea typeface="Calibri" pitchFamily="34" charset="-122"/>
                <a:cs typeface="Calibri" pitchFamily="34" charset="-120"/>
              </a:rPr>
              <a:t>Average stars given, by the same visit number</a:t>
            </a:r>
            <a:endParaRPr lang="en-US" sz="1100" dirty="0"/>
          </a:p>
        </p:txBody>
      </p:sp>
      <p:sp>
        <p:nvSpPr>
          <p:cNvPr id="8" name="Shape 4"/>
          <p:cNvSpPr/>
          <p:nvPr/>
        </p:nvSpPr>
        <p:spPr>
          <a:xfrm>
            <a:off x="640080" y="5324400"/>
            <a:ext cx="11109960" cy="984960"/>
          </a:xfrm>
          <a:prstGeom prst="roundRect">
            <a:avLst>
              <a:gd name="adj" fmla="val 7407"/>
            </a:avLst>
          </a:prstGeom>
          <a:solidFill>
            <a:srgbClr val="6D2E46"/>
          </a:solidFill>
          <a:ln w="12700">
            <a:solidFill>
              <a:srgbClr val="333333"/>
            </a:solidFill>
            <a:prstDash val="solid"/>
          </a:ln>
        </p:spPr>
      </p:sp>
      <p:sp>
        <p:nvSpPr>
          <p:cNvPr id="9" name="Text 5"/>
          <p:cNvSpPr/>
          <p:nvPr/>
        </p:nvSpPr>
        <p:spPr>
          <a:xfrm>
            <a:off x="960120" y="5349240"/>
            <a:ext cx="10469880" cy="960120"/>
          </a:xfrm>
          <a:prstGeom prst="rect">
            <a:avLst/>
          </a:prstGeom>
          <a:noFill/>
          <a:ln/>
        </p:spPr>
        <p:txBody>
          <a:bodyPr wrap="square" lIns="0" tIns="0" rIns="0" bIns="0" rtlCol="0" anchor="ctr"/>
          <a:lstStyle/>
          <a:p>
            <a:pPr marL="0" indent="0">
              <a:lnSpc>
                <a:spcPts val="2200"/>
              </a:lnSpc>
              <a:buNone/>
            </a:pPr>
            <a:r>
              <a:rPr lang="en-US" sz="1500" dirty="0">
                <a:solidFill>
                  <a:srgbClr val="FFFFFF"/>
                </a:solidFill>
                <a:latin typeface="Calibri" pitchFamily="34" charset="0"/>
                <a:ea typeface="Calibri" pitchFamily="34" charset="-122"/>
                <a:cs typeface="Calibri" pitchFamily="34" charset="-120"/>
              </a:rPr>
              <a:t>The rating is not a measure of how good we are. It is a measure of how good our first impression is — and the people best placed to judge us are the ones least likely to be counted.</a:t>
            </a:r>
            <a:endParaRPr lang="en-US" sz="1500" dirty="0"/>
          </a:p>
        </p:txBody>
      </p:sp>
      <p:pic>
        <p:nvPicPr>
          <p:cNvPr id="10" name="slide6" descr="Chart 6">
            <a:extLst>
              <a:ext uri="{FF2B5EF4-FFF2-40B4-BE49-F238E27FC236}">
                <a16:creationId xmlns:a16="http://schemas.microsoft.com/office/drawing/2014/main" id="{F9323967-0762-F05A-3A46-678324B59158}"/>
              </a:ext>
            </a:extLst>
          </p:cNvPr>
          <p:cNvPicPr>
            <a:picLocks noChangeAspect="1"/>
          </p:cNvPicPr>
          <p:nvPr/>
        </p:nvPicPr>
        <p:blipFill>
          <a:blip r:embed="rId3">
            <a:extLst>
              <a:ext uri="{28A0092B-C50C-407E-A947-70E740481C1C}">
                <a14:useLocalDpi xmlns:a14="http://schemas.microsoft.com/office/drawing/2010/main" val="0"/>
              </a:ext>
            </a:extLst>
          </a:blip>
          <a:srcRect t="5353" b="6641"/>
          <a:stretch>
            <a:fillRect/>
          </a:stretch>
        </p:blipFill>
        <p:spPr>
          <a:xfrm>
            <a:off x="441959" y="1762196"/>
            <a:ext cx="5680370" cy="2946961"/>
          </a:xfrm>
          <a:prstGeom prst="rect">
            <a:avLst/>
          </a:prstGeom>
          <a:solidFill>
            <a:schemeClr val="bg1">
              <a:lumMod val="85000"/>
              <a:alpha val="32697"/>
            </a:schemeClr>
          </a:solidFill>
        </p:spPr>
      </p:pic>
      <p:pic>
        <p:nvPicPr>
          <p:cNvPr id="11" name="slide7" descr="Chart 7">
            <a:extLst>
              <a:ext uri="{FF2B5EF4-FFF2-40B4-BE49-F238E27FC236}">
                <a16:creationId xmlns:a16="http://schemas.microsoft.com/office/drawing/2014/main" id="{9DFD38BD-3F77-A29B-8836-B8736A4942EA}"/>
              </a:ext>
            </a:extLst>
          </p:cNvPr>
          <p:cNvPicPr>
            <a:picLocks noChangeAspect="1"/>
          </p:cNvPicPr>
          <p:nvPr/>
        </p:nvPicPr>
        <p:blipFill>
          <a:blip r:embed="rId4">
            <a:extLst>
              <a:ext uri="{28A0092B-C50C-407E-A947-70E740481C1C}">
                <a14:useLocalDpi xmlns:a14="http://schemas.microsoft.com/office/drawing/2010/main" val="0"/>
              </a:ext>
            </a:extLst>
          </a:blip>
          <a:srcRect t="5942" b="4059"/>
          <a:stretch>
            <a:fillRect/>
          </a:stretch>
        </p:blipFill>
        <p:spPr>
          <a:xfrm>
            <a:off x="6217920" y="1591053"/>
            <a:ext cx="5486400" cy="31181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ea typeface="Calibri" pitchFamily="34" charset="-122"/>
                <a:cs typeface="Calibri" pitchFamily="34" charset="-120"/>
              </a:rPr>
              <a:t>REVEAL · 2 OF 3</a:t>
            </a:r>
            <a:endParaRPr lang="en-US" sz="1150" dirty="0"/>
          </a:p>
        </p:txBody>
      </p:sp>
      <p:sp>
        <p:nvSpPr>
          <p:cNvPr id="3" name="Text 1"/>
          <p:cNvSpPr/>
          <p:nvPr/>
        </p:nvSpPr>
        <p:spPr>
          <a:xfrm>
            <a:off x="640080" y="411480"/>
            <a:ext cx="10881360" cy="68580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Acquisition is fine. Retention is collapsing.</a:t>
            </a:r>
            <a:endParaRPr lang="en-US" sz="3400" dirty="0"/>
          </a:p>
        </p:txBody>
      </p:sp>
      <p:sp>
        <p:nvSpPr>
          <p:cNvPr id="5" name="Shape 2"/>
          <p:cNvSpPr/>
          <p:nvPr/>
        </p:nvSpPr>
        <p:spPr>
          <a:xfrm>
            <a:off x="8869680" y="1463040"/>
            <a:ext cx="2743200" cy="1417320"/>
          </a:xfrm>
          <a:prstGeom prst="roundRect">
            <a:avLst>
              <a:gd name="adj" fmla="val 5806"/>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6" name="Text 3"/>
          <p:cNvSpPr/>
          <p:nvPr/>
        </p:nvSpPr>
        <p:spPr>
          <a:xfrm>
            <a:off x="8869680" y="1600200"/>
            <a:ext cx="2743200" cy="502920"/>
          </a:xfrm>
          <a:prstGeom prst="rect">
            <a:avLst/>
          </a:prstGeom>
          <a:noFill/>
          <a:ln/>
        </p:spPr>
        <p:txBody>
          <a:bodyPr wrap="square" lIns="0" tIns="0" rIns="0" bIns="0" rtlCol="0" anchor="ctr"/>
          <a:lstStyle/>
          <a:p>
            <a:pPr marL="0" indent="0" algn="ctr">
              <a:buNone/>
            </a:pPr>
            <a:r>
              <a:rPr lang="en-US" sz="3200" b="1" dirty="0">
                <a:solidFill>
                  <a:srgbClr val="5F5155"/>
                </a:solidFill>
                <a:latin typeface="Cambria" pitchFamily="34" charset="0"/>
                <a:ea typeface="Cambria" pitchFamily="34" charset="-122"/>
                <a:cs typeface="Cambria" pitchFamily="34" charset="-120"/>
              </a:rPr>
              <a:t>±1%</a:t>
            </a:r>
            <a:endParaRPr lang="en-US" sz="3200" dirty="0"/>
          </a:p>
        </p:txBody>
      </p:sp>
      <p:sp>
        <p:nvSpPr>
          <p:cNvPr id="7" name="Text 4"/>
          <p:cNvSpPr/>
          <p:nvPr/>
        </p:nvSpPr>
        <p:spPr>
          <a:xfrm>
            <a:off x="8869680" y="2121408"/>
            <a:ext cx="2743200" cy="548640"/>
          </a:xfrm>
          <a:prstGeom prst="rect">
            <a:avLst/>
          </a:prstGeom>
          <a:noFill/>
          <a:ln/>
        </p:spPr>
        <p:txBody>
          <a:bodyPr wrap="square" lIns="0" tIns="0" rIns="0" bIns="0" rtlCol="0" anchor="ctr"/>
          <a:lstStyle/>
          <a:p>
            <a:pPr marL="0" indent="0" algn="ctr">
              <a:lnSpc>
                <a:spcPts val="1600"/>
              </a:lnSpc>
              <a:buNone/>
            </a:pPr>
            <a:r>
              <a:rPr lang="en-US" sz="1200" dirty="0">
                <a:solidFill>
                  <a:srgbClr val="5F5155"/>
                </a:solidFill>
                <a:latin typeface="Calibri" pitchFamily="34" charset="0"/>
                <a:ea typeface="Calibri" pitchFamily="34" charset="-122"/>
                <a:cs typeface="Calibri" pitchFamily="34" charset="-120"/>
              </a:rPr>
              <a:t>change in new</a:t>
            </a:r>
            <a:endParaRPr lang="en-US" sz="1200" dirty="0"/>
          </a:p>
          <a:p>
            <a:pPr marL="0" indent="0" algn="ctr">
              <a:lnSpc>
                <a:spcPts val="1600"/>
              </a:lnSpc>
              <a:buNone/>
            </a:pPr>
            <a:r>
              <a:rPr lang="en-US" sz="1200" dirty="0">
                <a:solidFill>
                  <a:srgbClr val="5F5155"/>
                </a:solidFill>
                <a:latin typeface="Calibri" pitchFamily="34" charset="0"/>
                <a:ea typeface="Calibri" pitchFamily="34" charset="-122"/>
                <a:cs typeface="Calibri" pitchFamily="34" charset="-120"/>
              </a:rPr>
              <a:t>guests all year</a:t>
            </a:r>
            <a:endParaRPr lang="en-US" sz="1200" dirty="0"/>
          </a:p>
        </p:txBody>
      </p:sp>
      <p:sp>
        <p:nvSpPr>
          <p:cNvPr id="8" name="Shape 5"/>
          <p:cNvSpPr/>
          <p:nvPr/>
        </p:nvSpPr>
        <p:spPr>
          <a:xfrm>
            <a:off x="8869680" y="3063240"/>
            <a:ext cx="2743200" cy="1417320"/>
          </a:xfrm>
          <a:prstGeom prst="roundRect">
            <a:avLst>
              <a:gd name="adj" fmla="val 5806"/>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9" name="Text 6"/>
          <p:cNvSpPr/>
          <p:nvPr/>
        </p:nvSpPr>
        <p:spPr>
          <a:xfrm>
            <a:off x="8869680" y="3200400"/>
            <a:ext cx="2743200" cy="502920"/>
          </a:xfrm>
          <a:prstGeom prst="rect">
            <a:avLst/>
          </a:prstGeom>
          <a:noFill/>
          <a:ln/>
        </p:spPr>
        <p:txBody>
          <a:bodyPr wrap="square" lIns="0" tIns="0" rIns="0" bIns="0" rtlCol="0" anchor="ctr"/>
          <a:lstStyle/>
          <a:p>
            <a:pPr marL="0" indent="0" algn="ctr">
              <a:buNone/>
            </a:pPr>
            <a:r>
              <a:rPr lang="en-US" sz="3200" b="1" dirty="0">
                <a:solidFill>
                  <a:srgbClr val="B3382C"/>
                </a:solidFill>
                <a:latin typeface="Cambria" pitchFamily="34" charset="0"/>
                <a:ea typeface="Cambria" pitchFamily="34" charset="-122"/>
                <a:cs typeface="Cambria" pitchFamily="34" charset="-120"/>
              </a:rPr>
              <a:t>-52%</a:t>
            </a:r>
            <a:endParaRPr lang="en-US" sz="3200" dirty="0"/>
          </a:p>
        </p:txBody>
      </p:sp>
      <p:sp>
        <p:nvSpPr>
          <p:cNvPr id="10" name="Text 7"/>
          <p:cNvSpPr/>
          <p:nvPr/>
        </p:nvSpPr>
        <p:spPr>
          <a:xfrm>
            <a:off x="8869680" y="3721608"/>
            <a:ext cx="2743200" cy="548640"/>
          </a:xfrm>
          <a:prstGeom prst="rect">
            <a:avLst/>
          </a:prstGeom>
          <a:noFill/>
          <a:ln/>
        </p:spPr>
        <p:txBody>
          <a:bodyPr wrap="square" lIns="0" tIns="0" rIns="0" bIns="0" rtlCol="0" anchor="ctr"/>
          <a:lstStyle/>
          <a:p>
            <a:pPr marL="0" indent="0" algn="ctr">
              <a:lnSpc>
                <a:spcPts val="1600"/>
              </a:lnSpc>
              <a:buNone/>
            </a:pPr>
            <a:r>
              <a:rPr lang="en-US" sz="1200" dirty="0">
                <a:solidFill>
                  <a:srgbClr val="B3382C"/>
                </a:solidFill>
                <a:latin typeface="Calibri" pitchFamily="34" charset="0"/>
                <a:ea typeface="Calibri" pitchFamily="34" charset="-122"/>
                <a:cs typeface="Calibri" pitchFamily="34" charset="-120"/>
              </a:rPr>
              <a:t>change in returning</a:t>
            </a:r>
            <a:endParaRPr lang="en-US" sz="1200" dirty="0"/>
          </a:p>
          <a:p>
            <a:pPr marL="0" indent="0" algn="ctr">
              <a:lnSpc>
                <a:spcPts val="1600"/>
              </a:lnSpc>
              <a:buNone/>
            </a:pPr>
            <a:r>
              <a:rPr lang="en-US" sz="1200" dirty="0">
                <a:solidFill>
                  <a:srgbClr val="B3382C"/>
                </a:solidFill>
                <a:latin typeface="Calibri" pitchFamily="34" charset="0"/>
                <a:ea typeface="Calibri" pitchFamily="34" charset="-122"/>
                <a:cs typeface="Calibri" pitchFamily="34" charset="-120"/>
              </a:rPr>
              <a:t>guests all year</a:t>
            </a:r>
            <a:endParaRPr lang="en-US" sz="1200" dirty="0"/>
          </a:p>
        </p:txBody>
      </p:sp>
      <p:sp>
        <p:nvSpPr>
          <p:cNvPr id="11" name="Text 8"/>
          <p:cNvSpPr/>
          <p:nvPr/>
        </p:nvSpPr>
        <p:spPr>
          <a:xfrm>
            <a:off x="8869680" y="4663440"/>
            <a:ext cx="2743200" cy="1097280"/>
          </a:xfrm>
          <a:prstGeom prst="rect">
            <a:avLst/>
          </a:prstGeom>
          <a:noFill/>
          <a:ln/>
        </p:spPr>
        <p:txBody>
          <a:bodyPr wrap="square" lIns="0" tIns="0" rIns="0" bIns="0" rtlCol="0" anchor="ctr"/>
          <a:lstStyle/>
          <a:p>
            <a:pPr marL="0" indent="0">
              <a:lnSpc>
                <a:spcPts val="1800"/>
              </a:lnSpc>
              <a:buNone/>
            </a:pPr>
            <a:r>
              <a:rPr lang="en-US" sz="1250" i="1" dirty="0">
                <a:solidFill>
                  <a:srgbClr val="6D2E46"/>
                </a:solidFill>
                <a:latin typeface="Calibri" pitchFamily="34" charset="0"/>
                <a:ea typeface="Calibri" pitchFamily="34" charset="-122"/>
                <a:cs typeface="Calibri" pitchFamily="34" charset="-120"/>
              </a:rPr>
              <a:t>Every rupee of marketing is working. The front door is fine. It is the back door nobody was watching.</a:t>
            </a:r>
            <a:endParaRPr lang="en-US" sz="1250" dirty="0"/>
          </a:p>
        </p:txBody>
      </p:sp>
      <p:sp>
        <p:nvSpPr>
          <p:cNvPr id="12" name="Text 9"/>
          <p:cNvSpPr/>
          <p:nvPr/>
        </p:nvSpPr>
        <p:spPr>
          <a:xfrm>
            <a:off x="845820" y="5394960"/>
            <a:ext cx="7863840" cy="365760"/>
          </a:xfrm>
          <a:prstGeom prst="rect">
            <a:avLst/>
          </a:prstGeom>
          <a:noFill/>
          <a:ln/>
        </p:spPr>
        <p:txBody>
          <a:bodyPr wrap="square" lIns="0" tIns="0" rIns="0" bIns="0" rtlCol="0" anchor="ctr"/>
          <a:lstStyle/>
          <a:p>
            <a:pPr marL="0" indent="0">
              <a:buNone/>
            </a:pPr>
            <a:r>
              <a:rPr lang="en-US" sz="1350" b="1" dirty="0">
                <a:solidFill>
                  <a:srgbClr val="6D2E46"/>
                </a:solidFill>
                <a:latin typeface="Calibri" pitchFamily="34" charset="0"/>
                <a:ea typeface="Calibri" pitchFamily="34" charset="-122"/>
                <a:cs typeface="Calibri" pitchFamily="34" charset="-120"/>
              </a:rPr>
              <a:t>Returning guests fell from 44% of covers in January to 28% in December.</a:t>
            </a:r>
            <a:endParaRPr lang="en-US" sz="1350" dirty="0"/>
          </a:p>
        </p:txBody>
      </p:sp>
      <p:graphicFrame>
        <p:nvGraphicFramePr>
          <p:cNvPr id="4" name="Chart 0">
            <a:extLst>
              <a:ext uri="{FF2B5EF4-FFF2-40B4-BE49-F238E27FC236}">
                <a16:creationId xmlns:a16="http://schemas.microsoft.com/office/drawing/2014/main" id="{FBD6962B-315E-D068-CDD8-BA9F5ACB88FA}"/>
              </a:ext>
            </a:extLst>
          </p:cNvPr>
          <p:cNvGraphicFramePr/>
          <p:nvPr>
            <p:extLst>
              <p:ext uri="{D42A27DB-BD31-4B8C-83A1-F6EECF244321}">
                <p14:modId xmlns:p14="http://schemas.microsoft.com/office/powerpoint/2010/main" val="2024685622"/>
              </p:ext>
            </p:extLst>
          </p:nvPr>
        </p:nvGraphicFramePr>
        <p:xfrm>
          <a:off x="502920" y="1325880"/>
          <a:ext cx="8046720" cy="39776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33949-092C-F803-FAEC-C2372660F5F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870F189-CF11-1FB4-3DC6-763B1C96F6C5}"/>
              </a:ext>
            </a:extLst>
          </p:cNvPr>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ea typeface="Calibri" pitchFamily="34" charset="-122"/>
                <a:cs typeface="Calibri" pitchFamily="34" charset="-120"/>
              </a:rPr>
              <a:t>REVEAL · 3 OF 3</a:t>
            </a:r>
            <a:endParaRPr lang="en-US" sz="1150" dirty="0"/>
          </a:p>
        </p:txBody>
      </p:sp>
      <p:sp>
        <p:nvSpPr>
          <p:cNvPr id="3" name="Text 1">
            <a:extLst>
              <a:ext uri="{FF2B5EF4-FFF2-40B4-BE49-F238E27FC236}">
                <a16:creationId xmlns:a16="http://schemas.microsoft.com/office/drawing/2014/main" id="{A63D9677-CAC9-4394-5510-2F0EF4219C11}"/>
              </a:ext>
            </a:extLst>
          </p:cNvPr>
          <p:cNvSpPr/>
          <p:nvPr/>
        </p:nvSpPr>
        <p:spPr>
          <a:xfrm>
            <a:off x="640080" y="411480"/>
            <a:ext cx="10881360" cy="68580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Guests we won this year come back half as often</a:t>
            </a:r>
            <a:endParaRPr lang="en-US" sz="3400" dirty="0"/>
          </a:p>
        </p:txBody>
      </p:sp>
      <p:sp>
        <p:nvSpPr>
          <p:cNvPr id="13" name="Shape 2">
            <a:extLst>
              <a:ext uri="{FF2B5EF4-FFF2-40B4-BE49-F238E27FC236}">
                <a16:creationId xmlns:a16="http://schemas.microsoft.com/office/drawing/2014/main" id="{E047D26A-2F27-6F86-9CAA-503D3D794D8B}"/>
              </a:ext>
            </a:extLst>
          </p:cNvPr>
          <p:cNvSpPr/>
          <p:nvPr/>
        </p:nvSpPr>
        <p:spPr>
          <a:xfrm>
            <a:off x="8869680" y="1463040"/>
            <a:ext cx="2743200" cy="1417320"/>
          </a:xfrm>
          <a:prstGeom prst="roundRect">
            <a:avLst>
              <a:gd name="adj" fmla="val 5806"/>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14" name="Text 3">
            <a:extLst>
              <a:ext uri="{FF2B5EF4-FFF2-40B4-BE49-F238E27FC236}">
                <a16:creationId xmlns:a16="http://schemas.microsoft.com/office/drawing/2014/main" id="{6079A8B1-9D76-9EAD-A34B-306ABC67B6BD}"/>
              </a:ext>
            </a:extLst>
          </p:cNvPr>
          <p:cNvSpPr/>
          <p:nvPr/>
        </p:nvSpPr>
        <p:spPr>
          <a:xfrm>
            <a:off x="8869680" y="1600200"/>
            <a:ext cx="2743200" cy="502920"/>
          </a:xfrm>
          <a:prstGeom prst="rect">
            <a:avLst/>
          </a:prstGeom>
          <a:noFill/>
          <a:ln/>
        </p:spPr>
        <p:txBody>
          <a:bodyPr wrap="square" lIns="0" tIns="0" rIns="0" bIns="0" rtlCol="0" anchor="ctr"/>
          <a:lstStyle/>
          <a:p>
            <a:pPr marL="0" indent="0" algn="ctr">
              <a:buNone/>
            </a:pPr>
            <a:r>
              <a:rPr lang="en-US" sz="2000" b="1" dirty="0">
                <a:solidFill>
                  <a:schemeClr val="accent2">
                    <a:lumMod val="75000"/>
                  </a:schemeClr>
                </a:solidFill>
                <a:latin typeface="Cambria" pitchFamily="34" charset="0"/>
                <a:ea typeface="Cambria" pitchFamily="34" charset="-122"/>
                <a:cs typeface="Cambria" pitchFamily="34" charset="-120"/>
              </a:rPr>
              <a:t>49.5% - 24.6% </a:t>
            </a:r>
            <a:endParaRPr lang="en-US" sz="2000" dirty="0">
              <a:solidFill>
                <a:schemeClr val="accent2">
                  <a:lumMod val="75000"/>
                </a:schemeClr>
              </a:solidFill>
            </a:endParaRPr>
          </a:p>
        </p:txBody>
      </p:sp>
      <p:sp>
        <p:nvSpPr>
          <p:cNvPr id="15" name="Text 4">
            <a:extLst>
              <a:ext uri="{FF2B5EF4-FFF2-40B4-BE49-F238E27FC236}">
                <a16:creationId xmlns:a16="http://schemas.microsoft.com/office/drawing/2014/main" id="{277D5A93-293B-61C4-AF52-AFF3EA443C02}"/>
              </a:ext>
            </a:extLst>
          </p:cNvPr>
          <p:cNvSpPr/>
          <p:nvPr/>
        </p:nvSpPr>
        <p:spPr>
          <a:xfrm>
            <a:off x="8869680" y="2121408"/>
            <a:ext cx="2743200" cy="548640"/>
          </a:xfrm>
          <a:prstGeom prst="rect">
            <a:avLst/>
          </a:prstGeom>
          <a:noFill/>
          <a:ln/>
        </p:spPr>
        <p:txBody>
          <a:bodyPr wrap="square" lIns="0" tIns="0" rIns="0" bIns="0" rtlCol="0" anchor="ctr"/>
          <a:lstStyle/>
          <a:p>
            <a:pPr marL="0" indent="0" algn="ctr">
              <a:lnSpc>
                <a:spcPts val="1600"/>
              </a:lnSpc>
              <a:buNone/>
            </a:pPr>
            <a:r>
              <a:rPr lang="en-US" sz="1400" dirty="0">
                <a:solidFill>
                  <a:srgbClr val="5F5155"/>
                </a:solidFill>
                <a:latin typeface="Calibri" pitchFamily="34" charset="0"/>
                <a:ea typeface="Calibri" pitchFamily="34" charset="-122"/>
                <a:cs typeface="Calibri" pitchFamily="34" charset="-120"/>
              </a:rPr>
              <a:t>Six-month return date </a:t>
            </a:r>
            <a:br>
              <a:rPr lang="en-US" sz="1400" dirty="0">
                <a:solidFill>
                  <a:srgbClr val="5F5155"/>
                </a:solidFill>
                <a:latin typeface="Calibri" pitchFamily="34" charset="0"/>
                <a:ea typeface="Calibri" pitchFamily="34" charset="-122"/>
                <a:cs typeface="Calibri" pitchFamily="34" charset="-120"/>
              </a:rPr>
            </a:br>
            <a:r>
              <a:rPr lang="en-US" sz="1400" dirty="0">
                <a:solidFill>
                  <a:srgbClr val="5F5155"/>
                </a:solidFill>
                <a:latin typeface="Calibri" pitchFamily="34" charset="0"/>
                <a:ea typeface="Calibri" pitchFamily="34" charset="-122"/>
                <a:cs typeface="Calibri" pitchFamily="34" charset="-120"/>
              </a:rPr>
              <a:t>2024 vs 2025</a:t>
            </a:r>
            <a:endParaRPr lang="en-US" sz="1400" dirty="0"/>
          </a:p>
        </p:txBody>
      </p:sp>
      <p:sp>
        <p:nvSpPr>
          <p:cNvPr id="19" name="Shape 2">
            <a:extLst>
              <a:ext uri="{FF2B5EF4-FFF2-40B4-BE49-F238E27FC236}">
                <a16:creationId xmlns:a16="http://schemas.microsoft.com/office/drawing/2014/main" id="{261791A4-F0DB-B13D-2232-63D1CF391247}"/>
              </a:ext>
            </a:extLst>
          </p:cNvPr>
          <p:cNvSpPr/>
          <p:nvPr/>
        </p:nvSpPr>
        <p:spPr>
          <a:xfrm>
            <a:off x="8869680" y="3125421"/>
            <a:ext cx="2743200" cy="1417320"/>
          </a:xfrm>
          <a:prstGeom prst="roundRect">
            <a:avLst>
              <a:gd name="adj" fmla="val 5806"/>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20" name="Text 3">
            <a:extLst>
              <a:ext uri="{FF2B5EF4-FFF2-40B4-BE49-F238E27FC236}">
                <a16:creationId xmlns:a16="http://schemas.microsoft.com/office/drawing/2014/main" id="{85712B9A-00DA-802E-1376-8B8FDC8C7A19}"/>
              </a:ext>
            </a:extLst>
          </p:cNvPr>
          <p:cNvSpPr/>
          <p:nvPr/>
        </p:nvSpPr>
        <p:spPr>
          <a:xfrm>
            <a:off x="8869680" y="3331161"/>
            <a:ext cx="2743200" cy="502920"/>
          </a:xfrm>
          <a:prstGeom prst="rect">
            <a:avLst/>
          </a:prstGeom>
          <a:noFill/>
          <a:ln/>
        </p:spPr>
        <p:txBody>
          <a:bodyPr wrap="square" lIns="0" tIns="0" rIns="0" bIns="0" rtlCol="0" anchor="ctr"/>
          <a:lstStyle/>
          <a:p>
            <a:pPr marL="0" indent="0" algn="ctr">
              <a:buNone/>
            </a:pPr>
            <a:r>
              <a:rPr lang="en-US" sz="2000" b="1" dirty="0">
                <a:solidFill>
                  <a:schemeClr val="accent2">
                    <a:lumMod val="75000"/>
                  </a:schemeClr>
                </a:solidFill>
                <a:latin typeface="Cambria" pitchFamily="34" charset="0"/>
                <a:ea typeface="Cambria" pitchFamily="34" charset="-122"/>
                <a:cs typeface="Cambria" pitchFamily="34" charset="-120"/>
              </a:rPr>
              <a:t>340/-</a:t>
            </a:r>
            <a:endParaRPr lang="en-US" sz="2000" dirty="0">
              <a:solidFill>
                <a:schemeClr val="accent2">
                  <a:lumMod val="75000"/>
                </a:schemeClr>
              </a:solidFill>
            </a:endParaRPr>
          </a:p>
        </p:txBody>
      </p:sp>
      <p:sp>
        <p:nvSpPr>
          <p:cNvPr id="21" name="Text 4">
            <a:extLst>
              <a:ext uri="{FF2B5EF4-FFF2-40B4-BE49-F238E27FC236}">
                <a16:creationId xmlns:a16="http://schemas.microsoft.com/office/drawing/2014/main" id="{89D4461B-3890-481F-1F3A-E03E2064FFDC}"/>
              </a:ext>
            </a:extLst>
          </p:cNvPr>
          <p:cNvSpPr/>
          <p:nvPr/>
        </p:nvSpPr>
        <p:spPr>
          <a:xfrm>
            <a:off x="8869680" y="3783789"/>
            <a:ext cx="2743200" cy="548640"/>
          </a:xfrm>
          <a:prstGeom prst="rect">
            <a:avLst/>
          </a:prstGeom>
          <a:noFill/>
          <a:ln/>
        </p:spPr>
        <p:txBody>
          <a:bodyPr wrap="square" lIns="0" tIns="0" rIns="0" bIns="0" rtlCol="0" anchor="ctr"/>
          <a:lstStyle/>
          <a:p>
            <a:pPr marL="0" indent="0" algn="ctr">
              <a:lnSpc>
                <a:spcPts val="1600"/>
              </a:lnSpc>
              <a:buNone/>
            </a:pPr>
            <a:r>
              <a:rPr lang="en-US" sz="1400" dirty="0">
                <a:solidFill>
                  <a:srgbClr val="5F5155"/>
                </a:solidFill>
                <a:latin typeface="Calibri" pitchFamily="34" charset="0"/>
                <a:ea typeface="Calibri" pitchFamily="34" charset="-122"/>
                <a:cs typeface="Calibri" pitchFamily="34" charset="-120"/>
              </a:rPr>
              <a:t>spent to acquire each guest </a:t>
            </a:r>
            <a:endParaRPr lang="en-US" sz="1400" dirty="0"/>
          </a:p>
        </p:txBody>
      </p:sp>
      <p:sp>
        <p:nvSpPr>
          <p:cNvPr id="22" name="Shape 2">
            <a:extLst>
              <a:ext uri="{FF2B5EF4-FFF2-40B4-BE49-F238E27FC236}">
                <a16:creationId xmlns:a16="http://schemas.microsoft.com/office/drawing/2014/main" id="{834596F5-630E-A4A7-30D8-0F2059E53FDC}"/>
              </a:ext>
            </a:extLst>
          </p:cNvPr>
          <p:cNvSpPr/>
          <p:nvPr/>
        </p:nvSpPr>
        <p:spPr>
          <a:xfrm>
            <a:off x="8869680" y="4787802"/>
            <a:ext cx="2743200" cy="1417320"/>
          </a:xfrm>
          <a:prstGeom prst="roundRect">
            <a:avLst>
              <a:gd name="adj" fmla="val 5806"/>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23" name="Text 3">
            <a:extLst>
              <a:ext uri="{FF2B5EF4-FFF2-40B4-BE49-F238E27FC236}">
                <a16:creationId xmlns:a16="http://schemas.microsoft.com/office/drawing/2014/main" id="{8D942C05-4887-06A5-E63F-1CDD1D7B0C7F}"/>
              </a:ext>
            </a:extLst>
          </p:cNvPr>
          <p:cNvSpPr/>
          <p:nvPr/>
        </p:nvSpPr>
        <p:spPr>
          <a:xfrm>
            <a:off x="8869680" y="4924962"/>
            <a:ext cx="2743200" cy="502920"/>
          </a:xfrm>
          <a:prstGeom prst="rect">
            <a:avLst/>
          </a:prstGeom>
          <a:noFill/>
          <a:ln/>
        </p:spPr>
        <p:txBody>
          <a:bodyPr wrap="square" lIns="0" tIns="0" rIns="0" bIns="0" rtlCol="0" anchor="ctr"/>
          <a:lstStyle/>
          <a:p>
            <a:pPr marL="0" indent="0" algn="ctr">
              <a:buNone/>
            </a:pPr>
            <a:r>
              <a:rPr lang="en-US" sz="2000" b="1" dirty="0">
                <a:solidFill>
                  <a:schemeClr val="accent2">
                    <a:lumMod val="75000"/>
                  </a:schemeClr>
                </a:solidFill>
                <a:latin typeface="Cambria" pitchFamily="34" charset="0"/>
                <a:ea typeface="Cambria" pitchFamily="34" charset="-122"/>
                <a:cs typeface="Cambria" pitchFamily="34" charset="-120"/>
              </a:rPr>
              <a:t>810/- vs 610/-</a:t>
            </a:r>
            <a:endParaRPr lang="en-US" sz="2000" dirty="0">
              <a:solidFill>
                <a:schemeClr val="accent2">
                  <a:lumMod val="75000"/>
                </a:schemeClr>
              </a:solidFill>
            </a:endParaRPr>
          </a:p>
        </p:txBody>
      </p:sp>
      <p:sp>
        <p:nvSpPr>
          <p:cNvPr id="24" name="Text 4">
            <a:extLst>
              <a:ext uri="{FF2B5EF4-FFF2-40B4-BE49-F238E27FC236}">
                <a16:creationId xmlns:a16="http://schemas.microsoft.com/office/drawing/2014/main" id="{EE7ADB29-A57A-CDA4-796B-4133648D767B}"/>
              </a:ext>
            </a:extLst>
          </p:cNvPr>
          <p:cNvSpPr/>
          <p:nvPr/>
        </p:nvSpPr>
        <p:spPr>
          <a:xfrm>
            <a:off x="8869680" y="5446170"/>
            <a:ext cx="2743200" cy="548640"/>
          </a:xfrm>
          <a:prstGeom prst="rect">
            <a:avLst/>
          </a:prstGeom>
          <a:noFill/>
          <a:ln/>
        </p:spPr>
        <p:txBody>
          <a:bodyPr wrap="square" lIns="0" tIns="0" rIns="0" bIns="0" rtlCol="0" anchor="ctr"/>
          <a:lstStyle/>
          <a:p>
            <a:pPr marL="0" indent="0" algn="ctr">
              <a:lnSpc>
                <a:spcPts val="1600"/>
              </a:lnSpc>
              <a:buNone/>
            </a:pPr>
            <a:r>
              <a:rPr lang="en-US" sz="1400" dirty="0">
                <a:solidFill>
                  <a:srgbClr val="5F5155"/>
                </a:solidFill>
                <a:latin typeface="Calibri" pitchFamily="34" charset="0"/>
                <a:cs typeface="Calibri" pitchFamily="34" charset="-120"/>
              </a:rPr>
              <a:t>a repeat guest’s bill vs a first timer’s   </a:t>
            </a:r>
            <a:endParaRPr lang="en-US" sz="1400" dirty="0"/>
          </a:p>
        </p:txBody>
      </p:sp>
      <p:sp>
        <p:nvSpPr>
          <p:cNvPr id="25" name="Text 9">
            <a:extLst>
              <a:ext uri="{FF2B5EF4-FFF2-40B4-BE49-F238E27FC236}">
                <a16:creationId xmlns:a16="http://schemas.microsoft.com/office/drawing/2014/main" id="{1DD995BE-AE81-D702-6160-6F0A304FFB84}"/>
              </a:ext>
            </a:extLst>
          </p:cNvPr>
          <p:cNvSpPr/>
          <p:nvPr/>
        </p:nvSpPr>
        <p:spPr>
          <a:xfrm>
            <a:off x="869571" y="5792601"/>
            <a:ext cx="7863840" cy="365760"/>
          </a:xfrm>
          <a:prstGeom prst="rect">
            <a:avLst/>
          </a:prstGeom>
          <a:noFill/>
          <a:ln/>
        </p:spPr>
        <p:txBody>
          <a:bodyPr wrap="square" lIns="0" tIns="0" rIns="0" bIns="0" rtlCol="0" anchor="ctr"/>
          <a:lstStyle/>
          <a:p>
            <a:pPr marL="0" indent="0">
              <a:buNone/>
            </a:pPr>
            <a:r>
              <a:rPr lang="en-US" sz="1350" b="1" dirty="0">
                <a:solidFill>
                  <a:srgbClr val="6D2E46"/>
                </a:solidFill>
                <a:latin typeface="Calibri" pitchFamily="34" charset="0"/>
                <a:ea typeface="Calibri" pitchFamily="34" charset="-122"/>
                <a:cs typeface="Calibri" pitchFamily="34" charset="-120"/>
              </a:rPr>
              <a:t>% of a first visit cohort that has made a second visit, by months elapsed </a:t>
            </a:r>
            <a:endParaRPr lang="en-US" sz="1350" dirty="0"/>
          </a:p>
        </p:txBody>
      </p:sp>
      <p:pic>
        <p:nvPicPr>
          <p:cNvPr id="26" name="Picture 2">
            <a:extLst>
              <a:ext uri="{FF2B5EF4-FFF2-40B4-BE49-F238E27FC236}">
                <a16:creationId xmlns:a16="http://schemas.microsoft.com/office/drawing/2014/main" id="{776E2D5F-9BD7-B9FB-FBD1-2EBA8A6E0A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4" t="17770" r="35998" b="22843"/>
          <a:stretch>
            <a:fillRect/>
          </a:stretch>
        </p:blipFill>
        <p:spPr bwMode="auto">
          <a:xfrm>
            <a:off x="486887" y="1496290"/>
            <a:ext cx="7315201" cy="4073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613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6D2E46"/>
        </a:solidFill>
        <a:effectLst/>
      </p:bgPr>
    </p:bg>
    <p:spTree>
      <p:nvGrpSpPr>
        <p:cNvPr id="1" name=""/>
        <p:cNvGrpSpPr/>
        <p:nvPr/>
      </p:nvGrpSpPr>
      <p:grpSpPr>
        <a:xfrm>
          <a:off x="0" y="0"/>
          <a:ext cx="0" cy="0"/>
          <a:chOff x="0" y="0"/>
          <a:chExt cx="0" cy="0"/>
        </a:xfrm>
      </p:grpSpPr>
      <p:sp>
        <p:nvSpPr>
          <p:cNvPr id="2" name="Text 0"/>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F2E7DE"/>
                </a:solidFill>
                <a:latin typeface="Calibri" pitchFamily="34" charset="0"/>
                <a:ea typeface="Calibri" pitchFamily="34" charset="-122"/>
                <a:cs typeface="Calibri" pitchFamily="34" charset="-120"/>
              </a:rPr>
              <a:t>WHY NOBODY SAW IT</a:t>
            </a:r>
            <a:endParaRPr lang="en-US" sz="1150" dirty="0"/>
          </a:p>
        </p:txBody>
      </p:sp>
      <p:sp>
        <p:nvSpPr>
          <p:cNvPr id="3" name="Text 1"/>
          <p:cNvSpPr/>
          <p:nvPr/>
        </p:nvSpPr>
        <p:spPr>
          <a:xfrm>
            <a:off x="640080" y="411480"/>
            <a:ext cx="10881360" cy="685800"/>
          </a:xfrm>
          <a:prstGeom prst="rect">
            <a:avLst/>
          </a:prstGeom>
          <a:noFill/>
          <a:ln/>
        </p:spPr>
        <p:txBody>
          <a:bodyPr wrap="square" lIns="0" tIns="0" rIns="0" bIns="0" rtlCol="0" anchor="ctr"/>
          <a:lstStyle/>
          <a:p>
            <a:pPr marL="0" indent="0" algn="l">
              <a:buNone/>
            </a:pPr>
            <a:r>
              <a:rPr lang="en-US" sz="3100" b="1" dirty="0">
                <a:solidFill>
                  <a:srgbClr val="FFFFFF"/>
                </a:solidFill>
                <a:latin typeface="Cambria" pitchFamily="34" charset="0"/>
                <a:ea typeface="Cambria" pitchFamily="34" charset="-122"/>
                <a:cs typeface="Cambria" pitchFamily="34" charset="-120"/>
              </a:rPr>
              <a:t>We were reading the bullet holes on the planes that came back</a:t>
            </a:r>
            <a:endParaRPr lang="en-US" sz="3100" dirty="0"/>
          </a:p>
        </p:txBody>
      </p:sp>
      <p:sp>
        <p:nvSpPr>
          <p:cNvPr id="4" name="Text 2"/>
          <p:cNvSpPr/>
          <p:nvPr/>
        </p:nvSpPr>
        <p:spPr>
          <a:xfrm>
            <a:off x="640080" y="1371600"/>
            <a:ext cx="5760720" cy="1463040"/>
          </a:xfrm>
          <a:prstGeom prst="rect">
            <a:avLst/>
          </a:prstGeom>
          <a:noFill/>
          <a:ln/>
        </p:spPr>
        <p:txBody>
          <a:bodyPr wrap="square" lIns="0" tIns="0" rIns="0" bIns="0" rtlCol="0" anchor="ctr"/>
          <a:lstStyle/>
          <a:p>
            <a:pPr marL="0" indent="0">
              <a:lnSpc>
                <a:spcPts val="2200"/>
              </a:lnSpc>
              <a:buNone/>
            </a:pPr>
            <a:r>
              <a:rPr lang="en-US" sz="1400" dirty="0">
                <a:solidFill>
                  <a:srgbClr val="F2E7DE"/>
                </a:solidFill>
                <a:latin typeface="Calibri" pitchFamily="34" charset="0"/>
                <a:ea typeface="Calibri" pitchFamily="34" charset="-122"/>
                <a:cs typeface="Calibri" pitchFamily="34" charset="-120"/>
              </a:rPr>
              <a:t>In 1943 the Allies armoured their bombers where returning planes were most damaged. Abraham Wald pointed out the flaw: the planes hit elsewhere never came back to be measured. Our rating system has the same blind spot.</a:t>
            </a:r>
            <a:endParaRPr lang="en-US" sz="1400" dirty="0"/>
          </a:p>
        </p:txBody>
      </p:sp>
      <p:sp>
        <p:nvSpPr>
          <p:cNvPr id="5" name="Shape 3"/>
          <p:cNvSpPr/>
          <p:nvPr/>
        </p:nvSpPr>
        <p:spPr>
          <a:xfrm>
            <a:off x="640080" y="3063240"/>
            <a:ext cx="5760720" cy="960120"/>
          </a:xfrm>
          <a:prstGeom prst="roundRect">
            <a:avLst>
              <a:gd name="adj" fmla="val 7619"/>
            </a:avLst>
          </a:prstGeom>
          <a:solidFill>
            <a:srgbClr val="C9A227"/>
          </a:solidFill>
          <a:ln w="12700">
            <a:solidFill>
              <a:srgbClr val="333333"/>
            </a:solidFill>
            <a:prstDash val="solid"/>
          </a:ln>
        </p:spPr>
      </p:sp>
      <p:sp>
        <p:nvSpPr>
          <p:cNvPr id="6" name="Text 4"/>
          <p:cNvSpPr/>
          <p:nvPr/>
        </p:nvSpPr>
        <p:spPr>
          <a:xfrm>
            <a:off x="914400" y="3200400"/>
            <a:ext cx="5257800" cy="731520"/>
          </a:xfrm>
          <a:prstGeom prst="rect">
            <a:avLst/>
          </a:prstGeom>
          <a:noFill/>
          <a:ln/>
        </p:spPr>
        <p:txBody>
          <a:bodyPr wrap="square" lIns="0" tIns="0" rIns="0" bIns="0" rtlCol="0" anchor="ctr"/>
          <a:lstStyle/>
          <a:p>
            <a:pPr marL="0" indent="0">
              <a:lnSpc>
                <a:spcPts val="2000"/>
              </a:lnSpc>
              <a:buNone/>
            </a:pPr>
            <a:r>
              <a:rPr lang="en-US" sz="1400" b="1" i="1" dirty="0">
                <a:solidFill>
                  <a:srgbClr val="4A1B2C"/>
                </a:solidFill>
                <a:latin typeface="Calibri" pitchFamily="34" charset="0"/>
                <a:ea typeface="Calibri" pitchFamily="34" charset="-122"/>
                <a:cs typeface="Calibri" pitchFamily="34" charset="-120"/>
              </a:rPr>
              <a:t>A star rating can only ever be written by someone who is still willing to come back and write it.</a:t>
            </a:r>
            <a:endParaRPr lang="en-US" sz="1400" dirty="0"/>
          </a:p>
        </p:txBody>
      </p:sp>
      <p:sp>
        <p:nvSpPr>
          <p:cNvPr id="7" name="Text 5"/>
          <p:cNvSpPr/>
          <p:nvPr/>
        </p:nvSpPr>
        <p:spPr>
          <a:xfrm>
            <a:off x="640080" y="4251960"/>
            <a:ext cx="5760720" cy="822960"/>
          </a:xfrm>
          <a:prstGeom prst="rect">
            <a:avLst/>
          </a:prstGeom>
          <a:noFill/>
          <a:ln/>
        </p:spPr>
        <p:txBody>
          <a:bodyPr wrap="square" lIns="0" tIns="0" rIns="0" bIns="0" rtlCol="0" anchor="ctr"/>
          <a:lstStyle/>
          <a:p>
            <a:pPr marL="0" indent="0">
              <a:lnSpc>
                <a:spcPts val="2000"/>
              </a:lnSpc>
              <a:buNone/>
            </a:pPr>
            <a:r>
              <a:rPr lang="en-US" sz="1350" dirty="0">
                <a:solidFill>
                  <a:srgbClr val="FFFFFF"/>
                </a:solidFill>
                <a:latin typeface="Calibri" pitchFamily="34" charset="0"/>
                <a:ea typeface="Calibri" pitchFamily="34" charset="-122"/>
                <a:cs typeface="Calibri" pitchFamily="34" charset="-120"/>
              </a:rPr>
              <a:t>Churn is silent by construction. There is no one-star review for the meal you simply never returned for.</a:t>
            </a:r>
            <a:endParaRPr lang="en-US" sz="1350" dirty="0"/>
          </a:p>
        </p:txBody>
      </p:sp>
      <p:sp>
        <p:nvSpPr>
          <p:cNvPr id="8" name="Shape 6"/>
          <p:cNvSpPr/>
          <p:nvPr/>
        </p:nvSpPr>
        <p:spPr>
          <a:xfrm>
            <a:off x="6858000" y="1417320"/>
            <a:ext cx="4663440" cy="4160520"/>
          </a:xfrm>
          <a:prstGeom prst="roundRect">
            <a:avLst>
              <a:gd name="adj" fmla="val 2198"/>
            </a:avLst>
          </a:prstGeom>
          <a:solidFill>
            <a:srgbClr val="4A1B2C"/>
          </a:solidFill>
          <a:ln w="12700">
            <a:solidFill>
              <a:srgbClr val="333333"/>
            </a:solidFill>
            <a:prstDash val="solid"/>
          </a:ln>
        </p:spPr>
      </p:sp>
      <p:sp>
        <p:nvSpPr>
          <p:cNvPr id="9" name="Text 7"/>
          <p:cNvSpPr/>
          <p:nvPr/>
        </p:nvSpPr>
        <p:spPr>
          <a:xfrm>
            <a:off x="7132320" y="1600200"/>
            <a:ext cx="4114800" cy="4572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94,940</a:t>
            </a:r>
            <a:endParaRPr lang="en-US" sz="2800" dirty="0"/>
          </a:p>
        </p:txBody>
      </p:sp>
      <p:sp>
        <p:nvSpPr>
          <p:cNvPr id="10" name="Text 8"/>
          <p:cNvSpPr/>
          <p:nvPr/>
        </p:nvSpPr>
        <p:spPr>
          <a:xfrm>
            <a:off x="7132320" y="2048256"/>
            <a:ext cx="4114800" cy="256032"/>
          </a:xfrm>
          <a:prstGeom prst="rect">
            <a:avLst/>
          </a:prstGeom>
          <a:noFill/>
          <a:ln/>
        </p:spPr>
        <p:txBody>
          <a:bodyPr wrap="square" lIns="0" tIns="0" rIns="0" bIns="0" rtlCol="0" anchor="ctr"/>
          <a:lstStyle/>
          <a:p>
            <a:pPr marL="0" indent="0">
              <a:buNone/>
            </a:pPr>
            <a:r>
              <a:rPr lang="en-US" sz="1150" dirty="0">
                <a:solidFill>
                  <a:srgbClr val="F2E7DE"/>
                </a:solidFill>
                <a:latin typeface="Calibri" pitchFamily="34" charset="0"/>
                <a:ea typeface="Calibri" pitchFamily="34" charset="-122"/>
                <a:cs typeface="Calibri" pitchFamily="34" charset="-120"/>
              </a:rPr>
              <a:t>guests dined with us in FY25</a:t>
            </a:r>
            <a:endParaRPr lang="en-US" sz="1150" dirty="0"/>
          </a:p>
        </p:txBody>
      </p:sp>
      <p:sp>
        <p:nvSpPr>
          <p:cNvPr id="11" name="Shape 9"/>
          <p:cNvSpPr/>
          <p:nvPr/>
        </p:nvSpPr>
        <p:spPr>
          <a:xfrm>
            <a:off x="7178040" y="2487168"/>
            <a:ext cx="4023360" cy="914400"/>
          </a:xfrm>
          <a:prstGeom prst="roundRect">
            <a:avLst>
              <a:gd name="adj" fmla="val 8000"/>
            </a:avLst>
          </a:prstGeom>
          <a:solidFill>
            <a:srgbClr val="FFFFFF"/>
          </a:solidFill>
          <a:ln w="12700">
            <a:solidFill>
              <a:srgbClr val="333333"/>
            </a:solidFill>
            <a:prstDash val="solid"/>
          </a:ln>
        </p:spPr>
      </p:sp>
      <p:sp>
        <p:nvSpPr>
          <p:cNvPr id="12" name="Text 10"/>
          <p:cNvSpPr/>
          <p:nvPr/>
        </p:nvSpPr>
        <p:spPr>
          <a:xfrm>
            <a:off x="7406640" y="2606040"/>
            <a:ext cx="3566160" cy="320040"/>
          </a:xfrm>
          <a:prstGeom prst="rect">
            <a:avLst/>
          </a:prstGeom>
          <a:noFill/>
          <a:ln/>
        </p:spPr>
        <p:txBody>
          <a:bodyPr wrap="square" lIns="0" tIns="0" rIns="0" bIns="0" rtlCol="0" anchor="ctr"/>
          <a:lstStyle/>
          <a:p>
            <a:pPr marL="0" indent="0">
              <a:buNone/>
            </a:pPr>
            <a:r>
              <a:rPr lang="en-US" sz="1400" b="1" dirty="0">
                <a:solidFill>
                  <a:srgbClr val="6D2E46"/>
                </a:solidFill>
                <a:latin typeface="Calibri" pitchFamily="34" charset="0"/>
                <a:ea typeface="Calibri" pitchFamily="34" charset="-122"/>
                <a:cs typeface="Calibri" pitchFamily="34" charset="-120"/>
              </a:rPr>
              <a:t>4,762 wrote a review</a:t>
            </a:r>
            <a:endParaRPr lang="en-US" sz="1400" dirty="0"/>
          </a:p>
        </p:txBody>
      </p:sp>
      <p:sp>
        <p:nvSpPr>
          <p:cNvPr id="13" name="Text 11"/>
          <p:cNvSpPr/>
          <p:nvPr/>
        </p:nvSpPr>
        <p:spPr>
          <a:xfrm>
            <a:off x="7406640" y="2926080"/>
            <a:ext cx="3566160" cy="365760"/>
          </a:xfrm>
          <a:prstGeom prst="rect">
            <a:avLst/>
          </a:prstGeom>
          <a:noFill/>
          <a:ln/>
        </p:spPr>
        <p:txBody>
          <a:bodyPr wrap="square" lIns="0" tIns="0" rIns="0" bIns="0" rtlCol="0" anchor="ctr"/>
          <a:lstStyle/>
          <a:p>
            <a:pPr marL="0" indent="0">
              <a:buNone/>
            </a:pPr>
            <a:r>
              <a:rPr lang="en-US" sz="1100" dirty="0">
                <a:solidFill>
                  <a:srgbClr val="5F5155"/>
                </a:solidFill>
                <a:latin typeface="Calibri" pitchFamily="34" charset="0"/>
                <a:ea typeface="Calibri" pitchFamily="34" charset="-122"/>
                <a:cs typeface="Calibri" pitchFamily="34" charset="-120"/>
              </a:rPr>
              <a:t>5.0% of guests — and they set the 4.68★</a:t>
            </a:r>
            <a:endParaRPr lang="en-US" sz="1100" dirty="0"/>
          </a:p>
        </p:txBody>
      </p:sp>
      <p:sp>
        <p:nvSpPr>
          <p:cNvPr id="14" name="Shape 12"/>
          <p:cNvSpPr/>
          <p:nvPr/>
        </p:nvSpPr>
        <p:spPr>
          <a:xfrm>
            <a:off x="7178040" y="3566160"/>
            <a:ext cx="4023360" cy="914400"/>
          </a:xfrm>
          <a:prstGeom prst="roundRect">
            <a:avLst>
              <a:gd name="adj" fmla="val 8000"/>
            </a:avLst>
          </a:prstGeom>
          <a:solidFill>
            <a:srgbClr val="B3382C"/>
          </a:solidFill>
          <a:ln w="12700">
            <a:solidFill>
              <a:srgbClr val="333333"/>
            </a:solidFill>
            <a:prstDash val="solid"/>
          </a:ln>
        </p:spPr>
      </p:sp>
      <p:sp>
        <p:nvSpPr>
          <p:cNvPr id="15" name="Text 13"/>
          <p:cNvSpPr/>
          <p:nvPr/>
        </p:nvSpPr>
        <p:spPr>
          <a:xfrm>
            <a:off x="7406640" y="3685032"/>
            <a:ext cx="356616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67,489 never came back</a:t>
            </a:r>
            <a:endParaRPr lang="en-US" sz="1400" dirty="0"/>
          </a:p>
        </p:txBody>
      </p:sp>
      <p:sp>
        <p:nvSpPr>
          <p:cNvPr id="16" name="Text 14"/>
          <p:cNvSpPr/>
          <p:nvPr/>
        </p:nvSpPr>
        <p:spPr>
          <a:xfrm>
            <a:off x="7406640" y="4005072"/>
            <a:ext cx="3566160" cy="365760"/>
          </a:xfrm>
          <a:prstGeom prst="rect">
            <a:avLst/>
          </a:prstGeom>
          <a:noFill/>
          <a:ln/>
        </p:spPr>
        <p:txBody>
          <a:bodyPr wrap="square" lIns="0" tIns="0" rIns="0" bIns="0" rtlCol="0" anchor="ctr"/>
          <a:lstStyle/>
          <a:p>
            <a:pPr marL="0" indent="0">
              <a:buNone/>
            </a:pPr>
            <a:r>
              <a:rPr lang="en-US" sz="1100" dirty="0">
                <a:solidFill>
                  <a:srgbClr val="FBE7E4"/>
                </a:solidFill>
                <a:latin typeface="Calibri" pitchFamily="34" charset="0"/>
                <a:ea typeface="Calibri" pitchFamily="34" charset="-122"/>
                <a:cs typeface="Calibri" pitchFamily="34" charset="-120"/>
              </a:rPr>
              <a:t>71% of guests — and they said nothing</a:t>
            </a:r>
            <a:endParaRPr lang="en-US" sz="1100" dirty="0"/>
          </a:p>
        </p:txBody>
      </p:sp>
      <p:sp>
        <p:nvSpPr>
          <p:cNvPr id="17" name="Text 15"/>
          <p:cNvSpPr/>
          <p:nvPr/>
        </p:nvSpPr>
        <p:spPr>
          <a:xfrm>
            <a:off x="7178040" y="4663440"/>
            <a:ext cx="4023360" cy="777240"/>
          </a:xfrm>
          <a:prstGeom prst="rect">
            <a:avLst/>
          </a:prstGeom>
          <a:noFill/>
          <a:ln/>
        </p:spPr>
        <p:txBody>
          <a:bodyPr wrap="square" lIns="0" tIns="0" rIns="0" bIns="0" rtlCol="0" anchor="ctr"/>
          <a:lstStyle/>
          <a:p>
            <a:pPr marL="0" indent="0">
              <a:lnSpc>
                <a:spcPts val="1700"/>
              </a:lnSpc>
              <a:buNone/>
            </a:pPr>
            <a:r>
              <a:rPr lang="en-US" sz="1200" i="1" dirty="0">
                <a:solidFill>
                  <a:srgbClr val="F2E7DE"/>
                </a:solidFill>
                <a:latin typeface="Calibri" pitchFamily="34" charset="0"/>
                <a:ea typeface="Calibri" pitchFamily="34" charset="-122"/>
                <a:cs typeface="Calibri" pitchFamily="34" charset="-120"/>
              </a:rPr>
              <a:t>The metric on the boardroom wall is built from the 5% least likely to be disappointed.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ea typeface="Calibri" pitchFamily="34" charset="-122"/>
                <a:cs typeface="Calibri" pitchFamily="34" charset="-120"/>
              </a:rPr>
              <a:t>SO WHAT</a:t>
            </a:r>
            <a:endParaRPr lang="en-US" sz="1150" dirty="0"/>
          </a:p>
        </p:txBody>
      </p:sp>
      <p:sp>
        <p:nvSpPr>
          <p:cNvPr id="3" name="Text 1"/>
          <p:cNvSpPr/>
          <p:nvPr/>
        </p:nvSpPr>
        <p:spPr>
          <a:xfrm>
            <a:off x="640080" y="411480"/>
            <a:ext cx="10881360" cy="68580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What the silence has already cost</a:t>
            </a:r>
            <a:endParaRPr lang="en-US" sz="3400" dirty="0"/>
          </a:p>
        </p:txBody>
      </p:sp>
      <p:sp>
        <p:nvSpPr>
          <p:cNvPr id="4" name="Shape 2"/>
          <p:cNvSpPr/>
          <p:nvPr/>
        </p:nvSpPr>
        <p:spPr>
          <a:xfrm>
            <a:off x="640080" y="1371600"/>
            <a:ext cx="3474720" cy="2240280"/>
          </a:xfrm>
          <a:prstGeom prst="roundRect">
            <a:avLst>
              <a:gd name="adj" fmla="val 3673"/>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5" name="Text 3"/>
          <p:cNvSpPr/>
          <p:nvPr/>
        </p:nvSpPr>
        <p:spPr>
          <a:xfrm>
            <a:off x="896112" y="1627632"/>
            <a:ext cx="2962656" cy="713232"/>
          </a:xfrm>
          <a:prstGeom prst="rect">
            <a:avLst/>
          </a:prstGeom>
          <a:noFill/>
          <a:ln/>
        </p:spPr>
        <p:txBody>
          <a:bodyPr wrap="square" lIns="0" tIns="0" rIns="0" bIns="0" rtlCol="0" anchor="ctr"/>
          <a:lstStyle/>
          <a:p>
            <a:pPr marL="0" indent="0">
              <a:buNone/>
            </a:pPr>
            <a:r>
              <a:rPr lang="en-US" sz="3400" b="1" dirty="0">
                <a:solidFill>
                  <a:srgbClr val="B3382C"/>
                </a:solidFill>
                <a:latin typeface="Cambria" pitchFamily="34" charset="0"/>
                <a:ea typeface="Cambria" pitchFamily="34" charset="-122"/>
                <a:cs typeface="Cambria" pitchFamily="34" charset="-120"/>
              </a:rPr>
              <a:t>₹3.16 Cr</a:t>
            </a:r>
            <a:endParaRPr lang="en-US" sz="3400" dirty="0"/>
          </a:p>
        </p:txBody>
      </p:sp>
      <p:sp>
        <p:nvSpPr>
          <p:cNvPr id="6" name="Text 4"/>
          <p:cNvSpPr/>
          <p:nvPr/>
        </p:nvSpPr>
        <p:spPr>
          <a:xfrm>
            <a:off x="896112" y="2395728"/>
            <a:ext cx="2962656" cy="457200"/>
          </a:xfrm>
          <a:prstGeom prst="rect">
            <a:avLst/>
          </a:prstGeom>
          <a:noFill/>
          <a:ln/>
        </p:spPr>
        <p:txBody>
          <a:bodyPr wrap="square" lIns="0" tIns="0" rIns="0" bIns="0" rtlCol="0" anchor="ctr"/>
          <a:lstStyle/>
          <a:p>
            <a:pPr marL="0" indent="0">
              <a:lnSpc>
                <a:spcPts val="1900"/>
              </a:lnSpc>
              <a:buNone/>
            </a:pPr>
            <a:r>
              <a:rPr lang="en-US" sz="1400" b="1" dirty="0">
                <a:solidFill>
                  <a:srgbClr val="241A1D"/>
                </a:solidFill>
                <a:latin typeface="Calibri" pitchFamily="34" charset="0"/>
                <a:ea typeface="Calibri" pitchFamily="34" charset="-122"/>
                <a:cs typeface="Calibri" pitchFamily="34" charset="-120"/>
              </a:rPr>
              <a:t>annualised revenue lost</a:t>
            </a:r>
            <a:endParaRPr lang="en-US" sz="1400" dirty="0"/>
          </a:p>
        </p:txBody>
      </p:sp>
      <p:sp>
        <p:nvSpPr>
          <p:cNvPr id="7" name="Text 5"/>
          <p:cNvSpPr/>
          <p:nvPr/>
        </p:nvSpPr>
        <p:spPr>
          <a:xfrm>
            <a:off x="896112" y="2880360"/>
            <a:ext cx="2962656" cy="548640"/>
          </a:xfrm>
          <a:prstGeom prst="rect">
            <a:avLst/>
          </a:prstGeom>
          <a:noFill/>
          <a:ln/>
        </p:spPr>
        <p:txBody>
          <a:bodyPr wrap="square" lIns="0" tIns="0" rIns="0" bIns="0" rtlCol="0" anchor="ctr"/>
          <a:lstStyle/>
          <a:p>
            <a:pPr marL="0" indent="0">
              <a:lnSpc>
                <a:spcPts val="1600"/>
              </a:lnSpc>
              <a:buNone/>
            </a:pPr>
            <a:r>
              <a:rPr lang="en-US" sz="1150" dirty="0">
                <a:solidFill>
                  <a:srgbClr val="5F5155"/>
                </a:solidFill>
                <a:latin typeface="Calibri" pitchFamily="34" charset="0"/>
                <a:ea typeface="Calibri" pitchFamily="34" charset="-122"/>
                <a:cs typeface="Calibri" pitchFamily="34" charset="-120"/>
              </a:rPr>
              <a:t>at December's repeat-visit run rate</a:t>
            </a:r>
            <a:endParaRPr lang="en-US" sz="1150" dirty="0"/>
          </a:p>
        </p:txBody>
      </p:sp>
      <p:sp>
        <p:nvSpPr>
          <p:cNvPr id="8" name="Shape 6"/>
          <p:cNvSpPr/>
          <p:nvPr/>
        </p:nvSpPr>
        <p:spPr>
          <a:xfrm>
            <a:off x="4361688" y="1371600"/>
            <a:ext cx="3474720" cy="2240280"/>
          </a:xfrm>
          <a:prstGeom prst="roundRect">
            <a:avLst>
              <a:gd name="adj" fmla="val 3673"/>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9" name="Text 7"/>
          <p:cNvSpPr/>
          <p:nvPr/>
        </p:nvSpPr>
        <p:spPr>
          <a:xfrm>
            <a:off x="4617720" y="1627632"/>
            <a:ext cx="2962656" cy="713232"/>
          </a:xfrm>
          <a:prstGeom prst="rect">
            <a:avLst/>
          </a:prstGeom>
          <a:noFill/>
          <a:ln/>
        </p:spPr>
        <p:txBody>
          <a:bodyPr wrap="square" lIns="0" tIns="0" rIns="0" bIns="0" rtlCol="0" anchor="ctr"/>
          <a:lstStyle/>
          <a:p>
            <a:pPr marL="0" indent="0">
              <a:buNone/>
            </a:pPr>
            <a:r>
              <a:rPr lang="en-US" sz="3400" b="1" dirty="0">
                <a:solidFill>
                  <a:srgbClr val="6D2E46"/>
                </a:solidFill>
                <a:latin typeface="Cambria" pitchFamily="34" charset="0"/>
                <a:ea typeface="Cambria" pitchFamily="34" charset="-122"/>
                <a:cs typeface="Cambria" pitchFamily="34" charset="-120"/>
              </a:rPr>
              <a:t>3,250</a:t>
            </a:r>
            <a:endParaRPr lang="en-US" sz="3400" dirty="0"/>
          </a:p>
        </p:txBody>
      </p:sp>
      <p:sp>
        <p:nvSpPr>
          <p:cNvPr id="10" name="Text 8"/>
          <p:cNvSpPr/>
          <p:nvPr/>
        </p:nvSpPr>
        <p:spPr>
          <a:xfrm>
            <a:off x="4617720" y="2395728"/>
            <a:ext cx="2962656" cy="457200"/>
          </a:xfrm>
          <a:prstGeom prst="rect">
            <a:avLst/>
          </a:prstGeom>
          <a:noFill/>
          <a:ln/>
        </p:spPr>
        <p:txBody>
          <a:bodyPr wrap="square" lIns="0" tIns="0" rIns="0" bIns="0" rtlCol="0" anchor="ctr"/>
          <a:lstStyle/>
          <a:p>
            <a:pPr marL="0" indent="0">
              <a:lnSpc>
                <a:spcPts val="1900"/>
              </a:lnSpc>
              <a:buNone/>
            </a:pPr>
            <a:r>
              <a:rPr lang="en-US" sz="1400" b="1" dirty="0">
                <a:solidFill>
                  <a:srgbClr val="241A1D"/>
                </a:solidFill>
                <a:latin typeface="Calibri" pitchFamily="34" charset="0"/>
                <a:ea typeface="Calibri" pitchFamily="34" charset="-122"/>
                <a:cs typeface="Calibri" pitchFamily="34" charset="-120"/>
              </a:rPr>
              <a:t>repeat covers lost per month</a:t>
            </a:r>
            <a:endParaRPr lang="en-US" sz="1400" dirty="0"/>
          </a:p>
        </p:txBody>
      </p:sp>
      <p:sp>
        <p:nvSpPr>
          <p:cNvPr id="11" name="Text 9"/>
          <p:cNvSpPr/>
          <p:nvPr/>
        </p:nvSpPr>
        <p:spPr>
          <a:xfrm>
            <a:off x="4617720" y="2880360"/>
            <a:ext cx="2962656" cy="548640"/>
          </a:xfrm>
          <a:prstGeom prst="rect">
            <a:avLst/>
          </a:prstGeom>
          <a:noFill/>
          <a:ln/>
        </p:spPr>
        <p:txBody>
          <a:bodyPr wrap="square" lIns="0" tIns="0" rIns="0" bIns="0" rtlCol="0" anchor="ctr"/>
          <a:lstStyle/>
          <a:p>
            <a:pPr marL="0" indent="0">
              <a:lnSpc>
                <a:spcPts val="1600"/>
              </a:lnSpc>
              <a:buNone/>
            </a:pPr>
            <a:r>
              <a:rPr lang="en-US" sz="1150" dirty="0">
                <a:solidFill>
                  <a:srgbClr val="5F5155"/>
                </a:solidFill>
                <a:latin typeface="Calibri" pitchFamily="34" charset="0"/>
                <a:ea typeface="Calibri" pitchFamily="34" charset="-122"/>
                <a:cs typeface="Calibri" pitchFamily="34" charset="-120"/>
              </a:rPr>
              <a:t>versus January 2025</a:t>
            </a:r>
            <a:endParaRPr lang="en-US" sz="1150" dirty="0"/>
          </a:p>
        </p:txBody>
      </p:sp>
      <p:sp>
        <p:nvSpPr>
          <p:cNvPr id="12" name="Shape 10"/>
          <p:cNvSpPr/>
          <p:nvPr/>
        </p:nvSpPr>
        <p:spPr>
          <a:xfrm>
            <a:off x="8083296" y="1371600"/>
            <a:ext cx="3474720" cy="2240280"/>
          </a:xfrm>
          <a:prstGeom prst="roundRect">
            <a:avLst>
              <a:gd name="adj" fmla="val 3673"/>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13" name="Text 11"/>
          <p:cNvSpPr/>
          <p:nvPr/>
        </p:nvSpPr>
        <p:spPr>
          <a:xfrm>
            <a:off x="8339328" y="1627632"/>
            <a:ext cx="2962656" cy="713232"/>
          </a:xfrm>
          <a:prstGeom prst="rect">
            <a:avLst/>
          </a:prstGeom>
          <a:noFill/>
          <a:ln/>
        </p:spPr>
        <p:txBody>
          <a:bodyPr wrap="square" lIns="0" tIns="0" rIns="0" bIns="0" rtlCol="0" anchor="ctr"/>
          <a:lstStyle/>
          <a:p>
            <a:pPr marL="0" indent="0">
              <a:buNone/>
            </a:pPr>
            <a:r>
              <a:rPr lang="en-US" sz="3400" b="1" dirty="0">
                <a:solidFill>
                  <a:srgbClr val="6D2E46"/>
                </a:solidFill>
                <a:latin typeface="Cambria" pitchFamily="34" charset="0"/>
                <a:ea typeface="Cambria" pitchFamily="34" charset="-122"/>
                <a:cs typeface="Cambria" pitchFamily="34" charset="-120"/>
              </a:rPr>
              <a:t>₹1.1 Cr</a:t>
            </a:r>
            <a:endParaRPr lang="en-US" sz="3400" dirty="0"/>
          </a:p>
        </p:txBody>
      </p:sp>
      <p:sp>
        <p:nvSpPr>
          <p:cNvPr id="14" name="Text 12"/>
          <p:cNvSpPr/>
          <p:nvPr/>
        </p:nvSpPr>
        <p:spPr>
          <a:xfrm>
            <a:off x="8339328" y="2395728"/>
            <a:ext cx="2962656" cy="457200"/>
          </a:xfrm>
          <a:prstGeom prst="rect">
            <a:avLst/>
          </a:prstGeom>
          <a:noFill/>
          <a:ln/>
        </p:spPr>
        <p:txBody>
          <a:bodyPr wrap="square" lIns="0" tIns="0" rIns="0" bIns="0" rtlCol="0" anchor="ctr"/>
          <a:lstStyle/>
          <a:p>
            <a:pPr marL="0" indent="0">
              <a:lnSpc>
                <a:spcPts val="1900"/>
              </a:lnSpc>
              <a:buNone/>
            </a:pPr>
            <a:r>
              <a:rPr lang="en-US" sz="1400" b="1" dirty="0">
                <a:solidFill>
                  <a:srgbClr val="241A1D"/>
                </a:solidFill>
                <a:latin typeface="Calibri" pitchFamily="34" charset="0"/>
                <a:ea typeface="Calibri" pitchFamily="34" charset="-122"/>
                <a:cs typeface="Calibri" pitchFamily="34" charset="-120"/>
              </a:rPr>
              <a:t>spent re-acquiring guests</a:t>
            </a:r>
            <a:endParaRPr lang="en-US" sz="1400" dirty="0"/>
          </a:p>
        </p:txBody>
      </p:sp>
      <p:sp>
        <p:nvSpPr>
          <p:cNvPr id="15" name="Text 13"/>
          <p:cNvSpPr/>
          <p:nvPr/>
        </p:nvSpPr>
        <p:spPr>
          <a:xfrm>
            <a:off x="8339328" y="2880360"/>
            <a:ext cx="2962656" cy="548640"/>
          </a:xfrm>
          <a:prstGeom prst="rect">
            <a:avLst/>
          </a:prstGeom>
          <a:noFill/>
          <a:ln/>
        </p:spPr>
        <p:txBody>
          <a:bodyPr wrap="square" lIns="0" tIns="0" rIns="0" bIns="0" rtlCol="0" anchor="ctr"/>
          <a:lstStyle/>
          <a:p>
            <a:pPr marL="0" indent="0">
              <a:lnSpc>
                <a:spcPts val="1600"/>
              </a:lnSpc>
              <a:buNone/>
            </a:pPr>
            <a:r>
              <a:rPr lang="en-US" sz="1150" dirty="0">
                <a:solidFill>
                  <a:srgbClr val="5F5155"/>
                </a:solidFill>
                <a:latin typeface="Calibri" pitchFamily="34" charset="0"/>
                <a:ea typeface="Calibri" pitchFamily="34" charset="-122"/>
                <a:cs typeface="Calibri" pitchFamily="34" charset="-120"/>
              </a:rPr>
              <a:t>we had already won once</a:t>
            </a:r>
            <a:endParaRPr lang="en-US" sz="1150" dirty="0"/>
          </a:p>
        </p:txBody>
      </p:sp>
      <p:sp>
        <p:nvSpPr>
          <p:cNvPr id="16" name="Shape 14"/>
          <p:cNvSpPr/>
          <p:nvPr/>
        </p:nvSpPr>
        <p:spPr>
          <a:xfrm>
            <a:off x="640080" y="3886200"/>
            <a:ext cx="10881360" cy="1371600"/>
          </a:xfrm>
          <a:prstGeom prst="roundRect">
            <a:avLst>
              <a:gd name="adj" fmla="val 6667"/>
            </a:avLst>
          </a:prstGeom>
          <a:solidFill>
            <a:srgbClr val="6D2E46"/>
          </a:solidFill>
          <a:ln w="12700">
            <a:solidFill>
              <a:srgbClr val="333333"/>
            </a:solidFill>
            <a:prstDash val="solid"/>
          </a:ln>
        </p:spPr>
      </p:sp>
      <p:sp>
        <p:nvSpPr>
          <p:cNvPr id="17" name="Text 15"/>
          <p:cNvSpPr/>
          <p:nvPr/>
        </p:nvSpPr>
        <p:spPr>
          <a:xfrm>
            <a:off x="1005840" y="4069080"/>
            <a:ext cx="10149840" cy="274320"/>
          </a:xfrm>
          <a:prstGeom prst="rect">
            <a:avLst/>
          </a:prstGeom>
          <a:noFill/>
          <a:ln/>
        </p:spPr>
        <p:txBody>
          <a:bodyPr wrap="square" lIns="0" tIns="0" rIns="0" bIns="0" rtlCol="0" anchor="ctr"/>
          <a:lstStyle/>
          <a:p>
            <a:pPr marL="0" indent="0">
              <a:buNone/>
            </a:pPr>
            <a:r>
              <a:rPr lang="en-US" sz="1200" b="1" kern="0" spc="120" dirty="0">
                <a:solidFill>
                  <a:srgbClr val="F2CF6D"/>
                </a:solidFill>
                <a:latin typeface="Calibri" pitchFamily="34" charset="0"/>
                <a:ea typeface="Calibri" pitchFamily="34" charset="-122"/>
                <a:cs typeface="Calibri" pitchFamily="34" charset="-120"/>
              </a:rPr>
              <a:t>And the compounding problem:</a:t>
            </a:r>
            <a:endParaRPr lang="en-US" sz="1200" dirty="0"/>
          </a:p>
        </p:txBody>
      </p:sp>
      <p:sp>
        <p:nvSpPr>
          <p:cNvPr id="18" name="Text 16"/>
          <p:cNvSpPr/>
          <p:nvPr/>
        </p:nvSpPr>
        <p:spPr>
          <a:xfrm>
            <a:off x="1005840" y="4370832"/>
            <a:ext cx="10149840" cy="731520"/>
          </a:xfrm>
          <a:prstGeom prst="rect">
            <a:avLst/>
          </a:prstGeom>
          <a:noFill/>
          <a:ln/>
        </p:spPr>
        <p:txBody>
          <a:bodyPr wrap="square" lIns="0" tIns="0" rIns="0" bIns="0" rtlCol="0" anchor="ctr"/>
          <a:lstStyle/>
          <a:p>
            <a:pPr marL="0" indent="0">
              <a:lnSpc>
                <a:spcPts val="2200"/>
              </a:lnSpc>
              <a:buNone/>
            </a:pPr>
            <a:r>
              <a:rPr lang="en-US" sz="1500" dirty="0">
                <a:solidFill>
                  <a:srgbClr val="FFFFFF"/>
                </a:solidFill>
                <a:latin typeface="Calibri" pitchFamily="34" charset="0"/>
                <a:ea typeface="Calibri" pitchFamily="34" charset="-122"/>
                <a:cs typeface="Calibri" pitchFamily="34" charset="-120"/>
              </a:rPr>
              <a:t>Every month the rating rises, the case for changing anything gets weaker. The metric is not merely failing to detect the problem — it is actively arguing against fixing it.</a:t>
            </a:r>
            <a:endParaRPr lang="en-US" sz="1500" dirty="0"/>
          </a:p>
        </p:txBody>
      </p:sp>
      <p:sp>
        <p:nvSpPr>
          <p:cNvPr id="19" name="Text 17"/>
          <p:cNvSpPr/>
          <p:nvPr/>
        </p:nvSpPr>
        <p:spPr>
          <a:xfrm>
            <a:off x="640080" y="5486400"/>
            <a:ext cx="10881360" cy="731520"/>
          </a:xfrm>
          <a:prstGeom prst="rect">
            <a:avLst/>
          </a:prstGeom>
          <a:noFill/>
          <a:ln/>
        </p:spPr>
        <p:txBody>
          <a:bodyPr wrap="square" lIns="0" tIns="0" rIns="0" bIns="0" rtlCol="0" anchor="ctr"/>
          <a:lstStyle/>
          <a:p>
            <a:pPr marL="0" indent="0">
              <a:lnSpc>
                <a:spcPts val="2000"/>
              </a:lnSpc>
              <a:buNone/>
            </a:pPr>
            <a:r>
              <a:rPr lang="en-US" sz="1350" i="1" dirty="0">
                <a:solidFill>
                  <a:srgbClr val="241A1D"/>
                </a:solidFill>
                <a:latin typeface="Calibri" pitchFamily="34" charset="0"/>
                <a:ea typeface="Calibri" pitchFamily="34" charset="-122"/>
                <a:cs typeface="Calibri" pitchFamily="34" charset="-120"/>
              </a:rPr>
              <a:t>₹1.2 crore of turnaround budget is currently earmarked for acquisition campaigns and a menu price review — both aimed at suspects the data has already cleared.</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9A4257"/>
                </a:solidFill>
                <a:latin typeface="Calibri" pitchFamily="34" charset="0"/>
                <a:ea typeface="Calibri" pitchFamily="34" charset="-122"/>
                <a:cs typeface="Calibri" pitchFamily="34" charset="-120"/>
              </a:rPr>
              <a:t>RECOMMENDATION</a:t>
            </a:r>
            <a:endParaRPr lang="en-US" sz="1150" dirty="0"/>
          </a:p>
        </p:txBody>
      </p:sp>
      <p:sp>
        <p:nvSpPr>
          <p:cNvPr id="3" name="Text 1"/>
          <p:cNvSpPr/>
          <p:nvPr/>
        </p:nvSpPr>
        <p:spPr>
          <a:xfrm>
            <a:off x="640080" y="411480"/>
            <a:ext cx="10881360" cy="68580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Move the ₹1.2 Cr from the front door to the back</a:t>
            </a:r>
            <a:endParaRPr lang="en-US" sz="3400" dirty="0"/>
          </a:p>
        </p:txBody>
      </p:sp>
      <p:sp>
        <p:nvSpPr>
          <p:cNvPr id="4" name="Shape 2"/>
          <p:cNvSpPr/>
          <p:nvPr/>
        </p:nvSpPr>
        <p:spPr>
          <a:xfrm>
            <a:off x="640080" y="1280160"/>
            <a:ext cx="10881360" cy="1417320"/>
          </a:xfrm>
          <a:prstGeom prst="roundRect">
            <a:avLst>
              <a:gd name="adj" fmla="val 5806"/>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5" name="Shape 3"/>
          <p:cNvSpPr/>
          <p:nvPr/>
        </p:nvSpPr>
        <p:spPr>
          <a:xfrm>
            <a:off x="896112" y="1664208"/>
            <a:ext cx="640080" cy="640080"/>
          </a:xfrm>
          <a:prstGeom prst="ellipse">
            <a:avLst/>
          </a:prstGeom>
          <a:solidFill>
            <a:srgbClr val="6D2E46"/>
          </a:solidFill>
          <a:ln w="12700">
            <a:solidFill>
              <a:srgbClr val="6D2E46"/>
            </a:solidFill>
            <a:prstDash val="solid"/>
          </a:ln>
        </p:spPr>
      </p:sp>
      <p:sp>
        <p:nvSpPr>
          <p:cNvPr id="6" name="Text 4"/>
          <p:cNvSpPr/>
          <p:nvPr/>
        </p:nvSpPr>
        <p:spPr>
          <a:xfrm>
            <a:off x="896112" y="1664208"/>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691640" y="1426464"/>
            <a:ext cx="4480560" cy="320040"/>
          </a:xfrm>
          <a:prstGeom prst="rect">
            <a:avLst/>
          </a:prstGeom>
          <a:noFill/>
          <a:ln/>
        </p:spPr>
        <p:txBody>
          <a:bodyPr wrap="square" lIns="0" tIns="0" rIns="0" bIns="0" rtlCol="0" anchor="ctr"/>
          <a:lstStyle/>
          <a:p>
            <a:pPr marL="0" indent="0">
              <a:buNone/>
            </a:pPr>
            <a:r>
              <a:rPr lang="en-US" sz="1700" b="1" dirty="0">
                <a:solidFill>
                  <a:srgbClr val="6D2E46"/>
                </a:solidFill>
                <a:latin typeface="Cambria" pitchFamily="34" charset="0"/>
                <a:ea typeface="Cambria" pitchFamily="34" charset="-122"/>
                <a:cs typeface="Cambria" pitchFamily="34" charset="-120"/>
              </a:rPr>
              <a:t>Measure the churn you cannot see</a:t>
            </a:r>
            <a:endParaRPr lang="en-US" sz="1700" dirty="0"/>
          </a:p>
        </p:txBody>
      </p:sp>
      <p:sp>
        <p:nvSpPr>
          <p:cNvPr id="8" name="Text 6"/>
          <p:cNvSpPr/>
          <p:nvPr/>
        </p:nvSpPr>
        <p:spPr>
          <a:xfrm>
            <a:off x="1691640" y="1783080"/>
            <a:ext cx="4480560" cy="822960"/>
          </a:xfrm>
          <a:prstGeom prst="rect">
            <a:avLst/>
          </a:prstGeom>
          <a:noFill/>
          <a:ln/>
        </p:spPr>
        <p:txBody>
          <a:bodyPr wrap="square" lIns="0" tIns="0" rIns="0" bIns="0" rtlCol="0" anchor="ctr"/>
          <a:lstStyle/>
          <a:p>
            <a:pPr marL="0" indent="0">
              <a:lnSpc>
                <a:spcPts val="1600"/>
              </a:lnSpc>
              <a:buNone/>
            </a:pPr>
            <a:r>
              <a:rPr lang="en-US" sz="1150" dirty="0">
                <a:solidFill>
                  <a:srgbClr val="5F5155"/>
                </a:solidFill>
                <a:latin typeface="Calibri" pitchFamily="34" charset="0"/>
                <a:ea typeface="Calibri" pitchFamily="34" charset="-122"/>
                <a:cs typeface="Calibri" pitchFamily="34" charset="-120"/>
              </a:rPr>
              <a:t>Replace the star rating as the headline KPI with 90-day Repeat Visit Rate, reported by outlet every month. Trigger an exit survey to any guest 60 days silent.</a:t>
            </a:r>
            <a:endParaRPr lang="en-US" sz="1150" dirty="0"/>
          </a:p>
        </p:txBody>
      </p:sp>
      <p:sp>
        <p:nvSpPr>
          <p:cNvPr id="9" name="Text 7"/>
          <p:cNvSpPr/>
          <p:nvPr/>
        </p:nvSpPr>
        <p:spPr>
          <a:xfrm>
            <a:off x="6400800" y="1481328"/>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OWNER</a:t>
            </a:r>
            <a:endParaRPr lang="en-US" sz="800" dirty="0"/>
          </a:p>
        </p:txBody>
      </p:sp>
      <p:sp>
        <p:nvSpPr>
          <p:cNvPr id="10" name="Text 8"/>
          <p:cNvSpPr/>
          <p:nvPr/>
        </p:nvSpPr>
        <p:spPr>
          <a:xfrm>
            <a:off x="6400800" y="1700784"/>
            <a:ext cx="1188720" cy="868680"/>
          </a:xfrm>
          <a:prstGeom prst="rect">
            <a:avLst/>
          </a:prstGeom>
          <a:noFill/>
          <a:ln/>
        </p:spPr>
        <p:txBody>
          <a:bodyPr wrap="square" lIns="0" tIns="0" rIns="0" bIns="0" rtlCol="0" anchor="ctr"/>
          <a:lstStyle/>
          <a:p>
            <a:pPr marL="0" indent="0">
              <a:lnSpc>
                <a:spcPts val="1200"/>
              </a:lnSpc>
              <a:buNone/>
            </a:pPr>
            <a:r>
              <a:rPr lang="en-US" sz="950" dirty="0">
                <a:solidFill>
                  <a:srgbClr val="241A1D"/>
                </a:solidFill>
                <a:latin typeface="Calibri" pitchFamily="34" charset="0"/>
                <a:ea typeface="Calibri" pitchFamily="34" charset="-122"/>
                <a:cs typeface="Calibri" pitchFamily="34" charset="-120"/>
              </a:rPr>
              <a:t>Head of Insights</a:t>
            </a:r>
            <a:endParaRPr lang="en-US" sz="950" dirty="0"/>
          </a:p>
        </p:txBody>
      </p:sp>
      <p:sp>
        <p:nvSpPr>
          <p:cNvPr id="11" name="Text 9"/>
          <p:cNvSpPr/>
          <p:nvPr/>
        </p:nvSpPr>
        <p:spPr>
          <a:xfrm>
            <a:off x="7662672" y="1481328"/>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SUCCESS METRIC</a:t>
            </a:r>
            <a:endParaRPr lang="en-US" sz="800" dirty="0"/>
          </a:p>
        </p:txBody>
      </p:sp>
      <p:sp>
        <p:nvSpPr>
          <p:cNvPr id="12" name="Text 10"/>
          <p:cNvSpPr/>
          <p:nvPr/>
        </p:nvSpPr>
        <p:spPr>
          <a:xfrm>
            <a:off x="7662672" y="1700784"/>
            <a:ext cx="1188720" cy="868680"/>
          </a:xfrm>
          <a:prstGeom prst="rect">
            <a:avLst/>
          </a:prstGeom>
          <a:noFill/>
          <a:ln/>
        </p:spPr>
        <p:txBody>
          <a:bodyPr wrap="square" lIns="0" tIns="0" rIns="0" bIns="0" rtlCol="0" anchor="ctr"/>
          <a:lstStyle/>
          <a:p>
            <a:pPr marL="0" indent="0">
              <a:lnSpc>
                <a:spcPts val="1200"/>
              </a:lnSpc>
              <a:buNone/>
            </a:pPr>
            <a:r>
              <a:rPr lang="en-US" sz="950" dirty="0">
                <a:solidFill>
                  <a:srgbClr val="241A1D"/>
                </a:solidFill>
                <a:latin typeface="Calibri" pitchFamily="34" charset="0"/>
                <a:ea typeface="Calibri" pitchFamily="34" charset="-122"/>
                <a:cs typeface="Calibri" pitchFamily="34" charset="-120"/>
              </a:rPr>
              <a:t>90-day RVR live, all 12 outlets</a:t>
            </a:r>
            <a:endParaRPr lang="en-US" sz="950" dirty="0"/>
          </a:p>
        </p:txBody>
      </p:sp>
      <p:sp>
        <p:nvSpPr>
          <p:cNvPr id="13" name="Text 11"/>
          <p:cNvSpPr/>
          <p:nvPr/>
        </p:nvSpPr>
        <p:spPr>
          <a:xfrm>
            <a:off x="8924544" y="1481328"/>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TIMELINE</a:t>
            </a:r>
            <a:endParaRPr lang="en-US" sz="800" dirty="0"/>
          </a:p>
        </p:txBody>
      </p:sp>
      <p:sp>
        <p:nvSpPr>
          <p:cNvPr id="14" name="Text 12"/>
          <p:cNvSpPr/>
          <p:nvPr/>
        </p:nvSpPr>
        <p:spPr>
          <a:xfrm>
            <a:off x="8924544" y="1700784"/>
            <a:ext cx="1188720" cy="868680"/>
          </a:xfrm>
          <a:prstGeom prst="rect">
            <a:avLst/>
          </a:prstGeom>
          <a:noFill/>
          <a:ln/>
        </p:spPr>
        <p:txBody>
          <a:bodyPr wrap="square" lIns="0" tIns="0" rIns="0" bIns="0" rtlCol="0" anchor="ctr"/>
          <a:lstStyle/>
          <a:p>
            <a:pPr marL="0" indent="0">
              <a:lnSpc>
                <a:spcPts val="1200"/>
              </a:lnSpc>
              <a:buNone/>
            </a:pPr>
            <a:r>
              <a:rPr lang="en-US" sz="950" dirty="0">
                <a:solidFill>
                  <a:srgbClr val="241A1D"/>
                </a:solidFill>
                <a:latin typeface="Calibri" pitchFamily="34" charset="0"/>
                <a:ea typeface="Calibri" pitchFamily="34" charset="-122"/>
                <a:cs typeface="Calibri" pitchFamily="34" charset="-120"/>
              </a:rPr>
              <a:t>Weeks 1–4</a:t>
            </a:r>
            <a:endParaRPr lang="en-US" sz="950" dirty="0"/>
          </a:p>
        </p:txBody>
      </p:sp>
      <p:sp>
        <p:nvSpPr>
          <p:cNvPr id="15" name="Text 13"/>
          <p:cNvSpPr/>
          <p:nvPr/>
        </p:nvSpPr>
        <p:spPr>
          <a:xfrm>
            <a:off x="10186416" y="1481328"/>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BUDGET</a:t>
            </a:r>
            <a:endParaRPr lang="en-US" sz="800" dirty="0"/>
          </a:p>
        </p:txBody>
      </p:sp>
      <p:sp>
        <p:nvSpPr>
          <p:cNvPr id="16" name="Text 14"/>
          <p:cNvSpPr/>
          <p:nvPr/>
        </p:nvSpPr>
        <p:spPr>
          <a:xfrm>
            <a:off x="10186416" y="1700784"/>
            <a:ext cx="1188720" cy="868680"/>
          </a:xfrm>
          <a:prstGeom prst="rect">
            <a:avLst/>
          </a:prstGeom>
          <a:noFill/>
          <a:ln/>
        </p:spPr>
        <p:txBody>
          <a:bodyPr wrap="square" lIns="0" tIns="0" rIns="0" bIns="0" rtlCol="0" anchor="ctr"/>
          <a:lstStyle/>
          <a:p>
            <a:pPr marL="0" indent="0">
              <a:lnSpc>
                <a:spcPts val="1200"/>
              </a:lnSpc>
              <a:buNone/>
            </a:pPr>
            <a:r>
              <a:rPr lang="en-US" sz="950" b="1" dirty="0">
                <a:solidFill>
                  <a:srgbClr val="6D2E46"/>
                </a:solidFill>
                <a:latin typeface="Calibri" pitchFamily="34" charset="0"/>
                <a:ea typeface="Calibri" pitchFamily="34" charset="-122"/>
                <a:cs typeface="Calibri" pitchFamily="34" charset="-120"/>
              </a:rPr>
              <a:t>₹15 L</a:t>
            </a:r>
            <a:endParaRPr lang="en-US" sz="950" dirty="0"/>
          </a:p>
        </p:txBody>
      </p:sp>
      <p:sp>
        <p:nvSpPr>
          <p:cNvPr id="17" name="Shape 15"/>
          <p:cNvSpPr/>
          <p:nvPr/>
        </p:nvSpPr>
        <p:spPr>
          <a:xfrm>
            <a:off x="640080" y="2852928"/>
            <a:ext cx="10881360" cy="1417320"/>
          </a:xfrm>
          <a:prstGeom prst="roundRect">
            <a:avLst>
              <a:gd name="adj" fmla="val 5806"/>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18" name="Shape 16"/>
          <p:cNvSpPr/>
          <p:nvPr/>
        </p:nvSpPr>
        <p:spPr>
          <a:xfrm>
            <a:off x="896112" y="3236976"/>
            <a:ext cx="640080" cy="640080"/>
          </a:xfrm>
          <a:prstGeom prst="ellipse">
            <a:avLst/>
          </a:prstGeom>
          <a:solidFill>
            <a:srgbClr val="6D2E46"/>
          </a:solidFill>
          <a:ln w="12700">
            <a:solidFill>
              <a:srgbClr val="6D2E46"/>
            </a:solidFill>
            <a:prstDash val="solid"/>
          </a:ln>
        </p:spPr>
      </p:sp>
      <p:sp>
        <p:nvSpPr>
          <p:cNvPr id="19" name="Text 17"/>
          <p:cNvSpPr/>
          <p:nvPr/>
        </p:nvSpPr>
        <p:spPr>
          <a:xfrm>
            <a:off x="896112" y="3236976"/>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20" name="Text 18"/>
          <p:cNvSpPr/>
          <p:nvPr/>
        </p:nvSpPr>
        <p:spPr>
          <a:xfrm>
            <a:off x="1691640" y="2999232"/>
            <a:ext cx="4480560" cy="320040"/>
          </a:xfrm>
          <a:prstGeom prst="rect">
            <a:avLst/>
          </a:prstGeom>
          <a:noFill/>
          <a:ln/>
        </p:spPr>
        <p:txBody>
          <a:bodyPr wrap="square" lIns="0" tIns="0" rIns="0" bIns="0" rtlCol="0" anchor="ctr"/>
          <a:lstStyle/>
          <a:p>
            <a:pPr marL="0" indent="0">
              <a:buNone/>
            </a:pPr>
            <a:r>
              <a:rPr lang="en-US" sz="1700" b="1" dirty="0">
                <a:solidFill>
                  <a:srgbClr val="6D2E46"/>
                </a:solidFill>
                <a:latin typeface="Cambria" pitchFamily="34" charset="0"/>
                <a:ea typeface="Cambria" pitchFamily="34" charset="-122"/>
                <a:cs typeface="Cambria" pitchFamily="34" charset="-120"/>
              </a:rPr>
              <a:t>Win back the 67,489</a:t>
            </a:r>
            <a:endParaRPr lang="en-US" sz="1700" dirty="0"/>
          </a:p>
        </p:txBody>
      </p:sp>
      <p:sp>
        <p:nvSpPr>
          <p:cNvPr id="21" name="Text 19"/>
          <p:cNvSpPr/>
          <p:nvPr/>
        </p:nvSpPr>
        <p:spPr>
          <a:xfrm>
            <a:off x="1691640" y="3355848"/>
            <a:ext cx="4480560" cy="822960"/>
          </a:xfrm>
          <a:prstGeom prst="rect">
            <a:avLst/>
          </a:prstGeom>
          <a:noFill/>
          <a:ln/>
        </p:spPr>
        <p:txBody>
          <a:bodyPr wrap="square" lIns="0" tIns="0" rIns="0" bIns="0" rtlCol="0" anchor="ctr"/>
          <a:lstStyle/>
          <a:p>
            <a:pPr marL="0" indent="0">
              <a:lnSpc>
                <a:spcPts val="1600"/>
              </a:lnSpc>
              <a:buNone/>
            </a:pPr>
            <a:r>
              <a:rPr lang="en-US" sz="1150" dirty="0">
                <a:solidFill>
                  <a:srgbClr val="5F5155"/>
                </a:solidFill>
                <a:latin typeface="Calibri" pitchFamily="34" charset="0"/>
                <a:ea typeface="Calibri" pitchFamily="34" charset="-122"/>
                <a:cs typeface="Calibri" pitchFamily="34" charset="-120"/>
              </a:rPr>
              <a:t>Targeted return offer to lapsed guests, sequenced by past spend. These guests already know us — they cost nothing to persuade and spend ₹810 when they come.</a:t>
            </a:r>
            <a:endParaRPr lang="en-US" sz="1150" dirty="0"/>
          </a:p>
        </p:txBody>
      </p:sp>
      <p:sp>
        <p:nvSpPr>
          <p:cNvPr id="22" name="Text 20"/>
          <p:cNvSpPr/>
          <p:nvPr/>
        </p:nvSpPr>
        <p:spPr>
          <a:xfrm>
            <a:off x="6400800" y="3054096"/>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OWNER</a:t>
            </a:r>
            <a:endParaRPr lang="en-US" sz="800" dirty="0"/>
          </a:p>
        </p:txBody>
      </p:sp>
      <p:sp>
        <p:nvSpPr>
          <p:cNvPr id="23" name="Text 21"/>
          <p:cNvSpPr/>
          <p:nvPr/>
        </p:nvSpPr>
        <p:spPr>
          <a:xfrm>
            <a:off x="6400800" y="3273552"/>
            <a:ext cx="1188720" cy="868680"/>
          </a:xfrm>
          <a:prstGeom prst="rect">
            <a:avLst/>
          </a:prstGeom>
          <a:noFill/>
          <a:ln/>
        </p:spPr>
        <p:txBody>
          <a:bodyPr wrap="square" lIns="0" tIns="0" rIns="0" bIns="0" rtlCol="0" anchor="ctr"/>
          <a:lstStyle/>
          <a:p>
            <a:pPr marL="0" indent="0">
              <a:lnSpc>
                <a:spcPts val="1200"/>
              </a:lnSpc>
              <a:buNone/>
            </a:pPr>
            <a:r>
              <a:rPr lang="en-US" sz="950" dirty="0">
                <a:solidFill>
                  <a:srgbClr val="241A1D"/>
                </a:solidFill>
                <a:latin typeface="Calibri" pitchFamily="34" charset="0"/>
                <a:ea typeface="Calibri" pitchFamily="34" charset="-122"/>
                <a:cs typeface="Calibri" pitchFamily="34" charset="-120"/>
              </a:rPr>
              <a:t>CMO</a:t>
            </a:r>
            <a:endParaRPr lang="en-US" sz="950" dirty="0"/>
          </a:p>
        </p:txBody>
      </p:sp>
      <p:sp>
        <p:nvSpPr>
          <p:cNvPr id="24" name="Text 22"/>
          <p:cNvSpPr/>
          <p:nvPr/>
        </p:nvSpPr>
        <p:spPr>
          <a:xfrm>
            <a:off x="7662672" y="3054096"/>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SUCCESS METRIC</a:t>
            </a:r>
            <a:endParaRPr lang="en-US" sz="800" dirty="0"/>
          </a:p>
        </p:txBody>
      </p:sp>
      <p:sp>
        <p:nvSpPr>
          <p:cNvPr id="25" name="Text 23"/>
          <p:cNvSpPr/>
          <p:nvPr/>
        </p:nvSpPr>
        <p:spPr>
          <a:xfrm>
            <a:off x="7662672" y="3273552"/>
            <a:ext cx="1188720" cy="868680"/>
          </a:xfrm>
          <a:prstGeom prst="rect">
            <a:avLst/>
          </a:prstGeom>
          <a:noFill/>
          <a:ln/>
        </p:spPr>
        <p:txBody>
          <a:bodyPr wrap="square" lIns="0" tIns="0" rIns="0" bIns="0" rtlCol="0" anchor="ctr"/>
          <a:lstStyle/>
          <a:p>
            <a:pPr marL="0" indent="0">
              <a:lnSpc>
                <a:spcPts val="1200"/>
              </a:lnSpc>
              <a:buNone/>
            </a:pPr>
            <a:r>
              <a:rPr lang="en-US" sz="950" dirty="0">
                <a:solidFill>
                  <a:srgbClr val="241A1D"/>
                </a:solidFill>
                <a:latin typeface="Calibri" pitchFamily="34" charset="0"/>
                <a:ea typeface="Calibri" pitchFamily="34" charset="-122"/>
                <a:cs typeface="Calibri" pitchFamily="34" charset="-120"/>
              </a:rPr>
              <a:t>12% of lapsed guests reactivated</a:t>
            </a:r>
            <a:endParaRPr lang="en-US" sz="950" dirty="0"/>
          </a:p>
        </p:txBody>
      </p:sp>
      <p:sp>
        <p:nvSpPr>
          <p:cNvPr id="26" name="Text 24"/>
          <p:cNvSpPr/>
          <p:nvPr/>
        </p:nvSpPr>
        <p:spPr>
          <a:xfrm>
            <a:off x="8924544" y="3054096"/>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TIMELINE</a:t>
            </a:r>
            <a:endParaRPr lang="en-US" sz="800" dirty="0"/>
          </a:p>
        </p:txBody>
      </p:sp>
      <p:sp>
        <p:nvSpPr>
          <p:cNvPr id="27" name="Text 25"/>
          <p:cNvSpPr/>
          <p:nvPr/>
        </p:nvSpPr>
        <p:spPr>
          <a:xfrm>
            <a:off x="8924544" y="3273552"/>
            <a:ext cx="1188720" cy="868680"/>
          </a:xfrm>
          <a:prstGeom prst="rect">
            <a:avLst/>
          </a:prstGeom>
          <a:noFill/>
          <a:ln/>
        </p:spPr>
        <p:txBody>
          <a:bodyPr wrap="square" lIns="0" tIns="0" rIns="0" bIns="0" rtlCol="0" anchor="ctr"/>
          <a:lstStyle/>
          <a:p>
            <a:pPr marL="0" indent="0">
              <a:lnSpc>
                <a:spcPts val="1200"/>
              </a:lnSpc>
              <a:buNone/>
            </a:pPr>
            <a:r>
              <a:rPr lang="en-US" sz="950" dirty="0">
                <a:solidFill>
                  <a:srgbClr val="241A1D"/>
                </a:solidFill>
                <a:latin typeface="Calibri" pitchFamily="34" charset="0"/>
                <a:ea typeface="Calibri" pitchFamily="34" charset="-122"/>
                <a:cs typeface="Calibri" pitchFamily="34" charset="-120"/>
              </a:rPr>
              <a:t>Weeks 3–12</a:t>
            </a:r>
            <a:endParaRPr lang="en-US" sz="950" dirty="0"/>
          </a:p>
        </p:txBody>
      </p:sp>
      <p:sp>
        <p:nvSpPr>
          <p:cNvPr id="28" name="Text 26"/>
          <p:cNvSpPr/>
          <p:nvPr/>
        </p:nvSpPr>
        <p:spPr>
          <a:xfrm>
            <a:off x="10186416" y="3054096"/>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BUDGET</a:t>
            </a:r>
            <a:endParaRPr lang="en-US" sz="800" dirty="0"/>
          </a:p>
        </p:txBody>
      </p:sp>
      <p:sp>
        <p:nvSpPr>
          <p:cNvPr id="29" name="Text 27"/>
          <p:cNvSpPr/>
          <p:nvPr/>
        </p:nvSpPr>
        <p:spPr>
          <a:xfrm>
            <a:off x="10186416" y="3273552"/>
            <a:ext cx="1188720" cy="868680"/>
          </a:xfrm>
          <a:prstGeom prst="rect">
            <a:avLst/>
          </a:prstGeom>
          <a:noFill/>
          <a:ln/>
        </p:spPr>
        <p:txBody>
          <a:bodyPr wrap="square" lIns="0" tIns="0" rIns="0" bIns="0" rtlCol="0" anchor="ctr"/>
          <a:lstStyle/>
          <a:p>
            <a:pPr marL="0" indent="0">
              <a:lnSpc>
                <a:spcPts val="1200"/>
              </a:lnSpc>
              <a:buNone/>
            </a:pPr>
            <a:r>
              <a:rPr lang="en-US" sz="950" b="1" dirty="0">
                <a:solidFill>
                  <a:srgbClr val="6D2E46"/>
                </a:solidFill>
                <a:latin typeface="Calibri" pitchFamily="34" charset="0"/>
                <a:ea typeface="Calibri" pitchFamily="34" charset="-122"/>
                <a:cs typeface="Calibri" pitchFamily="34" charset="-120"/>
              </a:rPr>
              <a:t>₹65 L</a:t>
            </a:r>
            <a:endParaRPr lang="en-US" sz="950" dirty="0"/>
          </a:p>
        </p:txBody>
      </p:sp>
      <p:sp>
        <p:nvSpPr>
          <p:cNvPr id="30" name="Shape 28"/>
          <p:cNvSpPr/>
          <p:nvPr/>
        </p:nvSpPr>
        <p:spPr>
          <a:xfrm>
            <a:off x="640080" y="4425696"/>
            <a:ext cx="10881360" cy="1417320"/>
          </a:xfrm>
          <a:prstGeom prst="roundRect">
            <a:avLst>
              <a:gd name="adj" fmla="val 5806"/>
            </a:avLst>
          </a:prstGeom>
          <a:solidFill>
            <a:srgbClr val="F4ECE8"/>
          </a:solidFill>
          <a:ln w="12700">
            <a:solidFill>
              <a:srgbClr val="F4ECE8"/>
            </a:solidFill>
            <a:prstDash val="solid"/>
          </a:ln>
          <a:effectLst>
            <a:outerShdw blurRad="114300" dist="25400" dir="5400000" algn="bl" rotWithShape="0">
              <a:srgbClr val="C4B3AD">
                <a:alpha val="35000"/>
              </a:srgbClr>
            </a:outerShdw>
          </a:effectLst>
        </p:spPr>
      </p:sp>
      <p:sp>
        <p:nvSpPr>
          <p:cNvPr id="31" name="Shape 29"/>
          <p:cNvSpPr/>
          <p:nvPr/>
        </p:nvSpPr>
        <p:spPr>
          <a:xfrm>
            <a:off x="896112" y="4809744"/>
            <a:ext cx="640080" cy="640080"/>
          </a:xfrm>
          <a:prstGeom prst="ellipse">
            <a:avLst/>
          </a:prstGeom>
          <a:solidFill>
            <a:srgbClr val="6D2E46"/>
          </a:solidFill>
          <a:ln w="12700">
            <a:solidFill>
              <a:srgbClr val="6D2E46"/>
            </a:solidFill>
            <a:prstDash val="solid"/>
          </a:ln>
        </p:spPr>
      </p:sp>
      <p:sp>
        <p:nvSpPr>
          <p:cNvPr id="32" name="Text 30"/>
          <p:cNvSpPr/>
          <p:nvPr/>
        </p:nvSpPr>
        <p:spPr>
          <a:xfrm>
            <a:off x="896112" y="4809744"/>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33" name="Text 31"/>
          <p:cNvSpPr/>
          <p:nvPr/>
        </p:nvSpPr>
        <p:spPr>
          <a:xfrm>
            <a:off x="1691640" y="4572000"/>
            <a:ext cx="4480560" cy="320040"/>
          </a:xfrm>
          <a:prstGeom prst="rect">
            <a:avLst/>
          </a:prstGeom>
          <a:noFill/>
          <a:ln/>
        </p:spPr>
        <p:txBody>
          <a:bodyPr wrap="square" lIns="0" tIns="0" rIns="0" bIns="0" rtlCol="0" anchor="ctr"/>
          <a:lstStyle/>
          <a:p>
            <a:pPr marL="0" indent="0">
              <a:buNone/>
            </a:pPr>
            <a:r>
              <a:rPr lang="en-US" sz="1700" b="1" dirty="0">
                <a:solidFill>
                  <a:srgbClr val="6D2E46"/>
                </a:solidFill>
                <a:latin typeface="Cambria" pitchFamily="34" charset="0"/>
                <a:ea typeface="Cambria" pitchFamily="34" charset="-122"/>
                <a:cs typeface="Cambria" pitchFamily="34" charset="-120"/>
              </a:rPr>
              <a:t>Fix the second visit, not the first</a:t>
            </a:r>
            <a:endParaRPr lang="en-US" sz="1700" dirty="0"/>
          </a:p>
        </p:txBody>
      </p:sp>
      <p:sp>
        <p:nvSpPr>
          <p:cNvPr id="34" name="Text 32"/>
          <p:cNvSpPr/>
          <p:nvPr/>
        </p:nvSpPr>
        <p:spPr>
          <a:xfrm>
            <a:off x="1691640" y="4928616"/>
            <a:ext cx="4480560" cy="822960"/>
          </a:xfrm>
          <a:prstGeom prst="rect">
            <a:avLst/>
          </a:prstGeom>
          <a:noFill/>
          <a:ln/>
        </p:spPr>
        <p:txBody>
          <a:bodyPr wrap="square" lIns="0" tIns="0" rIns="0" bIns="0" rtlCol="0" anchor="ctr"/>
          <a:lstStyle/>
          <a:p>
            <a:pPr marL="0" indent="0">
              <a:lnSpc>
                <a:spcPts val="1600"/>
              </a:lnSpc>
              <a:buNone/>
            </a:pPr>
            <a:r>
              <a:rPr lang="en-US" sz="1150" dirty="0">
                <a:solidFill>
                  <a:srgbClr val="5F5155"/>
                </a:solidFill>
                <a:latin typeface="Calibri" pitchFamily="34" charset="0"/>
                <a:ea typeface="Calibri" pitchFamily="34" charset="-122"/>
                <a:cs typeface="Calibri" pitchFamily="34" charset="-120"/>
              </a:rPr>
              <a:t>Recipe and service audit on the dishes rated below 4.0 by repeat guests, plus a named-guest recognition flow for third visits onward.</a:t>
            </a:r>
            <a:endParaRPr lang="en-US" sz="1150" dirty="0"/>
          </a:p>
        </p:txBody>
      </p:sp>
      <p:sp>
        <p:nvSpPr>
          <p:cNvPr id="35" name="Text 33"/>
          <p:cNvSpPr/>
          <p:nvPr/>
        </p:nvSpPr>
        <p:spPr>
          <a:xfrm>
            <a:off x="6400800" y="4626864"/>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OWNER</a:t>
            </a:r>
            <a:endParaRPr lang="en-US" sz="800" dirty="0"/>
          </a:p>
        </p:txBody>
      </p:sp>
      <p:sp>
        <p:nvSpPr>
          <p:cNvPr id="36" name="Text 34"/>
          <p:cNvSpPr/>
          <p:nvPr/>
        </p:nvSpPr>
        <p:spPr>
          <a:xfrm>
            <a:off x="6400800" y="4846320"/>
            <a:ext cx="1188720" cy="868680"/>
          </a:xfrm>
          <a:prstGeom prst="rect">
            <a:avLst/>
          </a:prstGeom>
          <a:noFill/>
          <a:ln/>
        </p:spPr>
        <p:txBody>
          <a:bodyPr wrap="square" lIns="0" tIns="0" rIns="0" bIns="0" rtlCol="0" anchor="ctr"/>
          <a:lstStyle/>
          <a:p>
            <a:pPr marL="0" indent="0">
              <a:lnSpc>
                <a:spcPts val="1200"/>
              </a:lnSpc>
              <a:buNone/>
            </a:pPr>
            <a:r>
              <a:rPr lang="en-US" sz="950" dirty="0">
                <a:solidFill>
                  <a:srgbClr val="241A1D"/>
                </a:solidFill>
                <a:latin typeface="Calibri" pitchFamily="34" charset="0"/>
                <a:ea typeface="Calibri" pitchFamily="34" charset="-122"/>
                <a:cs typeface="Calibri" pitchFamily="34" charset="-120"/>
              </a:rPr>
              <a:t>COO / Exec Chef</a:t>
            </a:r>
            <a:endParaRPr lang="en-US" sz="950" dirty="0"/>
          </a:p>
        </p:txBody>
      </p:sp>
      <p:sp>
        <p:nvSpPr>
          <p:cNvPr id="37" name="Text 35"/>
          <p:cNvSpPr/>
          <p:nvPr/>
        </p:nvSpPr>
        <p:spPr>
          <a:xfrm>
            <a:off x="7662672" y="4626864"/>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SUCCESS METRIC</a:t>
            </a:r>
            <a:endParaRPr lang="en-US" sz="800" dirty="0"/>
          </a:p>
        </p:txBody>
      </p:sp>
      <p:sp>
        <p:nvSpPr>
          <p:cNvPr id="38" name="Text 36"/>
          <p:cNvSpPr/>
          <p:nvPr/>
        </p:nvSpPr>
        <p:spPr>
          <a:xfrm>
            <a:off x="7662672" y="4846320"/>
            <a:ext cx="1188720" cy="868680"/>
          </a:xfrm>
          <a:prstGeom prst="rect">
            <a:avLst/>
          </a:prstGeom>
          <a:noFill/>
          <a:ln/>
        </p:spPr>
        <p:txBody>
          <a:bodyPr wrap="square" lIns="0" tIns="0" rIns="0" bIns="0" rtlCol="0" anchor="ctr"/>
          <a:lstStyle/>
          <a:p>
            <a:pPr marL="0" indent="0">
              <a:lnSpc>
                <a:spcPts val="1200"/>
              </a:lnSpc>
              <a:buNone/>
            </a:pPr>
            <a:r>
              <a:rPr lang="en-US" sz="950" dirty="0">
                <a:solidFill>
                  <a:srgbClr val="241A1D"/>
                </a:solidFill>
                <a:latin typeface="Calibri" pitchFamily="34" charset="0"/>
                <a:ea typeface="Calibri" pitchFamily="34" charset="-122"/>
                <a:cs typeface="Calibri" pitchFamily="34" charset="-120"/>
              </a:rPr>
              <a:t>Month-6 return rate above 40%</a:t>
            </a:r>
            <a:endParaRPr lang="en-US" sz="950" dirty="0"/>
          </a:p>
        </p:txBody>
      </p:sp>
      <p:sp>
        <p:nvSpPr>
          <p:cNvPr id="39" name="Text 37"/>
          <p:cNvSpPr/>
          <p:nvPr/>
        </p:nvSpPr>
        <p:spPr>
          <a:xfrm>
            <a:off x="8924544" y="4626864"/>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TIMELINE</a:t>
            </a:r>
            <a:endParaRPr lang="en-US" sz="800" dirty="0"/>
          </a:p>
        </p:txBody>
      </p:sp>
      <p:sp>
        <p:nvSpPr>
          <p:cNvPr id="40" name="Text 38"/>
          <p:cNvSpPr/>
          <p:nvPr/>
        </p:nvSpPr>
        <p:spPr>
          <a:xfrm>
            <a:off x="8924544" y="4846320"/>
            <a:ext cx="1188720" cy="868680"/>
          </a:xfrm>
          <a:prstGeom prst="rect">
            <a:avLst/>
          </a:prstGeom>
          <a:noFill/>
          <a:ln/>
        </p:spPr>
        <p:txBody>
          <a:bodyPr wrap="square" lIns="0" tIns="0" rIns="0" bIns="0" rtlCol="0" anchor="ctr"/>
          <a:lstStyle/>
          <a:p>
            <a:pPr marL="0" indent="0">
              <a:lnSpc>
                <a:spcPts val="1200"/>
              </a:lnSpc>
              <a:buNone/>
            </a:pPr>
            <a:r>
              <a:rPr lang="en-US" sz="950" dirty="0">
                <a:solidFill>
                  <a:srgbClr val="241A1D"/>
                </a:solidFill>
                <a:latin typeface="Calibri" pitchFamily="34" charset="0"/>
                <a:ea typeface="Calibri" pitchFamily="34" charset="-122"/>
                <a:cs typeface="Calibri" pitchFamily="34" charset="-120"/>
              </a:rPr>
              <a:t>Weeks 4–20</a:t>
            </a:r>
            <a:endParaRPr lang="en-US" sz="950" dirty="0"/>
          </a:p>
        </p:txBody>
      </p:sp>
      <p:sp>
        <p:nvSpPr>
          <p:cNvPr id="41" name="Text 39"/>
          <p:cNvSpPr/>
          <p:nvPr/>
        </p:nvSpPr>
        <p:spPr>
          <a:xfrm>
            <a:off x="10186416" y="4626864"/>
            <a:ext cx="1188720" cy="201168"/>
          </a:xfrm>
          <a:prstGeom prst="rect">
            <a:avLst/>
          </a:prstGeom>
          <a:noFill/>
          <a:ln/>
        </p:spPr>
        <p:txBody>
          <a:bodyPr wrap="square" lIns="0" tIns="0" rIns="0" bIns="0" rtlCol="0" anchor="ctr"/>
          <a:lstStyle/>
          <a:p>
            <a:pPr marL="0" indent="0">
              <a:buNone/>
            </a:pPr>
            <a:r>
              <a:rPr lang="en-US" sz="800" b="1" kern="0" spc="40" dirty="0">
                <a:solidFill>
                  <a:srgbClr val="9A4257"/>
                </a:solidFill>
                <a:latin typeface="Calibri" pitchFamily="34" charset="0"/>
                <a:ea typeface="Calibri" pitchFamily="34" charset="-122"/>
                <a:cs typeface="Calibri" pitchFamily="34" charset="-120"/>
              </a:rPr>
              <a:t>BUDGET</a:t>
            </a:r>
            <a:endParaRPr lang="en-US" sz="800" dirty="0"/>
          </a:p>
        </p:txBody>
      </p:sp>
      <p:sp>
        <p:nvSpPr>
          <p:cNvPr id="42" name="Text 40"/>
          <p:cNvSpPr/>
          <p:nvPr/>
        </p:nvSpPr>
        <p:spPr>
          <a:xfrm>
            <a:off x="10186416" y="4846320"/>
            <a:ext cx="1188720" cy="868680"/>
          </a:xfrm>
          <a:prstGeom prst="rect">
            <a:avLst/>
          </a:prstGeom>
          <a:noFill/>
          <a:ln/>
        </p:spPr>
        <p:txBody>
          <a:bodyPr wrap="square" lIns="0" tIns="0" rIns="0" bIns="0" rtlCol="0" anchor="ctr"/>
          <a:lstStyle/>
          <a:p>
            <a:pPr marL="0" indent="0">
              <a:lnSpc>
                <a:spcPts val="1200"/>
              </a:lnSpc>
              <a:buNone/>
            </a:pPr>
            <a:r>
              <a:rPr lang="en-US" sz="950" b="1" dirty="0">
                <a:solidFill>
                  <a:srgbClr val="6D2E46"/>
                </a:solidFill>
                <a:latin typeface="Calibri" pitchFamily="34" charset="0"/>
                <a:ea typeface="Calibri" pitchFamily="34" charset="-122"/>
                <a:cs typeface="Calibri" pitchFamily="34" charset="-120"/>
              </a:rPr>
              <a:t>₹40 L</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8412480" y="3291840"/>
            <a:ext cx="5943600" cy="5943600"/>
          </a:xfrm>
          <a:prstGeom prst="ellipse">
            <a:avLst/>
          </a:prstGeom>
          <a:solidFill>
            <a:srgbClr val="4A1B2C"/>
          </a:solidFill>
          <a:ln w="12700">
            <a:solidFill>
              <a:srgbClr val="333333"/>
            </a:solidFill>
            <a:prstDash val="solid"/>
          </a:ln>
        </p:spPr>
      </p:sp>
      <p:sp>
        <p:nvSpPr>
          <p:cNvPr id="3" name="Text 1"/>
          <p:cNvSpPr/>
          <p:nvPr/>
        </p:nvSpPr>
        <p:spPr>
          <a:xfrm>
            <a:off x="640080" y="146304"/>
            <a:ext cx="10881360" cy="274320"/>
          </a:xfrm>
          <a:prstGeom prst="rect">
            <a:avLst/>
          </a:prstGeom>
          <a:noFill/>
          <a:ln/>
        </p:spPr>
        <p:txBody>
          <a:bodyPr wrap="square" lIns="0" tIns="0" rIns="0" bIns="0" rtlCol="0" anchor="ctr"/>
          <a:lstStyle/>
          <a:p>
            <a:pPr marL="0" indent="0">
              <a:buNone/>
            </a:pPr>
            <a:r>
              <a:rPr lang="en-US" sz="1150" b="1" kern="0" spc="220" dirty="0">
                <a:solidFill>
                  <a:srgbClr val="F2CF6D"/>
                </a:solidFill>
                <a:latin typeface="Calibri" pitchFamily="34" charset="0"/>
                <a:ea typeface="Calibri" pitchFamily="34" charset="-122"/>
                <a:cs typeface="Calibri" pitchFamily="34" charset="-120"/>
              </a:rPr>
              <a:t>THE ASK</a:t>
            </a:r>
            <a:endParaRPr lang="en-US" sz="1150" dirty="0"/>
          </a:p>
        </p:txBody>
      </p:sp>
      <p:sp>
        <p:nvSpPr>
          <p:cNvPr id="4" name="Text 2"/>
          <p:cNvSpPr/>
          <p:nvPr/>
        </p:nvSpPr>
        <p:spPr>
          <a:xfrm>
            <a:off x="640080" y="1234440"/>
            <a:ext cx="8778240" cy="1554480"/>
          </a:xfrm>
          <a:prstGeom prst="rect">
            <a:avLst/>
          </a:prstGeom>
          <a:noFill/>
          <a:ln/>
        </p:spPr>
        <p:txBody>
          <a:bodyPr wrap="square" lIns="0" tIns="0" rIns="0" bIns="0" rtlCol="0" anchor="ctr"/>
          <a:lstStyle/>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Ananya, change the number</a:t>
            </a:r>
            <a:endParaRPr lang="en-US" sz="3600" dirty="0"/>
          </a:p>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on the boardroom wall.</a:t>
            </a:r>
            <a:endParaRPr lang="en-US" sz="3600" dirty="0"/>
          </a:p>
        </p:txBody>
      </p:sp>
      <p:sp>
        <p:nvSpPr>
          <p:cNvPr id="5" name="Text 3"/>
          <p:cNvSpPr/>
          <p:nvPr/>
        </p:nvSpPr>
        <p:spPr>
          <a:xfrm>
            <a:off x="640080" y="2926080"/>
            <a:ext cx="7680960" cy="1371600"/>
          </a:xfrm>
          <a:prstGeom prst="rect">
            <a:avLst/>
          </a:prstGeom>
          <a:noFill/>
          <a:ln/>
        </p:spPr>
        <p:txBody>
          <a:bodyPr wrap="square" lIns="0" tIns="0" rIns="0" bIns="0" rtlCol="0" anchor="ctr"/>
          <a:lstStyle/>
          <a:p>
            <a:pPr marL="0" indent="0">
              <a:lnSpc>
                <a:spcPts val="2400"/>
              </a:lnSpc>
              <a:buNone/>
            </a:pPr>
            <a:r>
              <a:rPr lang="en-US" sz="1550" dirty="0">
                <a:solidFill>
                  <a:srgbClr val="F2E7DE"/>
                </a:solidFill>
                <a:latin typeface="Calibri" pitchFamily="34" charset="0"/>
                <a:ea typeface="Calibri" pitchFamily="34" charset="-122"/>
                <a:cs typeface="Calibri" pitchFamily="34" charset="-120"/>
              </a:rPr>
              <a:t>The 4.68★ is real. It is also the most flattering, least useful number this company owns. Retire it as a headline metric at the January board review and put 90-day Repeat Visit Rate in its place — starting with the twelve outlets, this quarter.</a:t>
            </a:r>
            <a:endParaRPr lang="en-US" sz="1550" dirty="0"/>
          </a:p>
        </p:txBody>
      </p:sp>
      <p:sp>
        <p:nvSpPr>
          <p:cNvPr id="6" name="Shape 4"/>
          <p:cNvSpPr/>
          <p:nvPr/>
        </p:nvSpPr>
        <p:spPr>
          <a:xfrm>
            <a:off x="640080" y="4480560"/>
            <a:ext cx="5029200" cy="1371600"/>
          </a:xfrm>
          <a:prstGeom prst="roundRect">
            <a:avLst>
              <a:gd name="adj" fmla="val 6667"/>
            </a:avLst>
          </a:prstGeom>
          <a:solidFill>
            <a:srgbClr val="4A1B2C"/>
          </a:solidFill>
          <a:ln w="12700">
            <a:solidFill>
              <a:srgbClr val="333333"/>
            </a:solidFill>
            <a:prstDash val="solid"/>
          </a:ln>
        </p:spPr>
      </p:sp>
      <p:sp>
        <p:nvSpPr>
          <p:cNvPr id="7" name="Text 5"/>
          <p:cNvSpPr/>
          <p:nvPr/>
        </p:nvSpPr>
        <p:spPr>
          <a:xfrm>
            <a:off x="914400" y="4645152"/>
            <a:ext cx="4480560" cy="228600"/>
          </a:xfrm>
          <a:prstGeom prst="rect">
            <a:avLst/>
          </a:prstGeom>
          <a:noFill/>
          <a:ln/>
        </p:spPr>
        <p:txBody>
          <a:bodyPr wrap="square" lIns="0" tIns="0" rIns="0" bIns="0" rtlCol="0" anchor="ctr"/>
          <a:lstStyle/>
          <a:p>
            <a:pPr marL="0" indent="0">
              <a:buNone/>
            </a:pPr>
            <a:r>
              <a:rPr lang="en-US" sz="1000" b="1" kern="0" spc="150" dirty="0">
                <a:solidFill>
                  <a:srgbClr val="F2E7DE"/>
                </a:solidFill>
                <a:latin typeface="Calibri" pitchFamily="34" charset="0"/>
                <a:ea typeface="Calibri" pitchFamily="34" charset="-122"/>
                <a:cs typeface="Calibri" pitchFamily="34" charset="-120"/>
              </a:rPr>
              <a:t>TODAY</a:t>
            </a:r>
            <a:endParaRPr lang="en-US" sz="1000" dirty="0"/>
          </a:p>
        </p:txBody>
      </p:sp>
      <p:sp>
        <p:nvSpPr>
          <p:cNvPr id="8" name="Text 6"/>
          <p:cNvSpPr/>
          <p:nvPr/>
        </p:nvSpPr>
        <p:spPr>
          <a:xfrm>
            <a:off x="914400" y="4892040"/>
            <a:ext cx="4480560" cy="548640"/>
          </a:xfrm>
          <a:prstGeom prst="rect">
            <a:avLst/>
          </a:prstGeom>
          <a:noFill/>
          <a:ln/>
        </p:spPr>
        <p:txBody>
          <a:bodyPr wrap="square" lIns="0" tIns="0" rIns="0" bIns="0" rtlCol="0" anchor="ctr"/>
          <a:lstStyle/>
          <a:p>
            <a:pPr marL="0" indent="0">
              <a:buNone/>
            </a:pPr>
            <a:r>
              <a:rPr lang="en-US" sz="3000" b="1" dirty="0">
                <a:solidFill>
                  <a:srgbClr val="F2CF6D"/>
                </a:solidFill>
                <a:latin typeface="Cambria" pitchFamily="34" charset="0"/>
                <a:ea typeface="Cambria" pitchFamily="34" charset="-122"/>
                <a:cs typeface="Cambria" pitchFamily="34" charset="-120"/>
              </a:rPr>
              <a:t>4.68 ★</a:t>
            </a:r>
            <a:endParaRPr lang="en-US" sz="3000" dirty="0"/>
          </a:p>
        </p:txBody>
      </p:sp>
      <p:sp>
        <p:nvSpPr>
          <p:cNvPr id="9" name="Text 7"/>
          <p:cNvSpPr/>
          <p:nvPr/>
        </p:nvSpPr>
        <p:spPr>
          <a:xfrm>
            <a:off x="914400" y="5440680"/>
            <a:ext cx="4480560" cy="274320"/>
          </a:xfrm>
          <a:prstGeom prst="rect">
            <a:avLst/>
          </a:prstGeom>
          <a:noFill/>
          <a:ln/>
        </p:spPr>
        <p:txBody>
          <a:bodyPr wrap="square" lIns="0" tIns="0" rIns="0" bIns="0" rtlCol="0" anchor="ctr"/>
          <a:lstStyle/>
          <a:p>
            <a:pPr marL="0" indent="0">
              <a:buNone/>
            </a:pPr>
            <a:r>
              <a:rPr lang="en-US" sz="1150" dirty="0">
                <a:solidFill>
                  <a:srgbClr val="F2E7DE"/>
                </a:solidFill>
                <a:latin typeface="Calibri" pitchFamily="34" charset="0"/>
                <a:ea typeface="Calibri" pitchFamily="34" charset="-122"/>
                <a:cs typeface="Calibri" pitchFamily="34" charset="-120"/>
              </a:rPr>
              <a:t>measures our first impression</a:t>
            </a:r>
            <a:endParaRPr lang="en-US" sz="1150" dirty="0"/>
          </a:p>
        </p:txBody>
      </p:sp>
      <p:sp>
        <p:nvSpPr>
          <p:cNvPr id="10" name="Shape 8"/>
          <p:cNvSpPr/>
          <p:nvPr/>
        </p:nvSpPr>
        <p:spPr>
          <a:xfrm>
            <a:off x="6035040" y="4480560"/>
            <a:ext cx="5029200" cy="1371600"/>
          </a:xfrm>
          <a:prstGeom prst="roundRect">
            <a:avLst>
              <a:gd name="adj" fmla="val 6667"/>
            </a:avLst>
          </a:prstGeom>
          <a:solidFill>
            <a:srgbClr val="FFFFFF"/>
          </a:solidFill>
          <a:ln w="12700">
            <a:solidFill>
              <a:srgbClr val="333333"/>
            </a:solidFill>
            <a:prstDash val="solid"/>
          </a:ln>
        </p:spPr>
      </p:sp>
      <p:sp>
        <p:nvSpPr>
          <p:cNvPr id="11" name="Text 9"/>
          <p:cNvSpPr/>
          <p:nvPr/>
        </p:nvSpPr>
        <p:spPr>
          <a:xfrm>
            <a:off x="6309360" y="4645152"/>
            <a:ext cx="4480560" cy="228600"/>
          </a:xfrm>
          <a:prstGeom prst="rect">
            <a:avLst/>
          </a:prstGeom>
          <a:noFill/>
          <a:ln/>
        </p:spPr>
        <p:txBody>
          <a:bodyPr wrap="square" lIns="0" tIns="0" rIns="0" bIns="0" rtlCol="0" anchor="ctr"/>
          <a:lstStyle/>
          <a:p>
            <a:pPr marL="0" indent="0">
              <a:buNone/>
            </a:pPr>
            <a:r>
              <a:rPr lang="en-US" sz="1000" b="1" kern="0" spc="150" dirty="0">
                <a:solidFill>
                  <a:srgbClr val="9A4257"/>
                </a:solidFill>
                <a:latin typeface="Calibri" pitchFamily="34" charset="0"/>
                <a:ea typeface="Calibri" pitchFamily="34" charset="-122"/>
                <a:cs typeface="Calibri" pitchFamily="34" charset="-120"/>
              </a:rPr>
              <a:t>FROM JANUARY</a:t>
            </a:r>
            <a:endParaRPr lang="en-US" sz="1000" dirty="0"/>
          </a:p>
        </p:txBody>
      </p:sp>
      <p:sp>
        <p:nvSpPr>
          <p:cNvPr id="12" name="Text 10"/>
          <p:cNvSpPr/>
          <p:nvPr/>
        </p:nvSpPr>
        <p:spPr>
          <a:xfrm>
            <a:off x="6309360" y="4892040"/>
            <a:ext cx="4480560" cy="548640"/>
          </a:xfrm>
          <a:prstGeom prst="rect">
            <a:avLst/>
          </a:prstGeom>
          <a:noFill/>
          <a:ln/>
        </p:spPr>
        <p:txBody>
          <a:bodyPr wrap="square" lIns="0" tIns="0" rIns="0" bIns="0" rtlCol="0" anchor="ctr"/>
          <a:lstStyle/>
          <a:p>
            <a:pPr marL="0" indent="0">
              <a:buNone/>
            </a:pPr>
            <a:r>
              <a:rPr lang="en-US" sz="3000" b="1" dirty="0">
                <a:solidFill>
                  <a:srgbClr val="6D2E46"/>
                </a:solidFill>
                <a:latin typeface="Cambria" pitchFamily="34" charset="0"/>
                <a:ea typeface="Cambria" pitchFamily="34" charset="-122"/>
                <a:cs typeface="Cambria" pitchFamily="34" charset="-120"/>
              </a:rPr>
              <a:t>24.6% → 40%</a:t>
            </a:r>
            <a:endParaRPr lang="en-US" sz="3000" dirty="0"/>
          </a:p>
        </p:txBody>
      </p:sp>
      <p:sp>
        <p:nvSpPr>
          <p:cNvPr id="13" name="Text 11"/>
          <p:cNvSpPr/>
          <p:nvPr/>
        </p:nvSpPr>
        <p:spPr>
          <a:xfrm>
            <a:off x="6309360" y="5440680"/>
            <a:ext cx="4480560" cy="320040"/>
          </a:xfrm>
          <a:prstGeom prst="rect">
            <a:avLst/>
          </a:prstGeom>
          <a:noFill/>
          <a:ln/>
        </p:spPr>
        <p:txBody>
          <a:bodyPr wrap="square" lIns="0" tIns="0" rIns="0" bIns="0" rtlCol="0" anchor="ctr"/>
          <a:lstStyle/>
          <a:p>
            <a:pPr marL="0" indent="0">
              <a:buNone/>
            </a:pPr>
            <a:r>
              <a:rPr lang="en-US" sz="1150" dirty="0">
                <a:solidFill>
                  <a:srgbClr val="241A1D"/>
                </a:solidFill>
                <a:latin typeface="Calibri" pitchFamily="34" charset="0"/>
                <a:ea typeface="Calibri" pitchFamily="34" charset="-122"/>
                <a:cs typeface="Calibri" pitchFamily="34" charset="-120"/>
              </a:rPr>
              <a:t>90-day repeat visit rate — measures whether we deserved them</a:t>
            </a:r>
            <a:endParaRPr lang="en-US" sz="1150" dirty="0"/>
          </a:p>
        </p:txBody>
      </p:sp>
      <p:sp>
        <p:nvSpPr>
          <p:cNvPr id="14" name="Text 12"/>
          <p:cNvSpPr/>
          <p:nvPr/>
        </p:nvSpPr>
        <p:spPr>
          <a:xfrm>
            <a:off x="640080" y="6126480"/>
            <a:ext cx="10881360" cy="365760"/>
          </a:xfrm>
          <a:prstGeom prst="rect">
            <a:avLst/>
          </a:prstGeom>
          <a:noFill/>
          <a:ln/>
        </p:spPr>
        <p:txBody>
          <a:bodyPr wrap="square" lIns="0" tIns="0" rIns="0" bIns="0" rtlCol="0" anchor="ctr"/>
          <a:lstStyle/>
          <a:p>
            <a:pPr marL="0" indent="0">
              <a:buNone/>
            </a:pPr>
            <a:r>
              <a:rPr lang="en-US" sz="1500" i="1" dirty="0">
                <a:solidFill>
                  <a:srgbClr val="FFFFFF"/>
                </a:solidFill>
                <a:latin typeface="Cambria" pitchFamily="34" charset="0"/>
                <a:ea typeface="Cambria" pitchFamily="34" charset="-122"/>
                <a:cs typeface="Cambria" pitchFamily="34" charset="-120"/>
              </a:rPr>
              <a:t>Because the guests who love you write reviews. The guests you lost just stop showing up.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2212</Words>
  <Application>Microsoft Macintosh PowerPoint</Application>
  <PresentationFormat>Widescreen</PresentationFormat>
  <Paragraphs>214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Restaurant with 5-Star Reviews and Empty Tables</dc:title>
  <dc:subject>PptxGenJS Presentation</dc:subject>
  <dc:creator>Storytelling with Data - Group Assignment</dc:creator>
  <cp:lastModifiedBy>srijagruthireddy.kokkerapalli@gmail.com</cp:lastModifiedBy>
  <cp:revision>4</cp:revision>
  <dcterms:created xsi:type="dcterms:W3CDTF">2026-08-01T21:15:18Z</dcterms:created>
  <dcterms:modified xsi:type="dcterms:W3CDTF">2026-08-04T17:34:23Z</dcterms:modified>
</cp:coreProperties>
</file>