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640080" y="12344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HONDA (A) </a:t>
            </a:r>
            <a:r>
              <a:rPr b="1" lang="en-US" sz="1200">
                <a:solidFill>
                  <a:srgbClr val="CC0000"/>
                </a:solidFill>
              </a:rPr>
              <a:t>- </a:t>
            </a:r>
            <a:r>
              <a:rPr b="1" i="0" lang="en-US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STRATEGIC MANAGEMENT 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640080" y="1600200"/>
            <a:ext cx="6035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Honda's U.S. Market Entry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640080" y="2782965"/>
            <a:ext cx="6035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What went into Honda's success in its U.S. market-entry strategy?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640080" y="3520440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A strategic-management analysis of how Honda repositioned motorcycles in America (1959</a:t>
            </a:r>
            <a:r>
              <a:rPr lang="en-US" sz="1300">
                <a:solidFill>
                  <a:srgbClr val="8A8A8A"/>
                </a:solidFill>
              </a:rPr>
              <a:t>-</a:t>
            </a:r>
            <a:r>
              <a:rPr b="0" i="0" lang="en-US" sz="13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1975) through underserved-segment targeting, manufacturing scale, and cultural repositioning.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406640" y="1234440"/>
            <a:ext cx="4114800" cy="43891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/>
        </p:nvSpPr>
        <p:spPr>
          <a:xfrm>
            <a:off x="7498080" y="1234440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PHOTO</a:t>
            </a:r>
            <a:br>
              <a:rPr b="1" i="0" lang="en-US" sz="10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1958 Honda Super Cub C100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(Wikimedia Commons / Honda Global)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6650" y="1998084"/>
            <a:ext cx="3931924" cy="261964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40075" y="5046725"/>
            <a:ext cx="21492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Submitted By - Group 4 | Section - 2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9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Naman     FT272022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Ojasvi       FT261010R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Harshraj   FT272017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Tanya       FT272073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Tanmay    FT272069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Pushkar   FT272056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Honda Foundation: Innovation and Scale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640080" y="1417320"/>
            <a:ext cx="64008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450"/>
              <a:buFont typeface="Arial"/>
              <a:buChar char="•"/>
            </a:pPr>
            <a:r>
              <a:rPr lang="en-US" sz="1450">
                <a:solidFill>
                  <a:srgbClr val="3D3D3D"/>
                </a:solidFill>
              </a:rPr>
              <a:t>Founded in</a:t>
            </a:r>
            <a:r>
              <a:rPr b="0" i="0" lang="en-US" sz="14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 1946 by Soichiro </a:t>
            </a:r>
            <a:r>
              <a:rPr lang="en-US" sz="1450">
                <a:solidFill>
                  <a:srgbClr val="3D3D3D"/>
                </a:solidFill>
              </a:rPr>
              <a:t>Honda,</a:t>
            </a:r>
            <a:r>
              <a:rPr b="0" i="0" lang="en-US" sz="14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 the Honda Technical Research Institute anchored a technology-led strategy focused on reliable internal-combustion engines.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3D3D3D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By 1951 Honda had a superior 4-stroke design and became a fully integrated producer of engines, frames and parts</a:t>
            </a:r>
            <a:r>
              <a:rPr lang="en-US" sz="1450">
                <a:solidFill>
                  <a:srgbClr val="3D3D3D"/>
                </a:solidFill>
              </a:rPr>
              <a:t>, </a:t>
            </a:r>
            <a:r>
              <a:rPr b="0" i="0" lang="en-US" sz="14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controlling quality end-to-end.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3D3D3D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1958: market research revealed an untapped segment wanting a small, unintimidating bike. Honda built the 50cc Super Cub</a:t>
            </a:r>
            <a:r>
              <a:rPr lang="en-US" sz="1450">
                <a:solidFill>
                  <a:srgbClr val="3D3D3D"/>
                </a:solidFill>
              </a:rPr>
              <a:t>, </a:t>
            </a:r>
            <a:r>
              <a:rPr b="0" i="0" lang="en-US" sz="14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step-through frame, one-hand controls and gambled on a 30,000-unit/month plant, 10× the demand at the time.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3D3D3D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By 1959 Honda was the world's largest motorcycle producer by sales ($55M), producing 285,000 units that year.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15300" y="5101975"/>
            <a:ext cx="6400800" cy="962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989625" y="5284850"/>
            <a:ext cx="57510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Core philosophy</a:t>
            </a:r>
            <a:br>
              <a:rPr b="1" i="0" lang="en-US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Innovation, affordability and expansion through scale</a:t>
            </a:r>
            <a:r>
              <a:rPr lang="en-US" sz="1350">
                <a:solidFill>
                  <a:srgbClr val="1A1A1A"/>
                </a:solidFill>
              </a:rPr>
              <a:t>, </a:t>
            </a:r>
            <a:r>
              <a:rPr b="0" i="0" lang="en-US" sz="13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multi-product line, product-innovation leadership, and mass-production economics.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0525" y="1417325"/>
            <a:ext cx="4261471" cy="53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/>
        </p:nvSpPr>
        <p:spPr>
          <a:xfrm>
            <a:off x="641605" y="220995"/>
            <a:ext cx="1090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Honda's Global Strategic Approach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41550" y="1041920"/>
            <a:ext cx="5175600" cy="1054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 txBox="1"/>
          <p:nvPr/>
        </p:nvSpPr>
        <p:spPr>
          <a:xfrm>
            <a:off x="897587" y="1243083"/>
            <a:ext cx="46635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Innovation-driven development</a:t>
            </a:r>
            <a:b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Heavy R&amp;D funded ~18-month concept-to-market cycles and a 'cold storage' of designs far faster than Western rivals.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374850" y="1041921"/>
            <a:ext cx="5175600" cy="1054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6630875" y="1243083"/>
            <a:ext cx="46635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Experience-curve cost leadership</a:t>
            </a:r>
            <a:b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High volume drove costs down a steep experience curve (76–88% slopes), enabling continual real price cuts while staying profitable.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41550" y="2212579"/>
            <a:ext cx="5175600" cy="111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 txBox="1"/>
          <p:nvPr/>
        </p:nvSpPr>
        <p:spPr>
          <a:xfrm>
            <a:off x="897587" y="2413753"/>
            <a:ext cx="46635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Multi-segment product line</a:t>
            </a:r>
            <a:b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 full range from lightweight commuters to large bikes ensured broad coverage and a strong selling-and-distribution system.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314675" y="2212629"/>
            <a:ext cx="5175600" cy="111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6570700" y="2413803"/>
            <a:ext cx="46635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Market share over short-term profit</a:t>
            </a:r>
            <a:b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Objectives set in share and volume terms, defended at all costs; plans aimed at long-term payoff.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41550" y="4352870"/>
            <a:ext cx="5175600" cy="1054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897587" y="4554033"/>
            <a:ext cx="46635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D3D3D"/>
                </a:solidFill>
              </a:rPr>
              <a:t>Dominated by Harley-Davidson and British makers (Triumph, BSA) selling large, expensive leisure/sport machines at $1,000–$1,500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A1A1A"/>
              </a:solidFill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374850" y="4352871"/>
            <a:ext cx="5175600" cy="1054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6630875" y="4554033"/>
            <a:ext cx="46635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D3D3D"/>
                </a:solidFill>
              </a:rPr>
              <a:t>Strong cultural barrier: motorcycling linked to gang and 'bad-boy' imagery  reinforced by the 1953 film The Wild One (Marlon Brando)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A1A1A"/>
              </a:solidFill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41550" y="5523529"/>
            <a:ext cx="5175600" cy="111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897587" y="5724703"/>
            <a:ext cx="46635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D3D3D"/>
                </a:solidFill>
              </a:rPr>
              <a:t>Incumbents dismissed small bikes. Harley-Davidson's president: Motorcycles are 'sports vehicles, not transportation vehicles.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374850" y="5523529"/>
            <a:ext cx="5175600" cy="1117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6630875" y="5724703"/>
            <a:ext cx="46635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D3D3D"/>
                </a:solidFill>
              </a:rPr>
              <a:t>That blind spot left a wide-open gap: affordable, lightweight, easy-to-ride commuter motorcycles for ordinary people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641555" y="3521220"/>
            <a:ext cx="10908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A1A1A"/>
                </a:solidFill>
              </a:rPr>
              <a:t>U.S. Market Context: The 1950s Landscape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Honda's U.S. Market-Entry Strategy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640075" y="1417323"/>
            <a:ext cx="5175600" cy="859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Subsidiary-led entry (1959)</a:t>
            </a:r>
            <a:b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Established American Honda Motor Co. instead of using importers</a:t>
            </a:r>
            <a:r>
              <a:rPr lang="en-US" sz="1250">
                <a:solidFill>
                  <a:srgbClr val="3D3D3D"/>
                </a:solidFill>
              </a:rPr>
              <a:t> </a:t>
            </a: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keeping direct control of distribution, service and branding.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640025" y="2352774"/>
            <a:ext cx="5175600" cy="900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Targeted an underserved segment</a:t>
            </a:r>
            <a:b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Small, lightweight bikes (from 50cc) retailing under $250 vs. $1,000+ for Harley/Triumph; ~5 hp vs. 2.5 hp for the Sears lightweight.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640025" y="3328723"/>
            <a:ext cx="5175600" cy="900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Distinctive product design</a:t>
            </a:r>
            <a:b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Step-through unisex frame, automatic clutch, electric starter and easy handling appealed to first-time and non-traditional riders.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640075" y="4320761"/>
            <a:ext cx="5175600" cy="101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Region-by-region rollout + dealers</a:t>
            </a:r>
            <a:b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Began on the West Coast, moving east over 4 </a:t>
            </a:r>
            <a:r>
              <a:rPr lang="en-US" sz="1250">
                <a:solidFill>
                  <a:srgbClr val="3D3D3D"/>
                </a:solidFill>
              </a:rPr>
              <a:t>- </a:t>
            </a: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5 years; grew from 125 dealers (1961) to ~2,000 by the mid-1970s, with strong after-sales support.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640075" y="5423198"/>
            <a:ext cx="5175600" cy="859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Brand repositioning</a:t>
            </a:r>
            <a:br>
              <a:rPr b="1" i="0" lang="en-US" sz="145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'You meet the nicest people on a Honda' broke the biker-gang stereotype and targeted middle-class families, backed by heavy advertising.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4130" y="1207625"/>
            <a:ext cx="3895526" cy="528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Honda's Remarkable U.S. Success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640080" y="13716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$0.5M → $77M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640080" y="199339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U.S. sales, 1960 to 1965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4343400" y="13716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~43%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4343400" y="199339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Honda's U.S. market share by 1974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 txBox="1"/>
          <p:nvPr/>
        </p:nvSpPr>
        <p:spPr>
          <a:xfrm>
            <a:off x="8046720" y="137160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~2,000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8046720" y="1993392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rPr>
              <a:t>U.S. dealers by the mid-1970s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5943600" y="2743200"/>
            <a:ext cx="55778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By 1966 Honda led the Japanese makers who together held 85% of the U.S. market.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3D3D3D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Created entirely new demand among non-traditional riders</a:t>
            </a:r>
            <a:r>
              <a:rPr lang="en-US" sz="1250">
                <a:solidFill>
                  <a:srgbClr val="3D3D3D"/>
                </a:solidFill>
              </a:rPr>
              <a:t> like </a:t>
            </a: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students, women, professionals and repositioned motorcycling as mainstream leisure.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3D3D3D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After winning small bikes, Honda moved upmarket (CB450, CB750) competing with established brands at lower prices.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Clr>
                <a:srgbClr val="3D3D3D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BCG's verdict: success came from productivity, not cheap labour</a:t>
            </a:r>
            <a:r>
              <a:rPr lang="en-US" sz="1250">
                <a:solidFill>
                  <a:srgbClr val="3D3D3D"/>
                </a:solidFill>
              </a:rPr>
              <a:t>. </a:t>
            </a: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Honda's value-added per employee was up to 4× Western rivals'.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2743200"/>
            <a:ext cx="4778076" cy="344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/>
        </p:nvSpPr>
        <p:spPr>
          <a:xfrm>
            <a:off x="640080" y="502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Key Takeaways: The Honda Success Formula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40075" y="1508753"/>
            <a:ext cx="3456300" cy="161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 txBox="1"/>
          <p:nvPr/>
        </p:nvSpPr>
        <p:spPr>
          <a:xfrm>
            <a:off x="896112" y="1764792"/>
            <a:ext cx="2944368" cy="195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Strategic insight</a:t>
            </a:r>
            <a:b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Honda found an underserved segment and paired it with cultural repositioning to create new demand instead of attacking incumbents head-on.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640138" y="3200403"/>
            <a:ext cx="3456300" cy="161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 txBox="1"/>
          <p:nvPr/>
        </p:nvSpPr>
        <p:spPr>
          <a:xfrm>
            <a:off x="896170" y="3456442"/>
            <a:ext cx="29445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Execution excellence</a:t>
            </a:r>
            <a:b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Direct subsidiary control, region-by-region rollout, heavy advertising and the largest U.S. dealer network delivered superior value and support.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40275" y="4892054"/>
            <a:ext cx="3456300" cy="161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896302" y="5148092"/>
            <a:ext cx="2944500" cy="19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Resource advantage</a:t>
            </a:r>
            <a:b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Hard-to-imitate strengths in R&amp;D, experience-curve cost leadership, branding and a share-first culture created sustainable advantage.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 txBox="1"/>
          <p:nvPr/>
        </p:nvSpPr>
        <p:spPr>
          <a:xfrm>
            <a:off x="4655675" y="5148100"/>
            <a:ext cx="7211100" cy="978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A1A1A"/>
                </a:solidFill>
              </a:rPr>
              <a:t> </a:t>
            </a:r>
            <a:r>
              <a:rPr b="1" i="0" lang="en-US" sz="15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enduring lesson:  </a:t>
            </a:r>
            <a:r>
              <a:rPr b="0" i="0" lang="en-US" sz="1500" u="none" cap="none" strike="noStrike">
                <a:solidFill>
                  <a:srgbClr val="3D3D3D"/>
                </a:solidFill>
                <a:latin typeface="Arial"/>
                <a:ea typeface="Arial"/>
                <a:cs typeface="Arial"/>
                <a:sym typeface="Arial"/>
              </a:rPr>
              <a:t>align internal strengths with an overlooked market   opportunity, challenge industry assumptions, and prioritise long-term market position over immediate profit.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600" y="1508750"/>
            <a:ext cx="7210952" cy="33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